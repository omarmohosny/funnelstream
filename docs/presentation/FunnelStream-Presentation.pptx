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532" autoAdjust="0"/>
    <p:restoredTop sz="81840" autoAdjust="0"/>
  </p:normalViewPr>
  <p:slideViewPr>
    <p:cSldViewPr snapToGrid="0" snapToObjects="1">
      <p:cViewPr varScale="1">
        <p:scale>
          <a:sx n="90" d="100"/>
          <a:sy n="90" d="100"/>
        </p:scale>
        <p:origin x="147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3688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[0:45] Good morning. We are the FunnelStream team. FunnelStream is a data platform for an online store: it takes every click, order, delivery, ad number and stock movement, and turns them into two things: a live view for the people who run the store today, and a trusted report for the people who spend the advertising money. The funnel on the right is a real page of our report: 16,617 sessions end in 1,723 orders. The data is simulated, and I will say so whenever it matters. In 20 minutes I will show the business problem, the architecture, how we keep the data clean, and the two dashboards.
Planned time: 0:45.</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[1:15] An online store in Egypt spends money on Meta and Google ads, ships mostly cash on delivery, and in the quick-commerce case promises delivery from a dark store in 20 minutes. Three questions are hard to answer in one place. First: which campaign really pays. Cash-on-delivery orders are often cancelled or fail delivery, so return measured on placed orders flatters the campaign. Second: where shoppers drop out between view, cart, checkout and order. Third: what needs action right now, which products are out of stock and whether ads are still sending shoppers to empty shelves. Two different people ask these questions: an operations user who must act within a minute, and a marketing user who reads yesterday's results.
Planned time: 1:15.</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[1:15] FunnelStream's answer is one stream of events and two lanes. Everything the store does becomes an event in Kafka. We keep every raw message, then clean it once into a trusted copy called Silver. From Silver, a live lane writes small tables to Postgres within a minute and Grafana shows them with eight alert rules: that is for operations. A batch lane publishes Silver to Databricks, builds a Gold star schema with 66 data quality checks, and feeds a seven-page Power BI report: that is for marketing. The yellow bar is the point of the whole project: because both lanes come from the same events, we can tell marketing how much advertising spend landed on products that were out of stock.
Planned time: 1:15.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[1:30] This is the whole system on one slide. On the left, the simulator produces app events, orders, deliveries and stock for eight dark stores, and a mock ad API stands in for Meta and Google. Events go into Kafka. A Spark Structured Streaming job in Docker writes Bronze, the raw copy, then Silver, the validated and deduplicated copy; rows that fail validation go to a quarantine table with a reason. From Silver the system splits. The live lane, in green, recomputes small tables in Postgres after each batch and Grafana reads them. The batch lane, in blue, publishes Silver to Databricks, where the Gold star schema is built and checked by 66 SQL checks; Power BI reads Gold and the daily marts. Airflow pulls the ad report once a day. Everything left of Databricks runs on one laptop in Docker.
Planned time: 1:30.</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[1:15] Data starts in a seeded simulator, so the same seed gives the same customers and events and every demo is repeatable. It produces app and web events with a realistic drop-off at each funnel step, orders and deliveries with a full lifecycle, stock events for eight dark stores, and campaign numbers from a mock ad API. We made it Egyptian on purpose: pounds, cash on delivery, Fawry and InstaPay, Bosta and Aramex, Ramadan and Eid peaks. Every event has the same envelope: an id, a type, a version, a time and a payload. And the simulator is deliberately dirty: duplicates, malformed JSON, late events, dirty text. It writes down how much noise it injected, so later the pipeline can prove it caught all of it.
Planned time: 1:15.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[1:15] Kafka sits between the producers and everything else. Four topics: app.events with six partitions keyed by session, orders and delivery.events keyed by order id, and inventory.events keyed by store. The key matters: all events of one order land in one partition and stay in order. Our producer uses acks equals all and idempotence, so a retry does not write twice. The consumer is a Spark job that reads in micro-batches and stores the committed offsets in checkpoints. That is the point of the messaging layer: if the Spark job is killed, Kafka keeps the messages, and the restarted job resumes from its checkpoint. In the HTML version the dots show the data flowing.
Planned time: 1:15.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[1:30] Follow one message: a new order. It arrives on the orders topic with the order id as key. Bronze stores the raw value plus the Kafka partition, offset and ingest time, and never changes it. Then the validator checks it against a versioned schema. If the JSON is broken, a field is missing, the price is negative, the timestamp is in the future or the product is unknown, the row goes to quarantine with an error code and never reaches the numbers. If it passes, Silver types it, converts the time to UTC, deduplicates on the event id and writes it with a Delta MERGE on the key, so a replay inserts nothing. Order status is decided by rank, not by arrival order. Two checks prove it: the quarantine count equals the noise the simulator injected, 308 for 308, and replaying Bronze left all ten Silver tables unchanged.
Planned time: 1:30.</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[1:15] Data lives in three layers. Bronze keeps every raw message and is never changed. Silver is trusted: one row per key, typed, deduplicated, with a quarantine table for rejected rows. Both run as Delta folders on the laptop, and Silver can be rebuilt from Bronze at any time. Gold is business ready and lives in Databricks: facts for orders, order lines and attribution, slowly changing dimensions for customers and products, daily aggregates for orders, funnel, campaigns and city by product, and a customer 360 table. Twelve Gold tables are built; a thirteenth slot for recommendations is empty on purpose. Operational data for Grafana lives in Postgres: sixteen small live and serving tables, plus the daily marts that Power BI also reads.
Planned time: 1:15.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[1:15] Reliability is built in layers. If the Spark job is killed, checkpoints hold the Kafka offsets and the restart resumes from them. If a message is delivered twice, the MERGE on the key inserts nothing. Late events are flagged and left out of live metrics, and the batch corrects them. Bad rows are quarantined. If Databricks is unavailable, there is a second Gold store backend that loads the same tables into Postgres. Airflow runs one DAG, the daily ad report at 03:00 UTC, with retries on API errors; a rerun returns the stored report. The box on the right is the proof: we killed the Silver job while data was flowing, watched Grafana's alert fire 2 minutes 12 and 2 minutes 54 seconds later in two runs, restarted it, and the duplicate check said no duplicates both times. To be exact, that check covers Silver only.
Planned time: 1:15.</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[1:15] Now the operational side. This is the Grafana dashboard Pipeline live, captured at the end of our 13 October rehearsal, which is why events per minute has dropped to zero: the generator had just stopped. Along the top: events per minute, active sessions, orders and product views with add to cart. In the middle are the two data quality gauges: late-event rate 2.5% and quarantine share 1.4%, both below the alert limits of 5% and 2%. Bottom right: the Silver job last reported 7 seconds ago, and if that number passes two minutes an alert fires. The orange tiles show the age of the last Gold update and publish, one day here, because the batch lane runs on demand. And at the bottom, every alert rule is written out with what to do when it fires. Six dashboards and eight alert rules are provisioned as code.
Planned time: 1:15.</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[1:00] The second Grafana view is for operations. Express orders carry their own promise, 20 minutes in production. This dashboard shows the on-time rate for the last hour, here 94.0% against a 95% target, so the tile is orange; the number of breaches; orders at risk now, meaning at least 75% of the promise has passed; and a table of the open orders closest to their promise, with the minutes left. For the demo we shorten the promise to two minutes and force some express orders late, so that a breach and its alert appear live. The same family of dashboards shows live stock per store, out-of-stock products, and demand that arrived at an empty shelf.
Planned time: 1:00.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[1:15] Power BI is the business layer, and it reads the Gold tables and the daily marts. This is the Campaigns page, on simulated data. The headline return on ad spend is measured on delivered orders: 8.39. Look at the chart on the left: for every campaign, return on placed orders is much higher than on delivered ones, for example 21.55 against 11.67 for the Eid sale. That gap is exactly the cancelled and failed cash-on-delivery orders, and it is the first question we set out to answer. On the right, cost per delivered order is 377 for the Ramadan offer and 119 for the Eid sale. A marketer could move budget toward the Eid sale and question the Ramadan offer. We state the limit: attribution is last touch, which favours bottom-funnel channels, and neither model proves incrementality.
Planned time: 1:15.</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[1:15] This is the page that only a joined platform can build. Marketing and stock combines the ad spend of day minus one with the out-of-stock demand that operations saw in Grafana. Exposed spend is 378, which is 10.1% of that day's spend; 10.2% of landing clicks went to products that were out of stock; and revenue at risk, meaning add-to-carts on empty shelves times price, is 71,653. The table shows that all three at-risk products are in one store: Nasr City. A marketing manager would pause or redirect ads for those products until they are restocked. We label it as an estimate: the ad API only reports spend per campaign per day, so we assume spend is spread evenly over served landing clicks, and a shopper might buy a substitute.
Planned time: 1:15.</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[1:15] Let me tell the whole story once. In our demo scenario a popular product at the Nasr City dark store is deliberately made to run out. On 12 October, the Galabeya 61 reached zero stock at 21:16:14, about four minutes into the run. Shoppers keep viewing it and adding it to the cart: empty stock does not stop demand, and that lost demand is what we measure. The live sink marks each demand minute as out of stock when the minute was written. One minute after the stock-out the Grafana alert fires, and about two minutes after, the product is restocked. That is the operations ending. The marketing ending comes the next morning: the daily mart takes the out-of-stock click share, multiplies it by the spend, and Power BI shows exposed spend and revenue at risk. One set of events, two users, one bridge.
Planned time: 1:15.</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[1:15] Quality is part of the product, so here are the measured results, each with its date. The full host test suite: 1,169 tests passed, none failed. The Spark tests, run in Docker one file at a time: 217 passed. The Gold build ran 66 data quality checks with no failure on the scratch catalog. The benchmark pushed 1,000,000 simulated events through the whole pipeline in 654.73 seconds on one laptop. And the failure demo ended with no duplicates in two runs out of two. Two honesty points. The benchmark is one setup and not a capacity claim. And one item is still open: a single uninterrupted green run of the whole smoke test including the Spark stage; its first full run had three failures that turned out to be test script issues and were fixed.
Planned time: 1:15.</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[1:30] To close. FunnelStream shows a streaming pipeline that survives a crash without duplicates, bad data that is quarantined with a reason and counted against the noise we injected, and two audiences served from the same events, with one bridge between them: advertising spend sent to products that were out of stock. The honest limits: all data is simulated, exposed spend is an estimate, stock is not put back when an order is cancelled or returned, and the measurements come from one setup. What comes next: replay-safe stock intervals built from Silver, stock reversal on cancellation, Great Expectations or dbt on top of the SQL checks, and delivery zones with a Store dimension in Gold. Thank you. We are happy to take questions; the next four slides are backup.
Planned time: 1:30.</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Backup. Executive page of the Power BI report.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Backup. Funnel page of the Power BI report.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Backup. Live stock monitor dashboard.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Backup. Sequence of the failure demo.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F54"/>
        </a:solidFill>
        <a:effectLst/>
      </p:bgPr>
    </p:bg>
    <p:spTree>
      <p:nvGrpSpPr>
        <p:cNvPr id="1" name=""/>
        <p:cNvGrpSpPr/>
        <p:nvPr/>
      </p:nvGrpSpPr>
      <p:grpSpPr>
        <a:xfrm>
          <a:off x="0" y="0"/>
          <a:ext cx="0" cy="0"/>
          <a:chOff x="0" y="0"/>
          <a:chExt cx="0" cy="0"/>
        </a:xfrm>
      </p:grpSpPr>
      <p:sp>
        <p:nvSpPr>
          <p:cNvPr id="2" name="s1-0"/>
          <p:cNvSpPr txBox="1"/>
          <p:nvPr/>
        </p:nvSpPr>
        <p:spPr>
          <a:xfrm>
            <a:off x="277864" y="768096"/>
            <a:ext cx="6583680" cy="1005840"/>
          </a:xfrm>
          <a:prstGeom prst="rect">
            <a:avLst/>
          </a:prstGeom>
          <a:noFill/>
          <a:ln/>
        </p:spPr>
        <p:txBody>
          <a:bodyPr wrap="square" lIns="0" tIns="0" rIns="0" bIns="0" rtlCol="0" anchor="ctr"/>
          <a:lstStyle/>
          <a:p>
            <a:pPr marL="0" indent="0" algn="l">
              <a:lnSpc>
                <a:spcPct val="100000"/>
              </a:lnSpc>
              <a:buNone/>
            </a:pPr>
            <a:r>
              <a:rPr lang="en-US" sz="6000" b="1" dirty="0">
                <a:solidFill>
                  <a:srgbClr val="FFFFFF"/>
                </a:solidFill>
                <a:latin typeface="Calibri" pitchFamily="34" charset="0"/>
                <a:ea typeface="Calibri" pitchFamily="34" charset="-122"/>
                <a:cs typeface="Calibri" pitchFamily="34" charset="-120"/>
              </a:rPr>
              <a:t>FunnelStream</a:t>
            </a:r>
            <a:endParaRPr lang="en-US" sz="6000" dirty="0"/>
          </a:p>
        </p:txBody>
      </p:sp>
      <p:sp>
        <p:nvSpPr>
          <p:cNvPr id="3" name="s1-1"/>
          <p:cNvSpPr txBox="1"/>
          <p:nvPr/>
        </p:nvSpPr>
        <p:spPr>
          <a:xfrm>
            <a:off x="277864" y="2043790"/>
            <a:ext cx="6126480" cy="1463040"/>
          </a:xfrm>
          <a:prstGeom prst="rect">
            <a:avLst/>
          </a:prstGeom>
          <a:noFill/>
          <a:ln/>
        </p:spPr>
        <p:txBody>
          <a:bodyPr wrap="square" lIns="0" tIns="0" rIns="0" bIns="0" rtlCol="0" anchor="t"/>
          <a:lstStyle/>
          <a:p>
            <a:pPr marL="0" indent="0" algn="l">
              <a:lnSpc>
                <a:spcPct val="100000"/>
              </a:lnSpc>
              <a:buNone/>
            </a:pPr>
            <a:r>
              <a:rPr lang="en-US" sz="2200" dirty="0">
                <a:solidFill>
                  <a:srgbClr val="DCE6F2"/>
                </a:solidFill>
                <a:latin typeface="Calibri" pitchFamily="34" charset="0"/>
                <a:ea typeface="Calibri" pitchFamily="34" charset="-122"/>
                <a:cs typeface="Calibri" pitchFamily="34" charset="-120"/>
              </a:rPr>
              <a:t>Real-time e-commerce and campaign analytics: from the first click to the next morning's report</a:t>
            </a:r>
            <a:endParaRPr lang="en-US" sz="2200" dirty="0"/>
          </a:p>
        </p:txBody>
      </p:sp>
      <p:sp>
        <p:nvSpPr>
          <p:cNvPr id="4" name="s1-2"/>
          <p:cNvSpPr txBox="1"/>
          <p:nvPr/>
        </p:nvSpPr>
        <p:spPr>
          <a:xfrm>
            <a:off x="277864" y="3113000"/>
            <a:ext cx="6126480" cy="365760"/>
          </a:xfrm>
          <a:prstGeom prst="rect">
            <a:avLst/>
          </a:prstGeom>
          <a:noFill/>
          <a:ln/>
        </p:spPr>
        <p:txBody>
          <a:bodyPr wrap="square" lIns="0" tIns="0" rIns="0" bIns="0" rtlCol="0" anchor="t"/>
          <a:lstStyle/>
          <a:p>
            <a:pPr marL="0" indent="0" algn="l">
              <a:lnSpc>
                <a:spcPct val="100000"/>
              </a:lnSpc>
              <a:buNone/>
            </a:pPr>
            <a:r>
              <a:rPr lang="en-US" sz="1400" dirty="0">
                <a:solidFill>
                  <a:srgbClr val="A9CFFB"/>
                </a:solidFill>
                <a:latin typeface="Calibri" pitchFamily="34" charset="0"/>
                <a:ea typeface="Calibri" pitchFamily="34" charset="-122"/>
                <a:cs typeface="Calibri" pitchFamily="34" charset="-120"/>
              </a:rPr>
              <a:t>Kafka  |  Spark  |  Delta  |  Databricks  |  Postgres  |  Grafana  |  Power BI</a:t>
            </a:r>
            <a:endParaRPr lang="en-US" sz="1400" dirty="0"/>
          </a:p>
        </p:txBody>
      </p:sp>
      <p:sp>
        <p:nvSpPr>
          <p:cNvPr id="6" name="s1-4"/>
          <p:cNvSpPr/>
          <p:nvPr/>
        </p:nvSpPr>
        <p:spPr>
          <a:xfrm>
            <a:off x="6995160" y="1325880"/>
            <a:ext cx="4572000" cy="713232"/>
          </a:xfrm>
          <a:prstGeom prst="roundRect">
            <a:avLst>
              <a:gd name="adj" fmla="val 12821"/>
            </a:avLst>
          </a:prstGeom>
          <a:solidFill>
            <a:srgbClr val="A9CFFB"/>
          </a:solidFill>
          <a:ln w="12700">
            <a:solidFill>
              <a:srgbClr val="A9CFFB"/>
            </a:solidFill>
            <a:prstDash val="solid"/>
          </a:ln>
        </p:spPr>
        <p:txBody>
          <a:bodyPr/>
          <a:lstStyle/>
          <a:p>
            <a:endParaRPr lang="en-US"/>
          </a:p>
        </p:txBody>
      </p:sp>
      <p:sp>
        <p:nvSpPr>
          <p:cNvPr id="7" name="s1-5"/>
          <p:cNvSpPr txBox="1"/>
          <p:nvPr/>
        </p:nvSpPr>
        <p:spPr>
          <a:xfrm>
            <a:off x="6995160" y="1325880"/>
            <a:ext cx="4572000" cy="713232"/>
          </a:xfrm>
          <a:prstGeom prst="rect">
            <a:avLst/>
          </a:prstGeom>
          <a:noFill/>
          <a:ln/>
        </p:spPr>
        <p:txBody>
          <a:bodyPr wrap="square" lIns="0" tIns="0" rIns="0" bIns="0" rtlCol="0" anchor="ctr"/>
          <a:lstStyle/>
          <a:p>
            <a:pPr marL="0" indent="0" algn="ctr">
              <a:lnSpc>
                <a:spcPct val="100000"/>
              </a:lnSpc>
              <a:buNone/>
            </a:pPr>
            <a:r>
              <a:rPr lang="en-US" sz="2200" b="1" dirty="0">
                <a:solidFill>
                  <a:srgbClr val="0B2F54"/>
                </a:solidFill>
                <a:latin typeface="Calibri" pitchFamily="34" charset="0"/>
                <a:ea typeface="Calibri" pitchFamily="34" charset="-122"/>
                <a:cs typeface="Calibri" pitchFamily="34" charset="-120"/>
              </a:rPr>
              <a:t>16,617</a:t>
            </a:r>
            <a:endParaRPr lang="en-US" sz="2200" dirty="0"/>
          </a:p>
          <a:p>
            <a:pPr marL="0" indent="0" algn="ctr">
              <a:lnSpc>
                <a:spcPct val="100000"/>
              </a:lnSpc>
              <a:buNone/>
            </a:pPr>
            <a:r>
              <a:rPr lang="en-US" sz="1200" dirty="0">
                <a:solidFill>
                  <a:srgbClr val="0B2F54"/>
                </a:solidFill>
                <a:latin typeface="Calibri" pitchFamily="34" charset="0"/>
                <a:ea typeface="Calibri" pitchFamily="34" charset="-122"/>
                <a:cs typeface="Calibri" pitchFamily="34" charset="-120"/>
              </a:rPr>
              <a:t>Sessions</a:t>
            </a:r>
            <a:endParaRPr lang="en-US" sz="2200" dirty="0"/>
          </a:p>
        </p:txBody>
      </p:sp>
      <p:sp>
        <p:nvSpPr>
          <p:cNvPr id="8" name="s1-6"/>
          <p:cNvSpPr/>
          <p:nvPr/>
        </p:nvSpPr>
        <p:spPr>
          <a:xfrm>
            <a:off x="7063740" y="2167128"/>
            <a:ext cx="4434840" cy="713232"/>
          </a:xfrm>
          <a:prstGeom prst="roundRect">
            <a:avLst>
              <a:gd name="adj" fmla="val 12821"/>
            </a:avLst>
          </a:prstGeom>
          <a:solidFill>
            <a:srgbClr val="6FB0FA"/>
          </a:solidFill>
          <a:ln w="12700">
            <a:solidFill>
              <a:srgbClr val="6FB0FA"/>
            </a:solidFill>
            <a:prstDash val="solid"/>
          </a:ln>
        </p:spPr>
        <p:txBody>
          <a:bodyPr/>
          <a:lstStyle/>
          <a:p>
            <a:endParaRPr lang="en-US"/>
          </a:p>
        </p:txBody>
      </p:sp>
      <p:sp>
        <p:nvSpPr>
          <p:cNvPr id="9" name="s1-7"/>
          <p:cNvSpPr txBox="1"/>
          <p:nvPr/>
        </p:nvSpPr>
        <p:spPr>
          <a:xfrm>
            <a:off x="7063740" y="2167128"/>
            <a:ext cx="4434840" cy="713232"/>
          </a:xfrm>
          <a:prstGeom prst="rect">
            <a:avLst/>
          </a:prstGeom>
          <a:noFill/>
          <a:ln/>
        </p:spPr>
        <p:txBody>
          <a:bodyPr wrap="square" lIns="0" tIns="0" rIns="0" bIns="0" rtlCol="0" anchor="ctr"/>
          <a:lstStyle/>
          <a:p>
            <a:pPr marL="0" indent="0" algn="ctr">
              <a:lnSpc>
                <a:spcPct val="100000"/>
              </a:lnSpc>
              <a:buNone/>
            </a:pPr>
            <a:r>
              <a:rPr lang="en-US" sz="2200" b="1" dirty="0">
                <a:solidFill>
                  <a:srgbClr val="0B2F54"/>
                </a:solidFill>
                <a:latin typeface="Calibri" pitchFamily="34" charset="0"/>
                <a:ea typeface="Calibri" pitchFamily="34" charset="-122"/>
                <a:cs typeface="Calibri" pitchFamily="34" charset="-120"/>
              </a:rPr>
              <a:t>16,120</a:t>
            </a:r>
            <a:endParaRPr lang="en-US" sz="2200" dirty="0"/>
          </a:p>
          <a:p>
            <a:pPr marL="0" indent="0" algn="ctr">
              <a:lnSpc>
                <a:spcPct val="100000"/>
              </a:lnSpc>
              <a:buNone/>
            </a:pPr>
            <a:r>
              <a:rPr lang="en-US" sz="1200" dirty="0">
                <a:solidFill>
                  <a:srgbClr val="0B2F54"/>
                </a:solidFill>
                <a:latin typeface="Calibri" pitchFamily="34" charset="0"/>
                <a:ea typeface="Calibri" pitchFamily="34" charset="-122"/>
                <a:cs typeface="Calibri" pitchFamily="34" charset="-120"/>
              </a:rPr>
              <a:t>Product views</a:t>
            </a:r>
            <a:endParaRPr lang="en-US" sz="2200" dirty="0"/>
          </a:p>
        </p:txBody>
      </p:sp>
      <p:sp>
        <p:nvSpPr>
          <p:cNvPr id="10" name="s1-8"/>
          <p:cNvSpPr/>
          <p:nvPr/>
        </p:nvSpPr>
        <p:spPr>
          <a:xfrm>
            <a:off x="7818120" y="3008376"/>
            <a:ext cx="2926080" cy="713232"/>
          </a:xfrm>
          <a:prstGeom prst="roundRect">
            <a:avLst>
              <a:gd name="adj" fmla="val 12821"/>
            </a:avLst>
          </a:prstGeom>
          <a:solidFill>
            <a:srgbClr val="1F84FF"/>
          </a:solidFill>
          <a:ln w="12700">
            <a:solidFill>
              <a:srgbClr val="1F84FF"/>
            </a:solidFill>
            <a:prstDash val="solid"/>
          </a:ln>
        </p:spPr>
        <p:txBody>
          <a:bodyPr/>
          <a:lstStyle/>
          <a:p>
            <a:endParaRPr lang="en-US"/>
          </a:p>
        </p:txBody>
      </p:sp>
      <p:sp>
        <p:nvSpPr>
          <p:cNvPr id="11" name="s1-9"/>
          <p:cNvSpPr txBox="1"/>
          <p:nvPr/>
        </p:nvSpPr>
        <p:spPr>
          <a:xfrm>
            <a:off x="7818120" y="3008376"/>
            <a:ext cx="2926080" cy="713232"/>
          </a:xfrm>
          <a:prstGeom prst="rect">
            <a:avLst/>
          </a:prstGeom>
          <a:noFill/>
          <a:ln/>
        </p:spPr>
        <p:txBody>
          <a:bodyPr wrap="square" lIns="0" tIns="0" rIns="0" bIns="0" rtlCol="0" anchor="ctr"/>
          <a:lstStyle/>
          <a:p>
            <a:pPr marL="0" indent="0" algn="ctr">
              <a:lnSpc>
                <a:spcPct val="100000"/>
              </a:lnSpc>
              <a:buNone/>
            </a:pPr>
            <a:r>
              <a:rPr lang="en-US" sz="2200" b="1" dirty="0">
                <a:solidFill>
                  <a:srgbClr val="FFFFFF"/>
                </a:solidFill>
                <a:latin typeface="Calibri" pitchFamily="34" charset="0"/>
                <a:ea typeface="Calibri" pitchFamily="34" charset="-122"/>
                <a:cs typeface="Calibri" pitchFamily="34" charset="-120"/>
              </a:rPr>
              <a:t>5,578</a:t>
            </a:r>
            <a:endParaRPr lang="en-US" sz="2200" dirty="0"/>
          </a:p>
          <a:p>
            <a:pPr marL="0" indent="0" algn="ctr">
              <a:lnSpc>
                <a:spcPct val="100000"/>
              </a:lnSpc>
              <a:buNone/>
            </a:pPr>
            <a:r>
              <a:rPr lang="en-US" sz="1200" dirty="0">
                <a:solidFill>
                  <a:srgbClr val="FFFFFF"/>
                </a:solidFill>
                <a:latin typeface="Calibri" pitchFamily="34" charset="0"/>
                <a:ea typeface="Calibri" pitchFamily="34" charset="-122"/>
                <a:cs typeface="Calibri" pitchFamily="34" charset="-120"/>
              </a:rPr>
              <a:t>Cart</a:t>
            </a:r>
            <a:endParaRPr lang="en-US" sz="2200" dirty="0"/>
          </a:p>
        </p:txBody>
      </p:sp>
      <p:sp>
        <p:nvSpPr>
          <p:cNvPr id="12" name="s1-10"/>
          <p:cNvSpPr/>
          <p:nvPr/>
        </p:nvSpPr>
        <p:spPr>
          <a:xfrm>
            <a:off x="8275320" y="3849624"/>
            <a:ext cx="2011680" cy="713232"/>
          </a:xfrm>
          <a:prstGeom prst="roundRect">
            <a:avLst>
              <a:gd name="adj" fmla="val 12821"/>
            </a:avLst>
          </a:prstGeom>
          <a:solidFill>
            <a:srgbClr val="186DD5"/>
          </a:solidFill>
          <a:ln w="12700">
            <a:solidFill>
              <a:srgbClr val="186DD5"/>
            </a:solidFill>
            <a:prstDash val="solid"/>
          </a:ln>
        </p:spPr>
        <p:txBody>
          <a:bodyPr/>
          <a:lstStyle/>
          <a:p>
            <a:endParaRPr lang="en-US"/>
          </a:p>
        </p:txBody>
      </p:sp>
      <p:sp>
        <p:nvSpPr>
          <p:cNvPr id="13" name="s1-11"/>
          <p:cNvSpPr txBox="1"/>
          <p:nvPr/>
        </p:nvSpPr>
        <p:spPr>
          <a:xfrm>
            <a:off x="8275320" y="3849624"/>
            <a:ext cx="2011680" cy="713232"/>
          </a:xfrm>
          <a:prstGeom prst="rect">
            <a:avLst/>
          </a:prstGeom>
          <a:noFill/>
          <a:ln/>
        </p:spPr>
        <p:txBody>
          <a:bodyPr wrap="square" lIns="0" tIns="0" rIns="0" bIns="0" rtlCol="0" anchor="ctr"/>
          <a:lstStyle/>
          <a:p>
            <a:pPr marL="0" indent="0" algn="ctr">
              <a:lnSpc>
                <a:spcPct val="100000"/>
              </a:lnSpc>
              <a:buNone/>
            </a:pPr>
            <a:r>
              <a:rPr lang="en-US" sz="2200" b="1" dirty="0">
                <a:solidFill>
                  <a:srgbClr val="FFFFFF"/>
                </a:solidFill>
                <a:latin typeface="Calibri" pitchFamily="34" charset="0"/>
                <a:ea typeface="Calibri" pitchFamily="34" charset="-122"/>
                <a:cs typeface="Calibri" pitchFamily="34" charset="-120"/>
              </a:rPr>
              <a:t>2,486</a:t>
            </a:r>
            <a:endParaRPr lang="en-US" sz="2200" dirty="0"/>
          </a:p>
          <a:p>
            <a:pPr marL="0" indent="0" algn="ctr">
              <a:lnSpc>
                <a:spcPct val="100000"/>
              </a:lnSpc>
              <a:buNone/>
            </a:pPr>
            <a:r>
              <a:rPr lang="en-US" sz="1200" dirty="0">
                <a:solidFill>
                  <a:srgbClr val="FFFFFF"/>
                </a:solidFill>
                <a:latin typeface="Calibri" pitchFamily="34" charset="0"/>
                <a:ea typeface="Calibri" pitchFamily="34" charset="-122"/>
                <a:cs typeface="Calibri" pitchFamily="34" charset="-120"/>
              </a:rPr>
              <a:t>Checkout</a:t>
            </a:r>
            <a:endParaRPr lang="en-US" sz="2200" dirty="0"/>
          </a:p>
        </p:txBody>
      </p:sp>
      <p:sp>
        <p:nvSpPr>
          <p:cNvPr id="14" name="s1-12"/>
          <p:cNvSpPr/>
          <p:nvPr/>
        </p:nvSpPr>
        <p:spPr>
          <a:xfrm>
            <a:off x="8549640" y="4690872"/>
            <a:ext cx="1463040" cy="713232"/>
          </a:xfrm>
          <a:prstGeom prst="roundRect">
            <a:avLst>
              <a:gd name="adj" fmla="val 12821"/>
            </a:avLst>
          </a:prstGeom>
          <a:solidFill>
            <a:srgbClr val="59A472"/>
          </a:solidFill>
          <a:ln w="12700">
            <a:solidFill>
              <a:srgbClr val="59A472"/>
            </a:solidFill>
            <a:prstDash val="solid"/>
          </a:ln>
        </p:spPr>
        <p:txBody>
          <a:bodyPr/>
          <a:lstStyle/>
          <a:p>
            <a:endParaRPr lang="en-US"/>
          </a:p>
        </p:txBody>
      </p:sp>
      <p:sp>
        <p:nvSpPr>
          <p:cNvPr id="15" name="s1-13"/>
          <p:cNvSpPr txBox="1"/>
          <p:nvPr/>
        </p:nvSpPr>
        <p:spPr>
          <a:xfrm>
            <a:off x="8549640" y="4690872"/>
            <a:ext cx="1463040" cy="713232"/>
          </a:xfrm>
          <a:prstGeom prst="rect">
            <a:avLst/>
          </a:prstGeom>
          <a:noFill/>
          <a:ln/>
        </p:spPr>
        <p:txBody>
          <a:bodyPr wrap="square" lIns="0" tIns="0" rIns="0" bIns="0" rtlCol="0" anchor="ctr"/>
          <a:lstStyle/>
          <a:p>
            <a:pPr marL="0" indent="0" algn="ctr">
              <a:lnSpc>
                <a:spcPct val="100000"/>
              </a:lnSpc>
              <a:buNone/>
            </a:pPr>
            <a:r>
              <a:rPr lang="en-US" sz="2200" b="1" dirty="0">
                <a:solidFill>
                  <a:srgbClr val="FFFFFF"/>
                </a:solidFill>
                <a:latin typeface="Calibri" pitchFamily="34" charset="0"/>
                <a:ea typeface="Calibri" pitchFamily="34" charset="-122"/>
                <a:cs typeface="Calibri" pitchFamily="34" charset="-120"/>
              </a:rPr>
              <a:t>1,723</a:t>
            </a:r>
            <a:endParaRPr lang="en-US" sz="2200" dirty="0"/>
          </a:p>
          <a:p>
            <a:pPr marL="0" indent="0" algn="ctr">
              <a:lnSpc>
                <a:spcPct val="100000"/>
              </a:lnSpc>
              <a:buNone/>
            </a:pPr>
            <a:r>
              <a:rPr lang="en-US" sz="1200" dirty="0">
                <a:solidFill>
                  <a:srgbClr val="FFFFFF"/>
                </a:solidFill>
                <a:latin typeface="Calibri" pitchFamily="34" charset="0"/>
                <a:ea typeface="Calibri" pitchFamily="34" charset="-122"/>
                <a:cs typeface="Calibri" pitchFamily="34" charset="-120"/>
              </a:rPr>
              <a:t>Orders</a:t>
            </a:r>
            <a:endParaRPr lang="en-US" sz="2200" dirty="0"/>
          </a:p>
        </p:txBody>
      </p:sp>
      <p:sp>
        <p:nvSpPr>
          <p:cNvPr id="18" name="s1-1">
            <a:extLst>
              <a:ext uri="{FF2B5EF4-FFF2-40B4-BE49-F238E27FC236}">
                <a16:creationId xmlns:a16="http://schemas.microsoft.com/office/drawing/2014/main" id="{851C622B-944E-7BCB-AC1B-E3A87CA6D249}"/>
              </a:ext>
            </a:extLst>
          </p:cNvPr>
          <p:cNvSpPr txBox="1"/>
          <p:nvPr/>
        </p:nvSpPr>
        <p:spPr>
          <a:xfrm>
            <a:off x="277864" y="3608157"/>
            <a:ext cx="2699252" cy="2122791"/>
          </a:xfrm>
          <a:prstGeom prst="rect">
            <a:avLst/>
          </a:prstGeom>
          <a:noFill/>
          <a:ln/>
        </p:spPr>
        <p:txBody>
          <a:bodyPr wrap="square" lIns="0" tIns="0" rIns="0" bIns="0" rtlCol="0" anchor="t"/>
          <a:lstStyle/>
          <a:p>
            <a:r>
              <a:rPr lang="en-US" sz="2000" b="1" dirty="0">
                <a:solidFill>
                  <a:srgbClr val="FFFFFF"/>
                </a:solidFill>
                <a:highlight>
                  <a:srgbClr val="FFFF00"/>
                </a:highlight>
                <a:latin typeface="Calibri" pitchFamily="34" charset="0"/>
                <a:ea typeface="Calibri" pitchFamily="34" charset="-122"/>
                <a:cs typeface="Calibri" pitchFamily="34" charset="-120"/>
              </a:rPr>
              <a:t>Presented By:</a:t>
            </a:r>
          </a:p>
          <a:p>
            <a:pPr marL="0" indent="0">
              <a:lnSpc>
                <a:spcPct val="100000"/>
              </a:lnSpc>
              <a:buNone/>
            </a:pPr>
            <a:r>
              <a:rPr lang="en-US" sz="2200" dirty="0">
                <a:solidFill>
                  <a:srgbClr val="DCE6F2"/>
                </a:solidFill>
                <a:highlight>
                  <a:srgbClr val="FFFF00"/>
                </a:highlight>
                <a:latin typeface="Calibri" pitchFamily="34" charset="0"/>
                <a:ea typeface="Calibri" pitchFamily="34" charset="-122"/>
                <a:cs typeface="Calibri" pitchFamily="34" charset="-120"/>
              </a:rPr>
              <a:t>Omar Mohamed Hosny</a:t>
            </a:r>
          </a:p>
          <a:p>
            <a:pPr marL="0" indent="0">
              <a:lnSpc>
                <a:spcPct val="100000"/>
              </a:lnSpc>
              <a:buNone/>
            </a:pPr>
            <a:r>
              <a:rPr lang="en-US" sz="2200" dirty="0">
                <a:solidFill>
                  <a:srgbClr val="DCE6F2"/>
                </a:solidFill>
                <a:highlight>
                  <a:srgbClr val="FFFF00"/>
                </a:highlight>
                <a:latin typeface="Calibri" pitchFamily="34" charset="0"/>
                <a:ea typeface="Calibri" pitchFamily="34" charset="-122"/>
                <a:cs typeface="Calibri" pitchFamily="34" charset="-120"/>
              </a:rPr>
              <a:t>Fatma Moataz</a:t>
            </a:r>
          </a:p>
          <a:p>
            <a:pPr marL="0" indent="0">
              <a:lnSpc>
                <a:spcPct val="100000"/>
              </a:lnSpc>
              <a:buNone/>
            </a:pPr>
            <a:r>
              <a:rPr lang="en-US" sz="2200" dirty="0">
                <a:solidFill>
                  <a:srgbClr val="DCE6F2"/>
                </a:solidFill>
                <a:highlight>
                  <a:srgbClr val="FFFF00"/>
                </a:highlight>
                <a:latin typeface="Calibri" pitchFamily="34" charset="0"/>
                <a:ea typeface="Calibri" pitchFamily="34" charset="-122"/>
                <a:cs typeface="Calibri" pitchFamily="34" charset="-120"/>
              </a:rPr>
              <a:t>Rofaida Ramadan</a:t>
            </a:r>
          </a:p>
          <a:p>
            <a:pPr marL="0" indent="0">
              <a:lnSpc>
                <a:spcPct val="100000"/>
              </a:lnSpc>
              <a:buNone/>
            </a:pPr>
            <a:r>
              <a:rPr lang="en-US" sz="2200" dirty="0">
                <a:solidFill>
                  <a:srgbClr val="DCE6F2"/>
                </a:solidFill>
                <a:highlight>
                  <a:srgbClr val="FFFF00"/>
                </a:highlight>
                <a:latin typeface="Calibri" pitchFamily="34" charset="0"/>
                <a:ea typeface="Calibri" pitchFamily="34" charset="-122"/>
                <a:cs typeface="Calibri" pitchFamily="34" charset="-120"/>
              </a:rPr>
              <a:t>Asmaa Saleh</a:t>
            </a:r>
          </a:p>
          <a:p>
            <a:pPr marL="0" indent="0">
              <a:lnSpc>
                <a:spcPct val="100000"/>
              </a:lnSpc>
              <a:buNone/>
            </a:pPr>
            <a:r>
              <a:rPr lang="en-US" sz="2200" dirty="0">
                <a:solidFill>
                  <a:srgbClr val="DCE6F2"/>
                </a:solidFill>
                <a:highlight>
                  <a:srgbClr val="FFFF00"/>
                </a:highlight>
                <a:latin typeface="Calibri" pitchFamily="34" charset="0"/>
                <a:ea typeface="Calibri" pitchFamily="34" charset="-122"/>
                <a:cs typeface="Calibri" pitchFamily="34" charset="-120"/>
              </a:rPr>
              <a:t>Somaia Mahmoud</a:t>
            </a:r>
          </a:p>
          <a:p>
            <a:pPr marL="0" indent="0">
              <a:lnSpc>
                <a:spcPct val="100000"/>
              </a:lnSpc>
              <a:buNone/>
            </a:pPr>
            <a:endParaRPr lang="en-US" sz="2200" dirty="0">
              <a:solidFill>
                <a:srgbClr val="DCE6F2"/>
              </a:solidFill>
              <a:latin typeface="Calibri" pitchFamily="34" charset="0"/>
              <a:ea typeface="Calibri" pitchFamily="34" charset="-122"/>
              <a:cs typeface="Calibri"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2-0"/>
          <p:cNvSpPr txBox="1"/>
          <p:nvPr/>
        </p:nvSpPr>
        <p:spPr>
          <a:xfrm>
            <a:off x="548640" y="274320"/>
            <a:ext cx="8229600" cy="274320"/>
          </a:xfrm>
          <a:prstGeom prst="rect">
            <a:avLst/>
          </a:prstGeom>
          <a:noFill/>
          <a:ln/>
        </p:spPr>
        <p:txBody>
          <a:bodyPr wrap="square" lIns="0" tIns="0" rIns="0" bIns="0" rtlCol="0" anchor="t"/>
          <a:lstStyle/>
          <a:p>
            <a:pPr marL="0" indent="0" algn="l">
              <a:lnSpc>
                <a:spcPct val="100000"/>
              </a:lnSpc>
              <a:buNone/>
            </a:pPr>
            <a:r>
              <a:rPr lang="en-US" sz="1200" b="1" dirty="0">
                <a:solidFill>
                  <a:srgbClr val="5B6578"/>
                </a:solidFill>
                <a:latin typeface="Calibri" pitchFamily="34" charset="0"/>
                <a:ea typeface="Calibri" pitchFamily="34" charset="-122"/>
                <a:cs typeface="Calibri" pitchFamily="34" charset="-120"/>
              </a:rPr>
              <a:t>1  BUSINESS CONTEXT</a:t>
            </a:r>
            <a:endParaRPr lang="en-US" sz="1200" dirty="0"/>
          </a:p>
        </p:txBody>
      </p:sp>
      <p:sp>
        <p:nvSpPr>
          <p:cNvPr id="3" name="s2-1"/>
          <p:cNvSpPr txBox="1"/>
          <p:nvPr/>
        </p:nvSpPr>
        <p:spPr>
          <a:xfrm>
            <a:off x="548640" y="530352"/>
            <a:ext cx="11064240" cy="685800"/>
          </a:xfrm>
          <a:prstGeom prst="rect">
            <a:avLst/>
          </a:prstGeom>
          <a:noFill/>
          <a:ln/>
        </p:spPr>
        <p:txBody>
          <a:bodyPr wrap="square" lIns="0" tIns="0" rIns="0" bIns="0" rtlCol="0" anchor="ctr"/>
          <a:lstStyle/>
          <a:p>
            <a:pPr marL="0" indent="0" algn="l">
              <a:lnSpc>
                <a:spcPct val="100000"/>
              </a:lnSpc>
              <a:buNone/>
            </a:pPr>
            <a:r>
              <a:rPr lang="en-US" sz="3000" b="1" dirty="0">
                <a:solidFill>
                  <a:srgbClr val="0F3D6E"/>
                </a:solidFill>
                <a:latin typeface="Calibri" pitchFamily="34" charset="0"/>
                <a:ea typeface="Calibri" pitchFamily="34" charset="-122"/>
                <a:cs typeface="Calibri" pitchFamily="34" charset="-120"/>
              </a:rPr>
              <a:t>Three questions a store cannot answer from one place</a:t>
            </a:r>
            <a:endParaRPr lang="en-US" sz="3000" dirty="0"/>
          </a:p>
        </p:txBody>
      </p:sp>
      <p:sp>
        <p:nvSpPr>
          <p:cNvPr id="4" name="s2-2"/>
          <p:cNvSpPr txBox="1"/>
          <p:nvPr/>
        </p:nvSpPr>
        <p:spPr>
          <a:xfrm>
            <a:off x="548640" y="6437376"/>
            <a:ext cx="5486400" cy="274320"/>
          </a:xfrm>
          <a:prstGeom prst="rect">
            <a:avLst/>
          </a:prstGeom>
          <a:noFill/>
          <a:ln/>
        </p:spPr>
        <p:txBody>
          <a:bodyPr wrap="square" lIns="0" tIns="0" rIns="0" bIns="0" rtlCol="0" anchor="t"/>
          <a:lstStyle/>
          <a:p>
            <a:pPr marL="0" indent="0" algn="l">
              <a:lnSpc>
                <a:spcPct val="100000"/>
              </a:lnSpc>
              <a:buNone/>
            </a:pPr>
            <a:r>
              <a:rPr lang="en-US" sz="1000" dirty="0">
                <a:solidFill>
                  <a:srgbClr val="5B6578"/>
                </a:solidFill>
                <a:latin typeface="Calibri" pitchFamily="34" charset="0"/>
                <a:ea typeface="Calibri" pitchFamily="34" charset="-122"/>
                <a:cs typeface="Calibri" pitchFamily="34" charset="-120"/>
              </a:rPr>
              <a:t>FunnelStream</a:t>
            </a:r>
            <a:endParaRPr lang="en-US" sz="1000" dirty="0"/>
          </a:p>
        </p:txBody>
      </p:sp>
      <p:sp>
        <p:nvSpPr>
          <p:cNvPr id="5" name="s2-3"/>
          <p:cNvSpPr txBox="1"/>
          <p:nvPr/>
        </p:nvSpPr>
        <p:spPr>
          <a:xfrm>
            <a:off x="10881360" y="6437376"/>
            <a:ext cx="758952" cy="274320"/>
          </a:xfrm>
          <a:prstGeom prst="rect">
            <a:avLst/>
          </a:prstGeom>
          <a:noFill/>
          <a:ln/>
        </p:spPr>
        <p:txBody>
          <a:bodyPr wrap="square" lIns="0" tIns="0" rIns="0" bIns="0" rtlCol="0" anchor="t"/>
          <a:lstStyle/>
          <a:p>
            <a:pPr marL="0" indent="0" algn="r">
              <a:lnSpc>
                <a:spcPct val="100000"/>
              </a:lnSpc>
              <a:buNone/>
            </a:pPr>
            <a:r>
              <a:rPr lang="en-US" sz="1000" dirty="0">
                <a:solidFill>
                  <a:srgbClr val="5B6578"/>
                </a:solidFill>
                <a:latin typeface="Calibri" pitchFamily="34" charset="0"/>
                <a:ea typeface="Calibri" pitchFamily="34" charset="-122"/>
                <a:cs typeface="Calibri" pitchFamily="34" charset="-120"/>
              </a:rPr>
              <a:t>2</a:t>
            </a:r>
            <a:endParaRPr lang="en-US" sz="1000" dirty="0"/>
          </a:p>
        </p:txBody>
      </p:sp>
      <p:sp>
        <p:nvSpPr>
          <p:cNvPr id="6" name="s2-4"/>
          <p:cNvSpPr/>
          <p:nvPr/>
        </p:nvSpPr>
        <p:spPr>
          <a:xfrm>
            <a:off x="548640" y="1600200"/>
            <a:ext cx="3566160" cy="3063240"/>
          </a:xfrm>
          <a:prstGeom prst="roundRect">
            <a:avLst>
              <a:gd name="adj" fmla="val 3582"/>
            </a:avLst>
          </a:prstGeom>
          <a:solidFill>
            <a:srgbClr val="EEF2F7"/>
          </a:solidFill>
          <a:ln w="12700">
            <a:solidFill>
              <a:srgbClr val="EEF2F7"/>
            </a:solidFill>
            <a:prstDash val="solid"/>
          </a:ln>
        </p:spPr>
        <p:txBody>
          <a:bodyPr/>
          <a:lstStyle/>
          <a:p>
            <a:endParaRPr lang="en-US"/>
          </a:p>
        </p:txBody>
      </p:sp>
      <p:sp>
        <p:nvSpPr>
          <p:cNvPr id="7" name="s2-5"/>
          <p:cNvSpPr/>
          <p:nvPr/>
        </p:nvSpPr>
        <p:spPr>
          <a:xfrm>
            <a:off x="749808" y="1801368"/>
            <a:ext cx="548640" cy="548640"/>
          </a:xfrm>
          <a:prstGeom prst="roundRect">
            <a:avLst>
              <a:gd name="adj" fmla="val 50000"/>
            </a:avLst>
          </a:prstGeom>
          <a:solidFill>
            <a:srgbClr val="0F3D6E"/>
          </a:solidFill>
          <a:ln w="12700">
            <a:solidFill>
              <a:srgbClr val="0F3D6E"/>
            </a:solidFill>
            <a:prstDash val="solid"/>
          </a:ln>
        </p:spPr>
        <p:txBody>
          <a:bodyPr/>
          <a:lstStyle/>
          <a:p>
            <a:endParaRPr lang="en-US"/>
          </a:p>
        </p:txBody>
      </p:sp>
      <p:sp>
        <p:nvSpPr>
          <p:cNvPr id="8" name="s2-6"/>
          <p:cNvSpPr txBox="1"/>
          <p:nvPr/>
        </p:nvSpPr>
        <p:spPr>
          <a:xfrm>
            <a:off x="749808" y="1801368"/>
            <a:ext cx="548640" cy="548640"/>
          </a:xfrm>
          <a:prstGeom prst="rect">
            <a:avLst/>
          </a:prstGeom>
          <a:noFill/>
          <a:ln/>
        </p:spPr>
        <p:txBody>
          <a:bodyPr wrap="square" lIns="0" tIns="0" rIns="0" bIns="0" rtlCol="0" anchor="ctr"/>
          <a:lstStyle/>
          <a:p>
            <a:pPr marL="0" indent="0" algn="ctr">
              <a:lnSpc>
                <a:spcPct val="100000"/>
              </a:lnSpc>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9" name="s2-7"/>
          <p:cNvSpPr txBox="1"/>
          <p:nvPr/>
        </p:nvSpPr>
        <p:spPr>
          <a:xfrm>
            <a:off x="749808" y="2514600"/>
            <a:ext cx="3163824" cy="2011680"/>
          </a:xfrm>
          <a:prstGeom prst="rect">
            <a:avLst/>
          </a:prstGeom>
          <a:noFill/>
          <a:ln/>
        </p:spPr>
        <p:txBody>
          <a:bodyPr wrap="square" lIns="0" tIns="0" rIns="0" bIns="0" rtlCol="0" anchor="t"/>
          <a:lstStyle/>
          <a:p>
            <a:pPr marL="0" indent="0" algn="l">
              <a:lnSpc>
                <a:spcPct val="100000"/>
              </a:lnSpc>
              <a:spcAft>
                <a:spcPts val="600"/>
              </a:spcAft>
              <a:buNone/>
            </a:pPr>
            <a:r>
              <a:rPr lang="en-US" sz="1900" b="1" dirty="0">
                <a:solidFill>
                  <a:srgbClr val="0F3D6E"/>
                </a:solidFill>
                <a:latin typeface="Calibri" pitchFamily="34" charset="0"/>
                <a:ea typeface="Calibri" pitchFamily="34" charset="-122"/>
                <a:cs typeface="Calibri" pitchFamily="34" charset="-120"/>
              </a:rPr>
              <a:t>Which campaign really pays?</a:t>
            </a:r>
            <a:endParaRPr lang="en-US" sz="1900" dirty="0"/>
          </a:p>
          <a:p>
            <a:pPr marL="0" indent="0" algn="l">
              <a:lnSpc>
                <a:spcPct val="100000"/>
              </a:lnSpc>
              <a:buNone/>
            </a:pPr>
            <a:r>
              <a:rPr lang="en-US" sz="1500" dirty="0">
                <a:solidFill>
                  <a:srgbClr val="121212"/>
                </a:solidFill>
                <a:latin typeface="Calibri" pitchFamily="34" charset="0"/>
                <a:ea typeface="Calibri" pitchFamily="34" charset="-122"/>
                <a:cs typeface="Calibri" pitchFamily="34" charset="-120"/>
              </a:rPr>
              <a:t>Ads are paid per click, but cash-on-delivery orders are often cancelled or fail delivery. Return on ad spend measured on placed orders overstates the result.</a:t>
            </a:r>
            <a:endParaRPr lang="en-US" sz="1900" dirty="0"/>
          </a:p>
        </p:txBody>
      </p:sp>
      <p:sp>
        <p:nvSpPr>
          <p:cNvPr id="10" name="s2-8"/>
          <p:cNvSpPr/>
          <p:nvPr/>
        </p:nvSpPr>
        <p:spPr>
          <a:xfrm>
            <a:off x="4297680" y="1600200"/>
            <a:ext cx="3566160" cy="3063240"/>
          </a:xfrm>
          <a:prstGeom prst="roundRect">
            <a:avLst>
              <a:gd name="adj" fmla="val 3582"/>
            </a:avLst>
          </a:prstGeom>
          <a:solidFill>
            <a:srgbClr val="EEF2F7"/>
          </a:solidFill>
          <a:ln w="12700">
            <a:solidFill>
              <a:srgbClr val="EEF2F7"/>
            </a:solidFill>
            <a:prstDash val="solid"/>
          </a:ln>
        </p:spPr>
        <p:txBody>
          <a:bodyPr/>
          <a:lstStyle/>
          <a:p>
            <a:endParaRPr lang="en-US"/>
          </a:p>
        </p:txBody>
      </p:sp>
      <p:sp>
        <p:nvSpPr>
          <p:cNvPr id="11" name="s2-9"/>
          <p:cNvSpPr/>
          <p:nvPr/>
        </p:nvSpPr>
        <p:spPr>
          <a:xfrm>
            <a:off x="4498848" y="1801368"/>
            <a:ext cx="548640" cy="548640"/>
          </a:xfrm>
          <a:prstGeom prst="roundRect">
            <a:avLst>
              <a:gd name="adj" fmla="val 50000"/>
            </a:avLst>
          </a:prstGeom>
          <a:solidFill>
            <a:srgbClr val="0F3D6E"/>
          </a:solidFill>
          <a:ln w="12700">
            <a:solidFill>
              <a:srgbClr val="0F3D6E"/>
            </a:solidFill>
            <a:prstDash val="solid"/>
          </a:ln>
        </p:spPr>
        <p:txBody>
          <a:bodyPr/>
          <a:lstStyle/>
          <a:p>
            <a:endParaRPr lang="en-US"/>
          </a:p>
        </p:txBody>
      </p:sp>
      <p:sp>
        <p:nvSpPr>
          <p:cNvPr id="12" name="s2-10"/>
          <p:cNvSpPr txBox="1"/>
          <p:nvPr/>
        </p:nvSpPr>
        <p:spPr>
          <a:xfrm>
            <a:off x="4498848" y="1801368"/>
            <a:ext cx="548640" cy="548640"/>
          </a:xfrm>
          <a:prstGeom prst="rect">
            <a:avLst/>
          </a:prstGeom>
          <a:noFill/>
          <a:ln/>
        </p:spPr>
        <p:txBody>
          <a:bodyPr wrap="square" lIns="0" tIns="0" rIns="0" bIns="0" rtlCol="0" anchor="ctr"/>
          <a:lstStyle/>
          <a:p>
            <a:pPr marL="0" indent="0" algn="ctr">
              <a:lnSpc>
                <a:spcPct val="100000"/>
              </a:lnSpc>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3" name="s2-11"/>
          <p:cNvSpPr txBox="1"/>
          <p:nvPr/>
        </p:nvSpPr>
        <p:spPr>
          <a:xfrm>
            <a:off x="4498848" y="2514600"/>
            <a:ext cx="3163824" cy="2011680"/>
          </a:xfrm>
          <a:prstGeom prst="rect">
            <a:avLst/>
          </a:prstGeom>
          <a:noFill/>
          <a:ln/>
        </p:spPr>
        <p:txBody>
          <a:bodyPr wrap="square" lIns="0" tIns="0" rIns="0" bIns="0" rtlCol="0" anchor="t"/>
          <a:lstStyle/>
          <a:p>
            <a:pPr marL="0" indent="0" algn="l">
              <a:lnSpc>
                <a:spcPct val="100000"/>
              </a:lnSpc>
              <a:spcAft>
                <a:spcPts val="600"/>
              </a:spcAft>
              <a:buNone/>
            </a:pPr>
            <a:r>
              <a:rPr lang="en-US" sz="1900" b="1" dirty="0">
                <a:solidFill>
                  <a:srgbClr val="0F3D6E"/>
                </a:solidFill>
                <a:latin typeface="Calibri" pitchFamily="34" charset="0"/>
                <a:ea typeface="Calibri" pitchFamily="34" charset="-122"/>
                <a:cs typeface="Calibri" pitchFamily="34" charset="-120"/>
              </a:rPr>
              <a:t>Where do shoppers drop out?</a:t>
            </a:r>
            <a:endParaRPr lang="en-US" sz="1900" dirty="0"/>
          </a:p>
          <a:p>
            <a:pPr marL="0" indent="0" algn="l">
              <a:lnSpc>
                <a:spcPct val="100000"/>
              </a:lnSpc>
              <a:buNone/>
            </a:pPr>
            <a:r>
              <a:rPr lang="en-US" sz="1500" dirty="0">
                <a:solidFill>
                  <a:srgbClr val="121212"/>
                </a:solidFill>
                <a:latin typeface="Calibri" pitchFamily="34" charset="0"/>
                <a:ea typeface="Calibri" pitchFamily="34" charset="-122"/>
                <a:cs typeface="Calibri" pitchFamily="34" charset="-120"/>
              </a:rPr>
              <a:t>View, cart, checkout, order. Which step, on which channel and platform, should be fixed first?</a:t>
            </a:r>
            <a:endParaRPr lang="en-US" sz="1900" dirty="0"/>
          </a:p>
        </p:txBody>
      </p:sp>
      <p:sp>
        <p:nvSpPr>
          <p:cNvPr id="14" name="s2-12"/>
          <p:cNvSpPr/>
          <p:nvPr/>
        </p:nvSpPr>
        <p:spPr>
          <a:xfrm>
            <a:off x="8046720" y="1600200"/>
            <a:ext cx="3566160" cy="3063240"/>
          </a:xfrm>
          <a:prstGeom prst="roundRect">
            <a:avLst>
              <a:gd name="adj" fmla="val 3582"/>
            </a:avLst>
          </a:prstGeom>
          <a:solidFill>
            <a:srgbClr val="EEF2F7"/>
          </a:solidFill>
          <a:ln w="12700">
            <a:solidFill>
              <a:srgbClr val="EEF2F7"/>
            </a:solidFill>
            <a:prstDash val="solid"/>
          </a:ln>
        </p:spPr>
        <p:txBody>
          <a:bodyPr/>
          <a:lstStyle/>
          <a:p>
            <a:endParaRPr lang="en-US"/>
          </a:p>
        </p:txBody>
      </p:sp>
      <p:sp>
        <p:nvSpPr>
          <p:cNvPr id="15" name="s2-13"/>
          <p:cNvSpPr/>
          <p:nvPr/>
        </p:nvSpPr>
        <p:spPr>
          <a:xfrm>
            <a:off x="8247888" y="1801368"/>
            <a:ext cx="548640" cy="548640"/>
          </a:xfrm>
          <a:prstGeom prst="roundRect">
            <a:avLst>
              <a:gd name="adj" fmla="val 50000"/>
            </a:avLst>
          </a:prstGeom>
          <a:solidFill>
            <a:srgbClr val="0F3D6E"/>
          </a:solidFill>
          <a:ln w="12700">
            <a:solidFill>
              <a:srgbClr val="0F3D6E"/>
            </a:solidFill>
            <a:prstDash val="solid"/>
          </a:ln>
        </p:spPr>
        <p:txBody>
          <a:bodyPr/>
          <a:lstStyle/>
          <a:p>
            <a:endParaRPr lang="en-US"/>
          </a:p>
        </p:txBody>
      </p:sp>
      <p:sp>
        <p:nvSpPr>
          <p:cNvPr id="16" name="s2-14"/>
          <p:cNvSpPr txBox="1"/>
          <p:nvPr/>
        </p:nvSpPr>
        <p:spPr>
          <a:xfrm>
            <a:off x="8247888" y="1801368"/>
            <a:ext cx="548640" cy="548640"/>
          </a:xfrm>
          <a:prstGeom prst="rect">
            <a:avLst/>
          </a:prstGeom>
          <a:noFill/>
          <a:ln/>
        </p:spPr>
        <p:txBody>
          <a:bodyPr wrap="square" lIns="0" tIns="0" rIns="0" bIns="0" rtlCol="0" anchor="ctr"/>
          <a:lstStyle/>
          <a:p>
            <a:pPr marL="0" indent="0" algn="ctr">
              <a:lnSpc>
                <a:spcPct val="100000"/>
              </a:lnSpc>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s2-15"/>
          <p:cNvSpPr txBox="1"/>
          <p:nvPr/>
        </p:nvSpPr>
        <p:spPr>
          <a:xfrm>
            <a:off x="8247888" y="2514600"/>
            <a:ext cx="3163824" cy="2011680"/>
          </a:xfrm>
          <a:prstGeom prst="rect">
            <a:avLst/>
          </a:prstGeom>
          <a:noFill/>
          <a:ln/>
        </p:spPr>
        <p:txBody>
          <a:bodyPr wrap="square" lIns="0" tIns="0" rIns="0" bIns="0" rtlCol="0" anchor="t"/>
          <a:lstStyle/>
          <a:p>
            <a:pPr marL="0" indent="0" algn="l">
              <a:lnSpc>
                <a:spcPct val="100000"/>
              </a:lnSpc>
              <a:spcAft>
                <a:spcPts val="600"/>
              </a:spcAft>
              <a:buNone/>
            </a:pPr>
            <a:r>
              <a:rPr lang="en-US" sz="1900" b="1" dirty="0">
                <a:solidFill>
                  <a:srgbClr val="0F3D6E"/>
                </a:solidFill>
                <a:latin typeface="Calibri" pitchFamily="34" charset="0"/>
                <a:ea typeface="Calibri" pitchFamily="34" charset="-122"/>
                <a:cs typeface="Calibri" pitchFamily="34" charset="-120"/>
              </a:rPr>
              <a:t>What needs action right now?</a:t>
            </a:r>
            <a:endParaRPr lang="en-US" sz="1900" dirty="0"/>
          </a:p>
          <a:p>
            <a:pPr marL="0" indent="0" algn="l">
              <a:lnSpc>
                <a:spcPct val="100000"/>
              </a:lnSpc>
              <a:buNone/>
            </a:pPr>
            <a:r>
              <a:rPr lang="en-US" sz="1500" dirty="0">
                <a:solidFill>
                  <a:srgbClr val="121212"/>
                </a:solidFill>
                <a:latin typeface="Calibri" pitchFamily="34" charset="0"/>
                <a:ea typeface="Calibri" pitchFamily="34" charset="-122"/>
                <a:cs typeface="Calibri" pitchFamily="34" charset="-120"/>
              </a:rPr>
              <a:t>Which products and dark stores are out of stock, is the 20-minute express promise holding, and is advertising still sending shoppers to empty shelves?</a:t>
            </a:r>
            <a:endParaRPr lang="en-US" sz="1900" dirty="0"/>
          </a:p>
        </p:txBody>
      </p:sp>
      <p:sp>
        <p:nvSpPr>
          <p:cNvPr id="18" name="s2-16"/>
          <p:cNvSpPr/>
          <p:nvPr/>
        </p:nvSpPr>
        <p:spPr>
          <a:xfrm>
            <a:off x="548640" y="4892040"/>
            <a:ext cx="11064240" cy="1234440"/>
          </a:xfrm>
          <a:prstGeom prst="roundRect">
            <a:avLst>
              <a:gd name="adj" fmla="val 8889"/>
            </a:avLst>
          </a:prstGeom>
          <a:solidFill>
            <a:srgbClr val="0F3D6E"/>
          </a:solidFill>
          <a:ln w="12700">
            <a:solidFill>
              <a:srgbClr val="0F3D6E"/>
            </a:solidFill>
            <a:prstDash val="solid"/>
          </a:ln>
        </p:spPr>
        <p:txBody>
          <a:bodyPr/>
          <a:lstStyle/>
          <a:p>
            <a:endParaRPr lang="en-US"/>
          </a:p>
        </p:txBody>
      </p:sp>
      <p:sp>
        <p:nvSpPr>
          <p:cNvPr id="19" name="s2-17"/>
          <p:cNvSpPr txBox="1"/>
          <p:nvPr/>
        </p:nvSpPr>
        <p:spPr>
          <a:xfrm>
            <a:off x="777240" y="4983480"/>
            <a:ext cx="5120640" cy="1051560"/>
          </a:xfrm>
          <a:prstGeom prst="rect">
            <a:avLst/>
          </a:prstGeom>
          <a:noFill/>
          <a:ln/>
        </p:spPr>
        <p:txBody>
          <a:bodyPr wrap="square" lIns="0" tIns="0" rIns="0" bIns="0" rtlCol="0" anchor="ctr"/>
          <a:lstStyle/>
          <a:p>
            <a:pPr marL="0" indent="0" algn="l">
              <a:lnSpc>
                <a:spcPct val="100000"/>
              </a:lnSpc>
              <a:spcAft>
                <a:spcPts val="300"/>
              </a:spcAft>
              <a:buNone/>
            </a:pPr>
            <a:r>
              <a:rPr lang="en-US" sz="1700" b="1" dirty="0">
                <a:solidFill>
                  <a:srgbClr val="FFFFFF"/>
                </a:solidFill>
                <a:latin typeface="Calibri" pitchFamily="34" charset="0"/>
                <a:ea typeface="Calibri" pitchFamily="34" charset="-122"/>
                <a:cs typeface="Calibri" pitchFamily="34" charset="-120"/>
              </a:rPr>
              <a:t>Operations user</a:t>
            </a:r>
            <a:endParaRPr lang="en-US" sz="1700" dirty="0"/>
          </a:p>
          <a:p>
            <a:pPr marL="0" indent="0" algn="l">
              <a:lnSpc>
                <a:spcPct val="100000"/>
              </a:lnSpc>
              <a:buNone/>
            </a:pPr>
            <a:r>
              <a:rPr lang="en-US" sz="1400" dirty="0">
                <a:solidFill>
                  <a:srgbClr val="DCE6F2"/>
                </a:solidFill>
                <a:latin typeface="Calibri" pitchFamily="34" charset="0"/>
                <a:ea typeface="Calibri" pitchFamily="34" charset="-122"/>
                <a:cs typeface="Calibri" pitchFamily="34" charset="-120"/>
              </a:rPr>
              <a:t>Acts within a minute. Needs live traffic, real stock and the express promise.</a:t>
            </a:r>
            <a:endParaRPr lang="en-US" sz="1700" dirty="0"/>
          </a:p>
        </p:txBody>
      </p:sp>
      <p:sp>
        <p:nvSpPr>
          <p:cNvPr id="20" name="s2-18"/>
          <p:cNvSpPr txBox="1"/>
          <p:nvPr/>
        </p:nvSpPr>
        <p:spPr>
          <a:xfrm>
            <a:off x="6263640" y="4983480"/>
            <a:ext cx="5120640" cy="1051560"/>
          </a:xfrm>
          <a:prstGeom prst="rect">
            <a:avLst/>
          </a:prstGeom>
          <a:noFill/>
          <a:ln/>
        </p:spPr>
        <p:txBody>
          <a:bodyPr wrap="square" lIns="0" tIns="0" rIns="0" bIns="0" rtlCol="0" anchor="ctr"/>
          <a:lstStyle/>
          <a:p>
            <a:pPr marL="0" indent="0" algn="l">
              <a:lnSpc>
                <a:spcPct val="100000"/>
              </a:lnSpc>
              <a:spcAft>
                <a:spcPts val="300"/>
              </a:spcAft>
              <a:buNone/>
            </a:pPr>
            <a:r>
              <a:rPr lang="en-US" sz="1700" b="1" dirty="0">
                <a:solidFill>
                  <a:srgbClr val="FFFFFF"/>
                </a:solidFill>
                <a:latin typeface="Calibri" pitchFamily="34" charset="0"/>
                <a:ea typeface="Calibri" pitchFamily="34" charset="-122"/>
                <a:cs typeface="Calibri" pitchFamily="34" charset="-120"/>
              </a:rPr>
              <a:t>Marketing user</a:t>
            </a:r>
            <a:endParaRPr lang="en-US" sz="1700" dirty="0"/>
          </a:p>
          <a:p>
            <a:pPr marL="0" indent="0" algn="l">
              <a:lnSpc>
                <a:spcPct val="100000"/>
              </a:lnSpc>
              <a:buNone/>
            </a:pPr>
            <a:r>
              <a:rPr lang="en-US" sz="1400" dirty="0">
                <a:solidFill>
                  <a:srgbClr val="DCE6F2"/>
                </a:solidFill>
                <a:latin typeface="Calibri" pitchFamily="34" charset="0"/>
                <a:ea typeface="Calibri" pitchFamily="34" charset="-122"/>
                <a:cs typeface="Calibri" pitchFamily="34" charset="-120"/>
              </a:rPr>
              <a:t>Reads yesterday each morning. Needs trusted campaign, funnel and sales numbers.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3-0"/>
          <p:cNvSpPr txBox="1"/>
          <p:nvPr/>
        </p:nvSpPr>
        <p:spPr>
          <a:xfrm>
            <a:off x="548640" y="274320"/>
            <a:ext cx="8229600" cy="274320"/>
          </a:xfrm>
          <a:prstGeom prst="rect">
            <a:avLst/>
          </a:prstGeom>
          <a:noFill/>
          <a:ln/>
        </p:spPr>
        <p:txBody>
          <a:bodyPr wrap="square" lIns="0" tIns="0" rIns="0" bIns="0" rtlCol="0" anchor="t"/>
          <a:lstStyle/>
          <a:p>
            <a:pPr marL="0" indent="0" algn="l">
              <a:lnSpc>
                <a:spcPct val="100000"/>
              </a:lnSpc>
              <a:buNone/>
            </a:pPr>
            <a:r>
              <a:rPr lang="en-US" sz="1200" b="1" dirty="0">
                <a:solidFill>
                  <a:srgbClr val="5B6578"/>
                </a:solidFill>
                <a:latin typeface="Calibri" pitchFamily="34" charset="0"/>
                <a:ea typeface="Calibri" pitchFamily="34" charset="-122"/>
                <a:cs typeface="Calibri" pitchFamily="34" charset="-120"/>
              </a:rPr>
              <a:t>1  BUSINESS CONTEXT</a:t>
            </a:r>
            <a:endParaRPr lang="en-US" sz="1200" dirty="0"/>
          </a:p>
        </p:txBody>
      </p:sp>
      <p:sp>
        <p:nvSpPr>
          <p:cNvPr id="3" name="s3-1"/>
          <p:cNvSpPr txBox="1"/>
          <p:nvPr/>
        </p:nvSpPr>
        <p:spPr>
          <a:xfrm>
            <a:off x="548640" y="530352"/>
            <a:ext cx="11064240" cy="685800"/>
          </a:xfrm>
          <a:prstGeom prst="rect">
            <a:avLst/>
          </a:prstGeom>
          <a:noFill/>
          <a:ln/>
        </p:spPr>
        <p:txBody>
          <a:bodyPr wrap="square" lIns="0" tIns="0" rIns="0" bIns="0" rtlCol="0" anchor="ctr"/>
          <a:lstStyle/>
          <a:p>
            <a:pPr marL="0" indent="0" algn="l">
              <a:lnSpc>
                <a:spcPct val="100000"/>
              </a:lnSpc>
              <a:buNone/>
            </a:pPr>
            <a:r>
              <a:rPr lang="en-US" sz="3000" b="1" dirty="0">
                <a:solidFill>
                  <a:srgbClr val="0F3D6E"/>
                </a:solidFill>
                <a:latin typeface="Calibri" pitchFamily="34" charset="0"/>
                <a:ea typeface="Calibri" pitchFamily="34" charset="-122"/>
                <a:cs typeface="Calibri" pitchFamily="34" charset="-120"/>
              </a:rPr>
              <a:t>One stream of events, two lanes, two users</a:t>
            </a:r>
            <a:endParaRPr lang="en-US" sz="3000" dirty="0"/>
          </a:p>
        </p:txBody>
      </p:sp>
      <p:sp>
        <p:nvSpPr>
          <p:cNvPr id="4" name="s3-2"/>
          <p:cNvSpPr txBox="1"/>
          <p:nvPr/>
        </p:nvSpPr>
        <p:spPr>
          <a:xfrm>
            <a:off x="548640" y="6437376"/>
            <a:ext cx="5486400" cy="274320"/>
          </a:xfrm>
          <a:prstGeom prst="rect">
            <a:avLst/>
          </a:prstGeom>
          <a:noFill/>
          <a:ln/>
        </p:spPr>
        <p:txBody>
          <a:bodyPr wrap="square" lIns="0" tIns="0" rIns="0" bIns="0" rtlCol="0" anchor="t"/>
          <a:lstStyle/>
          <a:p>
            <a:pPr marL="0" indent="0" algn="l">
              <a:lnSpc>
                <a:spcPct val="100000"/>
              </a:lnSpc>
              <a:buNone/>
            </a:pPr>
            <a:r>
              <a:rPr lang="en-US" sz="1000" dirty="0">
                <a:solidFill>
                  <a:srgbClr val="5B6578"/>
                </a:solidFill>
                <a:latin typeface="Calibri" pitchFamily="34" charset="0"/>
                <a:ea typeface="Calibri" pitchFamily="34" charset="-122"/>
                <a:cs typeface="Calibri" pitchFamily="34" charset="-120"/>
              </a:rPr>
              <a:t>FunnelStream</a:t>
            </a:r>
            <a:endParaRPr lang="en-US" sz="1000" dirty="0"/>
          </a:p>
        </p:txBody>
      </p:sp>
      <p:sp>
        <p:nvSpPr>
          <p:cNvPr id="5" name="s3-3"/>
          <p:cNvSpPr txBox="1"/>
          <p:nvPr/>
        </p:nvSpPr>
        <p:spPr>
          <a:xfrm>
            <a:off x="10881360" y="6437376"/>
            <a:ext cx="758952" cy="274320"/>
          </a:xfrm>
          <a:prstGeom prst="rect">
            <a:avLst/>
          </a:prstGeom>
          <a:noFill/>
          <a:ln/>
        </p:spPr>
        <p:txBody>
          <a:bodyPr wrap="square" lIns="0" tIns="0" rIns="0" bIns="0" rtlCol="0" anchor="t"/>
          <a:lstStyle/>
          <a:p>
            <a:pPr marL="0" indent="0" algn="r">
              <a:lnSpc>
                <a:spcPct val="100000"/>
              </a:lnSpc>
              <a:buNone/>
            </a:pPr>
            <a:r>
              <a:rPr lang="en-US" sz="1000" dirty="0">
                <a:solidFill>
                  <a:srgbClr val="5B6578"/>
                </a:solidFill>
                <a:latin typeface="Calibri" pitchFamily="34" charset="0"/>
                <a:ea typeface="Calibri" pitchFamily="34" charset="-122"/>
                <a:cs typeface="Calibri" pitchFamily="34" charset="-120"/>
              </a:rPr>
              <a:t>3</a:t>
            </a:r>
            <a:endParaRPr lang="en-US" sz="1000" dirty="0"/>
          </a:p>
        </p:txBody>
      </p:sp>
      <p:sp>
        <p:nvSpPr>
          <p:cNvPr id="6" name="s3-4"/>
          <p:cNvSpPr/>
          <p:nvPr/>
        </p:nvSpPr>
        <p:spPr>
          <a:xfrm>
            <a:off x="548640" y="1737360"/>
            <a:ext cx="2468880" cy="3383280"/>
          </a:xfrm>
          <a:prstGeom prst="roundRect">
            <a:avLst>
              <a:gd name="adj" fmla="val 4444"/>
            </a:avLst>
          </a:prstGeom>
          <a:solidFill>
            <a:srgbClr val="EEF2F7"/>
          </a:solidFill>
          <a:ln w="12700">
            <a:solidFill>
              <a:srgbClr val="EEF2F7"/>
            </a:solidFill>
            <a:prstDash val="solid"/>
          </a:ln>
        </p:spPr>
        <p:txBody>
          <a:bodyPr/>
          <a:lstStyle/>
          <a:p>
            <a:endParaRPr lang="en-US"/>
          </a:p>
        </p:txBody>
      </p:sp>
      <p:sp>
        <p:nvSpPr>
          <p:cNvPr id="7" name="s3-5"/>
          <p:cNvSpPr txBox="1"/>
          <p:nvPr/>
        </p:nvSpPr>
        <p:spPr>
          <a:xfrm>
            <a:off x="713232" y="1869034"/>
            <a:ext cx="2139696" cy="3119933"/>
          </a:xfrm>
          <a:prstGeom prst="rect">
            <a:avLst/>
          </a:prstGeom>
          <a:noFill/>
          <a:ln/>
        </p:spPr>
        <p:txBody>
          <a:bodyPr wrap="square" lIns="0" tIns="0" rIns="0" bIns="0" rtlCol="0" anchor="t"/>
          <a:lstStyle/>
          <a:p>
            <a:pPr marL="0" indent="0" algn="l">
              <a:lnSpc>
                <a:spcPct val="100000"/>
              </a:lnSpc>
              <a:spcAft>
                <a:spcPts val="400"/>
              </a:spcAft>
              <a:buNone/>
            </a:pPr>
            <a:r>
              <a:rPr lang="en-US" sz="1700" b="1" dirty="0">
                <a:solidFill>
                  <a:srgbClr val="0F3D6E"/>
                </a:solidFill>
                <a:latin typeface="Calibri" pitchFamily="34" charset="0"/>
                <a:ea typeface="Calibri" pitchFamily="34" charset="-122"/>
                <a:cs typeface="Calibri" pitchFamily="34" charset="-120"/>
              </a:rPr>
              <a:t>The online store</a:t>
            </a:r>
            <a:endParaRPr lang="en-US" sz="1700" dirty="0"/>
          </a:p>
          <a:p>
            <a:pPr marL="0" indent="0" algn="l">
              <a:lnSpc>
                <a:spcPct val="100000"/>
              </a:lnSpc>
              <a:spcAft>
                <a:spcPts val="300"/>
              </a:spcAft>
              <a:buNone/>
            </a:pPr>
            <a:r>
              <a:rPr lang="en-US" sz="1400" dirty="0">
                <a:solidFill>
                  <a:srgbClr val="121212"/>
                </a:solidFill>
                <a:latin typeface="Calibri" pitchFamily="34" charset="0"/>
                <a:ea typeface="Calibri" pitchFamily="34" charset="-122"/>
                <a:cs typeface="Calibri" pitchFamily="34" charset="-120"/>
              </a:rPr>
              <a:t>Customers browse, add to cart, check out</a:t>
            </a:r>
            <a:endParaRPr lang="en-US" sz="1700" dirty="0"/>
          </a:p>
          <a:p>
            <a:pPr marL="0" indent="0" algn="l">
              <a:lnSpc>
                <a:spcPct val="100000"/>
              </a:lnSpc>
              <a:spcAft>
                <a:spcPts val="300"/>
              </a:spcAft>
              <a:buNone/>
            </a:pPr>
            <a:r>
              <a:rPr lang="en-US" sz="1400" dirty="0">
                <a:solidFill>
                  <a:srgbClr val="121212"/>
                </a:solidFill>
                <a:latin typeface="Calibri" pitchFamily="34" charset="0"/>
                <a:ea typeface="Calibri" pitchFamily="34" charset="-122"/>
                <a:cs typeface="Calibri" pitchFamily="34" charset="-120"/>
              </a:rPr>
              <a:t>Orders are packed, shipped, delivered, cancelled or returned</a:t>
            </a:r>
            <a:endParaRPr lang="en-US" sz="1700" dirty="0"/>
          </a:p>
          <a:p>
            <a:pPr marL="0" indent="0" algn="l">
              <a:lnSpc>
                <a:spcPct val="100000"/>
              </a:lnSpc>
              <a:spcAft>
                <a:spcPts val="300"/>
              </a:spcAft>
              <a:buNone/>
            </a:pPr>
            <a:r>
              <a:rPr lang="en-US" sz="1400" dirty="0">
                <a:solidFill>
                  <a:srgbClr val="121212"/>
                </a:solidFill>
                <a:latin typeface="Calibri" pitchFamily="34" charset="0"/>
                <a:ea typeface="Calibri" pitchFamily="34" charset="-122"/>
                <a:cs typeface="Calibri" pitchFamily="34" charset="-120"/>
              </a:rPr>
              <a:t>Eight dark stores hold stock</a:t>
            </a:r>
            <a:endParaRPr lang="en-US" sz="1700" dirty="0"/>
          </a:p>
          <a:p>
            <a:pPr marL="0" indent="0" algn="l">
              <a:lnSpc>
                <a:spcPct val="100000"/>
              </a:lnSpc>
              <a:spcAft>
                <a:spcPts val="300"/>
              </a:spcAft>
              <a:buNone/>
            </a:pPr>
            <a:r>
              <a:rPr lang="en-US" sz="1400" dirty="0">
                <a:solidFill>
                  <a:srgbClr val="121212"/>
                </a:solidFill>
                <a:latin typeface="Calibri" pitchFamily="34" charset="0"/>
                <a:ea typeface="Calibri" pitchFamily="34" charset="-122"/>
                <a:cs typeface="Calibri" pitchFamily="34" charset="-120"/>
              </a:rPr>
              <a:t>Campaigns bring the traffic</a:t>
            </a:r>
          </a:p>
          <a:p>
            <a:pPr marL="0" indent="0" algn="l">
              <a:lnSpc>
                <a:spcPct val="100000"/>
              </a:lnSpc>
              <a:buNone/>
            </a:pPr>
            <a:r>
              <a:rPr lang="en-US" sz="1300" b="1" dirty="0">
                <a:solidFill>
                  <a:srgbClr val="5B6578"/>
                </a:solidFill>
                <a:highlight>
                  <a:srgbClr val="FFFF00"/>
                </a:highlight>
                <a:latin typeface="Calibri" pitchFamily="34" charset="0"/>
                <a:ea typeface="Calibri" pitchFamily="34" charset="-122"/>
                <a:cs typeface="Calibri" pitchFamily="34" charset="-120"/>
              </a:rPr>
              <a:t>All simulated</a:t>
            </a:r>
            <a:endParaRPr lang="en-US" sz="1700" dirty="0">
              <a:highlight>
                <a:srgbClr val="FFFF00"/>
              </a:highlight>
            </a:endParaRPr>
          </a:p>
        </p:txBody>
      </p:sp>
      <p:sp>
        <p:nvSpPr>
          <p:cNvPr id="8" name="s3-6"/>
          <p:cNvSpPr/>
          <p:nvPr/>
        </p:nvSpPr>
        <p:spPr>
          <a:xfrm>
            <a:off x="3017520" y="3429000"/>
            <a:ext cx="502920" cy="0"/>
          </a:xfrm>
          <a:prstGeom prst="line">
            <a:avLst/>
          </a:prstGeom>
          <a:noFill/>
          <a:ln w="31750">
            <a:solidFill>
              <a:srgbClr val="0F3D6E"/>
            </a:solidFill>
            <a:prstDash val="solid"/>
            <a:tailEnd type="triangle"/>
          </a:ln>
        </p:spPr>
        <p:txBody>
          <a:bodyPr/>
          <a:lstStyle/>
          <a:p>
            <a:endParaRPr lang="en-US"/>
          </a:p>
        </p:txBody>
      </p:sp>
      <p:sp>
        <p:nvSpPr>
          <p:cNvPr id="9" name="s3-7"/>
          <p:cNvSpPr/>
          <p:nvPr/>
        </p:nvSpPr>
        <p:spPr>
          <a:xfrm>
            <a:off x="3520440" y="2148840"/>
            <a:ext cx="2743200" cy="2560320"/>
          </a:xfrm>
          <a:prstGeom prst="roundRect">
            <a:avLst>
              <a:gd name="adj" fmla="val 4286"/>
            </a:avLst>
          </a:prstGeom>
          <a:solidFill>
            <a:srgbClr val="0F3D6E"/>
          </a:solidFill>
          <a:ln w="12700">
            <a:solidFill>
              <a:srgbClr val="0F3D6E"/>
            </a:solidFill>
            <a:prstDash val="solid"/>
          </a:ln>
        </p:spPr>
        <p:txBody>
          <a:bodyPr/>
          <a:lstStyle/>
          <a:p>
            <a:endParaRPr lang="en-US"/>
          </a:p>
        </p:txBody>
      </p:sp>
      <p:sp>
        <p:nvSpPr>
          <p:cNvPr id="10" name="s3-8"/>
          <p:cNvSpPr txBox="1"/>
          <p:nvPr/>
        </p:nvSpPr>
        <p:spPr>
          <a:xfrm>
            <a:off x="3685032" y="2280514"/>
            <a:ext cx="2414016" cy="2296973"/>
          </a:xfrm>
          <a:prstGeom prst="rect">
            <a:avLst/>
          </a:prstGeom>
          <a:noFill/>
          <a:ln/>
        </p:spPr>
        <p:txBody>
          <a:bodyPr wrap="square" lIns="0" tIns="0" rIns="0" bIns="0" rtlCol="0" anchor="t"/>
          <a:lstStyle/>
          <a:p>
            <a:pPr marL="0" indent="0" algn="l">
              <a:lnSpc>
                <a:spcPct val="100000"/>
              </a:lnSpc>
              <a:spcAft>
                <a:spcPts val="400"/>
              </a:spcAft>
              <a:buNone/>
            </a:pPr>
            <a:r>
              <a:rPr lang="en-US" sz="1700" b="1" dirty="0">
                <a:solidFill>
                  <a:srgbClr val="FFFFFF"/>
                </a:solidFill>
                <a:latin typeface="Calibri" pitchFamily="34" charset="0"/>
                <a:ea typeface="Calibri" pitchFamily="34" charset="-122"/>
                <a:cs typeface="Calibri" pitchFamily="34" charset="-120"/>
              </a:rPr>
              <a:t>Kafka, Bronze, Silver</a:t>
            </a:r>
            <a:endParaRPr lang="en-US" sz="1700" dirty="0"/>
          </a:p>
          <a:p>
            <a:pPr marL="0" indent="0" algn="l">
              <a:lnSpc>
                <a:spcPct val="100000"/>
              </a:lnSpc>
              <a:spcAft>
                <a:spcPts val="300"/>
              </a:spcAft>
              <a:buNone/>
            </a:pPr>
            <a:r>
              <a:rPr lang="en-US" sz="1400" dirty="0">
                <a:solidFill>
                  <a:srgbClr val="DCE6F2"/>
                </a:solidFill>
                <a:latin typeface="Calibri" pitchFamily="34" charset="0"/>
                <a:ea typeface="Calibri" pitchFamily="34" charset="-122"/>
                <a:cs typeface="Calibri" pitchFamily="34" charset="-120"/>
              </a:rPr>
              <a:t>Every event is kept raw.</a:t>
            </a:r>
            <a:endParaRPr lang="en-US" sz="1700" dirty="0"/>
          </a:p>
          <a:p>
            <a:pPr marL="0" indent="0" algn="l">
              <a:lnSpc>
                <a:spcPct val="100000"/>
              </a:lnSpc>
              <a:spcAft>
                <a:spcPts val="300"/>
              </a:spcAft>
              <a:buNone/>
            </a:pPr>
            <a:r>
              <a:rPr lang="en-US" sz="1400" dirty="0">
                <a:solidFill>
                  <a:srgbClr val="DCE6F2"/>
                </a:solidFill>
                <a:latin typeface="Calibri" pitchFamily="34" charset="0"/>
                <a:ea typeface="Calibri" pitchFamily="34" charset="-122"/>
                <a:cs typeface="Calibri" pitchFamily="34" charset="-120"/>
              </a:rPr>
              <a:t>Then checked, typed and deduplicated once.</a:t>
            </a:r>
            <a:endParaRPr lang="en-US" sz="1700" dirty="0"/>
          </a:p>
          <a:p>
            <a:pPr marL="0" indent="0" algn="l">
              <a:lnSpc>
                <a:spcPct val="100000"/>
              </a:lnSpc>
              <a:spcAft>
                <a:spcPts val="300"/>
              </a:spcAft>
              <a:buNone/>
            </a:pPr>
            <a:r>
              <a:rPr lang="en-US" sz="1400" dirty="0">
                <a:solidFill>
                  <a:srgbClr val="DCE6F2"/>
                </a:solidFill>
                <a:latin typeface="Calibri" pitchFamily="34" charset="0"/>
                <a:ea typeface="Calibri" pitchFamily="34" charset="-122"/>
                <a:cs typeface="Calibri" pitchFamily="34" charset="-120"/>
              </a:rPr>
              <a:t>One trusted copy feeds both lanes.</a:t>
            </a:r>
            <a:endParaRPr lang="en-US" sz="1700" dirty="0"/>
          </a:p>
        </p:txBody>
      </p:sp>
      <p:sp>
        <p:nvSpPr>
          <p:cNvPr id="11" name="s3-9"/>
          <p:cNvSpPr/>
          <p:nvPr/>
        </p:nvSpPr>
        <p:spPr>
          <a:xfrm flipV="1">
            <a:off x="6263640" y="2651760"/>
            <a:ext cx="548640" cy="274320"/>
          </a:xfrm>
          <a:prstGeom prst="line">
            <a:avLst/>
          </a:prstGeom>
          <a:noFill/>
          <a:ln w="31750">
            <a:solidFill>
              <a:srgbClr val="59A472"/>
            </a:solidFill>
            <a:prstDash val="solid"/>
            <a:tailEnd type="triangle"/>
          </a:ln>
        </p:spPr>
        <p:txBody>
          <a:bodyPr/>
          <a:lstStyle/>
          <a:p>
            <a:endParaRPr lang="en-US"/>
          </a:p>
        </p:txBody>
      </p:sp>
      <p:sp>
        <p:nvSpPr>
          <p:cNvPr id="12" name="s3-10"/>
          <p:cNvSpPr/>
          <p:nvPr/>
        </p:nvSpPr>
        <p:spPr>
          <a:xfrm>
            <a:off x="6263640" y="3931920"/>
            <a:ext cx="548640" cy="548640"/>
          </a:xfrm>
          <a:prstGeom prst="line">
            <a:avLst/>
          </a:prstGeom>
          <a:noFill/>
          <a:ln w="31750">
            <a:solidFill>
              <a:srgbClr val="1F84FF"/>
            </a:solidFill>
            <a:prstDash val="solid"/>
            <a:tailEnd type="triangle"/>
          </a:ln>
        </p:spPr>
        <p:txBody>
          <a:bodyPr/>
          <a:lstStyle/>
          <a:p>
            <a:endParaRPr lang="en-US"/>
          </a:p>
        </p:txBody>
      </p:sp>
      <p:sp>
        <p:nvSpPr>
          <p:cNvPr id="13" name="s3-11"/>
          <p:cNvSpPr/>
          <p:nvPr/>
        </p:nvSpPr>
        <p:spPr>
          <a:xfrm>
            <a:off x="6812280" y="1737360"/>
            <a:ext cx="4800600" cy="1828800"/>
          </a:xfrm>
          <a:prstGeom prst="roundRect">
            <a:avLst>
              <a:gd name="adj" fmla="val 6000"/>
            </a:avLst>
          </a:prstGeom>
          <a:solidFill>
            <a:srgbClr val="E3F1E8"/>
          </a:solidFill>
          <a:ln w="12700">
            <a:solidFill>
              <a:srgbClr val="E3F1E8"/>
            </a:solidFill>
            <a:prstDash val="solid"/>
          </a:ln>
        </p:spPr>
        <p:txBody>
          <a:bodyPr/>
          <a:lstStyle/>
          <a:p>
            <a:endParaRPr lang="en-US"/>
          </a:p>
        </p:txBody>
      </p:sp>
      <p:sp>
        <p:nvSpPr>
          <p:cNvPr id="14" name="s3-12"/>
          <p:cNvSpPr txBox="1"/>
          <p:nvPr/>
        </p:nvSpPr>
        <p:spPr>
          <a:xfrm>
            <a:off x="6976872" y="1869034"/>
            <a:ext cx="4471416" cy="1565453"/>
          </a:xfrm>
          <a:prstGeom prst="rect">
            <a:avLst/>
          </a:prstGeom>
          <a:noFill/>
          <a:ln/>
        </p:spPr>
        <p:txBody>
          <a:bodyPr wrap="square" lIns="0" tIns="0" rIns="0" bIns="0" rtlCol="0" anchor="t"/>
          <a:lstStyle/>
          <a:p>
            <a:pPr marL="0" indent="0" algn="l">
              <a:lnSpc>
                <a:spcPct val="100000"/>
              </a:lnSpc>
              <a:spcAft>
                <a:spcPts val="400"/>
              </a:spcAft>
              <a:buNone/>
            </a:pPr>
            <a:r>
              <a:rPr lang="en-US" sz="1700" b="1" dirty="0">
                <a:solidFill>
                  <a:srgbClr val="2F7A4B"/>
                </a:solidFill>
                <a:latin typeface="Calibri" pitchFamily="34" charset="0"/>
                <a:ea typeface="Calibri" pitchFamily="34" charset="-122"/>
                <a:cs typeface="Calibri" pitchFamily="34" charset="-120"/>
              </a:rPr>
              <a:t>Live lane: seconds to a minute</a:t>
            </a:r>
            <a:endParaRPr lang="en-US" sz="1700" dirty="0"/>
          </a:p>
          <a:p>
            <a:pPr marL="0" indent="0" algn="l">
              <a:lnSpc>
                <a:spcPct val="100000"/>
              </a:lnSpc>
              <a:spcAft>
                <a:spcPts val="300"/>
              </a:spcAft>
              <a:buNone/>
            </a:pPr>
            <a:r>
              <a:rPr lang="en-US" sz="1400" dirty="0">
                <a:solidFill>
                  <a:srgbClr val="121212"/>
                </a:solidFill>
                <a:latin typeface="Calibri" pitchFamily="34" charset="0"/>
                <a:ea typeface="Calibri" pitchFamily="34" charset="-122"/>
                <a:cs typeface="Calibri" pitchFamily="34" charset="-120"/>
              </a:rPr>
              <a:t>Postgres and Grafana, 8 alert rules.</a:t>
            </a:r>
            <a:endParaRPr lang="en-US" sz="1700" dirty="0"/>
          </a:p>
          <a:p>
            <a:pPr marL="0" indent="0" algn="l">
              <a:lnSpc>
                <a:spcPct val="100000"/>
              </a:lnSpc>
              <a:spcAft>
                <a:spcPts val="300"/>
              </a:spcAft>
              <a:buNone/>
            </a:pPr>
            <a:r>
              <a:rPr lang="en-US" sz="1400" dirty="0">
                <a:solidFill>
                  <a:srgbClr val="121212"/>
                </a:solidFill>
                <a:latin typeface="Calibri" pitchFamily="34" charset="0"/>
                <a:ea typeface="Calibri" pitchFamily="34" charset="-122"/>
                <a:cs typeface="Calibri" pitchFamily="34" charset="-120"/>
              </a:rPr>
              <a:t>For operations: which product is out of stock, is express on time, is the pipeline healthy.</a:t>
            </a:r>
            <a:endParaRPr lang="en-US" sz="1700" dirty="0"/>
          </a:p>
        </p:txBody>
      </p:sp>
      <p:sp>
        <p:nvSpPr>
          <p:cNvPr id="15" name="s3-13"/>
          <p:cNvSpPr/>
          <p:nvPr/>
        </p:nvSpPr>
        <p:spPr>
          <a:xfrm>
            <a:off x="6812280" y="3749040"/>
            <a:ext cx="4800600" cy="1828800"/>
          </a:xfrm>
          <a:prstGeom prst="roundRect">
            <a:avLst>
              <a:gd name="adj" fmla="val 6000"/>
            </a:avLst>
          </a:prstGeom>
          <a:solidFill>
            <a:srgbClr val="E1ECFB"/>
          </a:solidFill>
          <a:ln w="12700">
            <a:solidFill>
              <a:srgbClr val="E1ECFB"/>
            </a:solidFill>
            <a:prstDash val="solid"/>
          </a:ln>
        </p:spPr>
        <p:txBody>
          <a:bodyPr/>
          <a:lstStyle/>
          <a:p>
            <a:endParaRPr lang="en-US"/>
          </a:p>
        </p:txBody>
      </p:sp>
      <p:sp>
        <p:nvSpPr>
          <p:cNvPr id="16" name="s3-14"/>
          <p:cNvSpPr txBox="1"/>
          <p:nvPr/>
        </p:nvSpPr>
        <p:spPr>
          <a:xfrm>
            <a:off x="6976872" y="3880714"/>
            <a:ext cx="4471416" cy="1565453"/>
          </a:xfrm>
          <a:prstGeom prst="rect">
            <a:avLst/>
          </a:prstGeom>
          <a:noFill/>
          <a:ln/>
        </p:spPr>
        <p:txBody>
          <a:bodyPr wrap="square" lIns="0" tIns="0" rIns="0" bIns="0" rtlCol="0" anchor="t"/>
          <a:lstStyle/>
          <a:p>
            <a:pPr marL="0" indent="0" algn="l">
              <a:lnSpc>
                <a:spcPct val="100000"/>
              </a:lnSpc>
              <a:spcAft>
                <a:spcPts val="400"/>
              </a:spcAft>
              <a:buNone/>
            </a:pPr>
            <a:r>
              <a:rPr lang="en-US" sz="1700" b="1" dirty="0">
                <a:solidFill>
                  <a:srgbClr val="0F3D6E"/>
                </a:solidFill>
                <a:latin typeface="Calibri" pitchFamily="34" charset="0"/>
                <a:ea typeface="Calibri" pitchFamily="34" charset="-122"/>
                <a:cs typeface="Calibri" pitchFamily="34" charset="-120"/>
              </a:rPr>
              <a:t>Batch lane: next morning</a:t>
            </a:r>
            <a:endParaRPr lang="en-US" sz="1700" dirty="0"/>
          </a:p>
          <a:p>
            <a:pPr marL="0" indent="0" algn="l">
              <a:lnSpc>
                <a:spcPct val="100000"/>
              </a:lnSpc>
              <a:spcAft>
                <a:spcPts val="300"/>
              </a:spcAft>
              <a:buNone/>
            </a:pPr>
            <a:r>
              <a:rPr lang="en-US" sz="1400" dirty="0">
                <a:solidFill>
                  <a:srgbClr val="121212"/>
                </a:solidFill>
                <a:latin typeface="Calibri" pitchFamily="34" charset="0"/>
                <a:ea typeface="Calibri" pitchFamily="34" charset="-122"/>
                <a:cs typeface="Calibri" pitchFamily="34" charset="-120"/>
              </a:rPr>
              <a:t>Databricks Gold with </a:t>
            </a:r>
            <a:r>
              <a:rPr lang="en-US" sz="1400" dirty="0">
                <a:solidFill>
                  <a:srgbClr val="121212"/>
                </a:solidFill>
                <a:highlight>
                  <a:srgbClr val="FFFF00"/>
                </a:highlight>
                <a:latin typeface="Calibri" pitchFamily="34" charset="0"/>
                <a:ea typeface="Calibri" pitchFamily="34" charset="-122"/>
                <a:cs typeface="Calibri" pitchFamily="34" charset="-120"/>
              </a:rPr>
              <a:t>66 quality checks</a:t>
            </a:r>
            <a:r>
              <a:rPr lang="en-US" sz="1400" dirty="0">
                <a:solidFill>
                  <a:srgbClr val="121212"/>
                </a:solidFill>
                <a:latin typeface="Calibri" pitchFamily="34" charset="0"/>
                <a:ea typeface="Calibri" pitchFamily="34" charset="-122"/>
                <a:cs typeface="Calibri" pitchFamily="34" charset="-120"/>
              </a:rPr>
              <a:t>, Power BI.</a:t>
            </a:r>
            <a:endParaRPr lang="en-US" sz="1700" dirty="0"/>
          </a:p>
          <a:p>
            <a:pPr marL="0" indent="0" algn="l">
              <a:lnSpc>
                <a:spcPct val="100000"/>
              </a:lnSpc>
              <a:spcAft>
                <a:spcPts val="300"/>
              </a:spcAft>
              <a:buNone/>
            </a:pPr>
            <a:r>
              <a:rPr lang="en-US" sz="1400" dirty="0">
                <a:solidFill>
                  <a:srgbClr val="121212"/>
                </a:solidFill>
                <a:latin typeface="Calibri" pitchFamily="34" charset="0"/>
                <a:ea typeface="Calibri" pitchFamily="34" charset="-122"/>
                <a:cs typeface="Calibri" pitchFamily="34" charset="-120"/>
              </a:rPr>
              <a:t>For marketing: spend, ROAS, funnel, customers, delivered revenue.</a:t>
            </a:r>
            <a:endParaRPr lang="en-US" sz="1700" dirty="0"/>
          </a:p>
        </p:txBody>
      </p:sp>
      <p:sp>
        <p:nvSpPr>
          <p:cNvPr id="17" name="s3-15"/>
          <p:cNvSpPr/>
          <p:nvPr/>
        </p:nvSpPr>
        <p:spPr>
          <a:xfrm>
            <a:off x="548640" y="5760720"/>
            <a:ext cx="11064240" cy="548640"/>
          </a:xfrm>
          <a:prstGeom prst="roundRect">
            <a:avLst>
              <a:gd name="adj" fmla="val 16667"/>
            </a:avLst>
          </a:prstGeom>
          <a:solidFill>
            <a:srgbClr val="F4D25A"/>
          </a:solidFill>
          <a:ln w="12700">
            <a:solidFill>
              <a:srgbClr val="F4D25A"/>
            </a:solidFill>
            <a:prstDash val="solid"/>
          </a:ln>
        </p:spPr>
        <p:txBody>
          <a:bodyPr/>
          <a:lstStyle/>
          <a:p>
            <a:endParaRPr lang="en-US"/>
          </a:p>
        </p:txBody>
      </p:sp>
      <p:sp>
        <p:nvSpPr>
          <p:cNvPr id="18" name="s3-16"/>
          <p:cNvSpPr txBox="1"/>
          <p:nvPr/>
        </p:nvSpPr>
        <p:spPr>
          <a:xfrm>
            <a:off x="548640" y="5760720"/>
            <a:ext cx="11064240" cy="548640"/>
          </a:xfrm>
          <a:prstGeom prst="rect">
            <a:avLst/>
          </a:prstGeom>
          <a:noFill/>
          <a:ln/>
        </p:spPr>
        <p:txBody>
          <a:bodyPr wrap="square" lIns="0" tIns="0" rIns="0" bIns="0" rtlCol="0" anchor="ctr"/>
          <a:lstStyle/>
          <a:p>
            <a:pPr marL="0" indent="0" algn="ctr">
              <a:lnSpc>
                <a:spcPct val="100000"/>
              </a:lnSpc>
              <a:buNone/>
            </a:pPr>
            <a:r>
              <a:rPr lang="en-US" sz="1600" b="1" dirty="0">
                <a:solidFill>
                  <a:srgbClr val="121212"/>
                </a:solidFill>
                <a:latin typeface="Calibri" pitchFamily="34" charset="0"/>
                <a:ea typeface="Calibri" pitchFamily="34" charset="-122"/>
                <a:cs typeface="Calibri" pitchFamily="34" charset="-120"/>
              </a:rPr>
              <a:t>The bridge only a joined platform can make advertising spend sent to products that were out of stock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4-0"/>
          <p:cNvSpPr txBox="1"/>
          <p:nvPr/>
        </p:nvSpPr>
        <p:spPr>
          <a:xfrm>
            <a:off x="548640" y="274320"/>
            <a:ext cx="8229600" cy="274320"/>
          </a:xfrm>
          <a:prstGeom prst="rect">
            <a:avLst/>
          </a:prstGeom>
          <a:noFill/>
          <a:ln/>
        </p:spPr>
        <p:txBody>
          <a:bodyPr wrap="square" lIns="0" tIns="0" rIns="0" bIns="0" rtlCol="0" anchor="t"/>
          <a:lstStyle/>
          <a:p>
            <a:pPr marL="0" indent="0" algn="l">
              <a:lnSpc>
                <a:spcPct val="100000"/>
              </a:lnSpc>
              <a:buNone/>
            </a:pPr>
            <a:r>
              <a:rPr lang="en-US" sz="1200" b="1" dirty="0">
                <a:solidFill>
                  <a:srgbClr val="5B6578"/>
                </a:solidFill>
                <a:latin typeface="Calibri" pitchFamily="34" charset="0"/>
                <a:ea typeface="Calibri" pitchFamily="34" charset="-122"/>
                <a:cs typeface="Calibri" pitchFamily="34" charset="-120"/>
              </a:rPr>
              <a:t>2  ARCHITECTURE AND DATA ENGINEERING</a:t>
            </a:r>
            <a:endParaRPr lang="en-US" sz="1200" dirty="0"/>
          </a:p>
        </p:txBody>
      </p:sp>
      <p:sp>
        <p:nvSpPr>
          <p:cNvPr id="3" name="s4-1"/>
          <p:cNvSpPr txBox="1"/>
          <p:nvPr/>
        </p:nvSpPr>
        <p:spPr>
          <a:xfrm>
            <a:off x="548640" y="530352"/>
            <a:ext cx="11064240" cy="685800"/>
          </a:xfrm>
          <a:prstGeom prst="rect">
            <a:avLst/>
          </a:prstGeom>
          <a:noFill/>
          <a:ln/>
        </p:spPr>
        <p:txBody>
          <a:bodyPr wrap="square" lIns="0" tIns="0" rIns="0" bIns="0" rtlCol="0" anchor="ctr"/>
          <a:lstStyle/>
          <a:p>
            <a:pPr marL="0" indent="0" algn="l">
              <a:lnSpc>
                <a:spcPct val="100000"/>
              </a:lnSpc>
              <a:buNone/>
            </a:pPr>
            <a:r>
              <a:rPr lang="en-US" sz="3000" b="1" dirty="0">
                <a:solidFill>
                  <a:srgbClr val="0F3D6E"/>
                </a:solidFill>
                <a:latin typeface="Calibri" pitchFamily="34" charset="0"/>
                <a:ea typeface="Calibri" pitchFamily="34" charset="-122"/>
                <a:cs typeface="Calibri" pitchFamily="34" charset="-120"/>
              </a:rPr>
              <a:t>End-to-end architecture</a:t>
            </a:r>
            <a:endParaRPr lang="en-US" sz="3000" dirty="0"/>
          </a:p>
        </p:txBody>
      </p:sp>
      <p:sp>
        <p:nvSpPr>
          <p:cNvPr id="4" name="s4-2"/>
          <p:cNvSpPr txBox="1"/>
          <p:nvPr/>
        </p:nvSpPr>
        <p:spPr>
          <a:xfrm>
            <a:off x="548640" y="6437376"/>
            <a:ext cx="5486400" cy="274320"/>
          </a:xfrm>
          <a:prstGeom prst="rect">
            <a:avLst/>
          </a:prstGeom>
          <a:noFill/>
          <a:ln/>
        </p:spPr>
        <p:txBody>
          <a:bodyPr wrap="square" lIns="0" tIns="0" rIns="0" bIns="0" rtlCol="0" anchor="t"/>
          <a:lstStyle/>
          <a:p>
            <a:pPr marL="0" indent="0" algn="l">
              <a:lnSpc>
                <a:spcPct val="100000"/>
              </a:lnSpc>
              <a:buNone/>
            </a:pPr>
            <a:r>
              <a:rPr lang="en-US" sz="1000" dirty="0">
                <a:solidFill>
                  <a:srgbClr val="5B6578"/>
                </a:solidFill>
                <a:latin typeface="Calibri" pitchFamily="34" charset="0"/>
                <a:ea typeface="Calibri" pitchFamily="34" charset="-122"/>
                <a:cs typeface="Calibri" pitchFamily="34" charset="-120"/>
              </a:rPr>
              <a:t>FunnelStream</a:t>
            </a:r>
            <a:endParaRPr lang="en-US" sz="1000" dirty="0"/>
          </a:p>
        </p:txBody>
      </p:sp>
      <p:sp>
        <p:nvSpPr>
          <p:cNvPr id="5" name="s4-3"/>
          <p:cNvSpPr txBox="1"/>
          <p:nvPr/>
        </p:nvSpPr>
        <p:spPr>
          <a:xfrm>
            <a:off x="10881360" y="6437376"/>
            <a:ext cx="758952" cy="274320"/>
          </a:xfrm>
          <a:prstGeom prst="rect">
            <a:avLst/>
          </a:prstGeom>
          <a:noFill/>
          <a:ln/>
        </p:spPr>
        <p:txBody>
          <a:bodyPr wrap="square" lIns="0" tIns="0" rIns="0" bIns="0" rtlCol="0" anchor="t"/>
          <a:lstStyle/>
          <a:p>
            <a:pPr marL="0" indent="0" algn="r">
              <a:lnSpc>
                <a:spcPct val="100000"/>
              </a:lnSpc>
              <a:buNone/>
            </a:pPr>
            <a:r>
              <a:rPr lang="en-US" sz="1000" dirty="0">
                <a:solidFill>
                  <a:srgbClr val="5B6578"/>
                </a:solidFill>
                <a:latin typeface="Calibri" pitchFamily="34" charset="0"/>
                <a:ea typeface="Calibri" pitchFamily="34" charset="-122"/>
                <a:cs typeface="Calibri" pitchFamily="34" charset="-120"/>
              </a:rPr>
              <a:t>4</a:t>
            </a:r>
            <a:endParaRPr lang="en-US" sz="1000" dirty="0"/>
          </a:p>
        </p:txBody>
      </p:sp>
      <p:sp>
        <p:nvSpPr>
          <p:cNvPr id="6" name="s4-4"/>
          <p:cNvSpPr/>
          <p:nvPr/>
        </p:nvSpPr>
        <p:spPr>
          <a:xfrm>
            <a:off x="457200" y="1783080"/>
            <a:ext cx="2011680" cy="1234440"/>
          </a:xfrm>
          <a:prstGeom prst="roundRect">
            <a:avLst>
              <a:gd name="adj" fmla="val 7407"/>
            </a:avLst>
          </a:prstGeom>
          <a:solidFill>
            <a:srgbClr val="EEF2F7"/>
          </a:solidFill>
          <a:ln w="12700">
            <a:solidFill>
              <a:srgbClr val="C6D0DE"/>
            </a:solidFill>
            <a:prstDash val="solid"/>
          </a:ln>
        </p:spPr>
        <p:txBody>
          <a:bodyPr/>
          <a:lstStyle/>
          <a:p>
            <a:endParaRPr lang="en-US"/>
          </a:p>
        </p:txBody>
      </p:sp>
      <p:sp>
        <p:nvSpPr>
          <p:cNvPr id="7" name="s4-5"/>
          <p:cNvSpPr txBox="1"/>
          <p:nvPr/>
        </p:nvSpPr>
        <p:spPr>
          <a:xfrm>
            <a:off x="548640" y="1856232"/>
            <a:ext cx="1828800" cy="1088136"/>
          </a:xfrm>
          <a:prstGeom prst="rect">
            <a:avLst/>
          </a:prstGeom>
          <a:noFill/>
          <a:ln/>
        </p:spPr>
        <p:txBody>
          <a:bodyPr wrap="square" lIns="0" tIns="0" rIns="0" bIns="0" rtlCol="0" anchor="ctr"/>
          <a:lstStyle/>
          <a:p>
            <a:pPr marL="0" indent="0" algn="ctr">
              <a:lnSpc>
                <a:spcPct val="100000"/>
              </a:lnSpc>
              <a:spcAft>
                <a:spcPts val="200"/>
              </a:spcAft>
              <a:buNone/>
            </a:pPr>
            <a:r>
              <a:rPr lang="en-US" sz="1500" b="1" dirty="0">
                <a:solidFill>
                  <a:srgbClr val="0F3D6E"/>
                </a:solidFill>
                <a:latin typeface="Calibri" pitchFamily="34" charset="0"/>
                <a:ea typeface="Calibri" pitchFamily="34" charset="-122"/>
                <a:cs typeface="Calibri" pitchFamily="34" charset="-120"/>
              </a:rPr>
              <a:t>Simulator</a:t>
            </a:r>
            <a:endParaRPr lang="en-US" sz="1500" dirty="0"/>
          </a:p>
          <a:p>
            <a:pPr marL="0" indent="0" algn="ctr">
              <a:lnSpc>
                <a:spcPct val="100000"/>
              </a:lnSpc>
              <a:buNone/>
            </a:pPr>
            <a:r>
              <a:rPr lang="en-US" sz="1200" dirty="0">
                <a:solidFill>
                  <a:srgbClr val="121212"/>
                </a:solidFill>
                <a:latin typeface="Calibri" pitchFamily="34" charset="0"/>
                <a:ea typeface="Calibri" pitchFamily="34" charset="-122"/>
                <a:cs typeface="Calibri" pitchFamily="34" charset="-120"/>
              </a:rPr>
              <a:t>app events, orders, deliveries, stock of 8 dark stores</a:t>
            </a:r>
            <a:endParaRPr lang="en-US" sz="1500" dirty="0"/>
          </a:p>
        </p:txBody>
      </p:sp>
      <p:sp>
        <p:nvSpPr>
          <p:cNvPr id="8" name="s4-6"/>
          <p:cNvSpPr/>
          <p:nvPr/>
        </p:nvSpPr>
        <p:spPr>
          <a:xfrm>
            <a:off x="457200" y="4480560"/>
            <a:ext cx="2011680" cy="914400"/>
          </a:xfrm>
          <a:prstGeom prst="roundRect">
            <a:avLst>
              <a:gd name="adj" fmla="val 10000"/>
            </a:avLst>
          </a:prstGeom>
          <a:solidFill>
            <a:srgbClr val="EEF2F7"/>
          </a:solidFill>
          <a:ln w="12700">
            <a:solidFill>
              <a:srgbClr val="C6D0DE"/>
            </a:solidFill>
            <a:prstDash val="solid"/>
          </a:ln>
        </p:spPr>
        <p:txBody>
          <a:bodyPr/>
          <a:lstStyle/>
          <a:p>
            <a:endParaRPr lang="en-US"/>
          </a:p>
        </p:txBody>
      </p:sp>
      <p:sp>
        <p:nvSpPr>
          <p:cNvPr id="9" name="s4-7"/>
          <p:cNvSpPr txBox="1"/>
          <p:nvPr/>
        </p:nvSpPr>
        <p:spPr>
          <a:xfrm>
            <a:off x="548640" y="4553712"/>
            <a:ext cx="1828800" cy="768096"/>
          </a:xfrm>
          <a:prstGeom prst="rect">
            <a:avLst/>
          </a:prstGeom>
          <a:noFill/>
          <a:ln/>
        </p:spPr>
        <p:txBody>
          <a:bodyPr wrap="square" lIns="0" tIns="0" rIns="0" bIns="0" rtlCol="0" anchor="ctr"/>
          <a:lstStyle/>
          <a:p>
            <a:pPr marL="0" indent="0" algn="ctr">
              <a:lnSpc>
                <a:spcPct val="100000"/>
              </a:lnSpc>
              <a:spcAft>
                <a:spcPts val="200"/>
              </a:spcAft>
              <a:buNone/>
            </a:pPr>
            <a:r>
              <a:rPr lang="en-US" sz="1500" b="1" dirty="0">
                <a:solidFill>
                  <a:srgbClr val="0F3D6E"/>
                </a:solidFill>
                <a:latin typeface="Calibri" pitchFamily="34" charset="0"/>
                <a:ea typeface="Calibri" pitchFamily="34" charset="-122"/>
                <a:cs typeface="Calibri" pitchFamily="34" charset="-120"/>
              </a:rPr>
              <a:t>Mock ad API</a:t>
            </a:r>
            <a:endParaRPr lang="en-US" sz="1500" dirty="0"/>
          </a:p>
          <a:p>
            <a:pPr marL="0" indent="0" algn="ctr">
              <a:lnSpc>
                <a:spcPct val="100000"/>
              </a:lnSpc>
              <a:buNone/>
            </a:pPr>
            <a:r>
              <a:rPr lang="en-US" sz="1200" dirty="0">
                <a:solidFill>
                  <a:srgbClr val="121212"/>
                </a:solidFill>
                <a:latin typeface="Calibri" pitchFamily="34" charset="0"/>
                <a:ea typeface="Calibri" pitchFamily="34" charset="-122"/>
                <a:cs typeface="Calibri" pitchFamily="34" charset="-120"/>
              </a:rPr>
              <a:t>Meta and Google campaigns</a:t>
            </a:r>
            <a:endParaRPr lang="en-US" sz="1500" dirty="0"/>
          </a:p>
        </p:txBody>
      </p:sp>
      <p:sp>
        <p:nvSpPr>
          <p:cNvPr id="10" name="s4-8"/>
          <p:cNvSpPr/>
          <p:nvPr/>
        </p:nvSpPr>
        <p:spPr>
          <a:xfrm>
            <a:off x="2926080" y="1783080"/>
            <a:ext cx="1828800" cy="1234440"/>
          </a:xfrm>
          <a:prstGeom prst="roundRect">
            <a:avLst>
              <a:gd name="adj" fmla="val 7407"/>
            </a:avLst>
          </a:prstGeom>
          <a:solidFill>
            <a:srgbClr val="1F84FF"/>
          </a:solidFill>
          <a:ln w="12700">
            <a:solidFill>
              <a:srgbClr val="1F84FF"/>
            </a:solidFill>
            <a:prstDash val="solid"/>
          </a:ln>
        </p:spPr>
        <p:txBody>
          <a:bodyPr/>
          <a:lstStyle/>
          <a:p>
            <a:endParaRPr lang="en-US"/>
          </a:p>
        </p:txBody>
      </p:sp>
      <p:sp>
        <p:nvSpPr>
          <p:cNvPr id="11" name="s4-9"/>
          <p:cNvSpPr txBox="1"/>
          <p:nvPr/>
        </p:nvSpPr>
        <p:spPr>
          <a:xfrm>
            <a:off x="3017520" y="1856232"/>
            <a:ext cx="1645920" cy="1088136"/>
          </a:xfrm>
          <a:prstGeom prst="rect">
            <a:avLst/>
          </a:prstGeom>
          <a:noFill/>
          <a:ln/>
        </p:spPr>
        <p:txBody>
          <a:bodyPr wrap="square" lIns="0" tIns="0" rIns="0" bIns="0" rtlCol="0" anchor="ctr"/>
          <a:lstStyle/>
          <a:p>
            <a:pPr marL="0" indent="0" algn="ctr">
              <a:lnSpc>
                <a:spcPct val="100000"/>
              </a:lnSpc>
              <a:spcAft>
                <a:spcPts val="200"/>
              </a:spcAft>
              <a:buNone/>
            </a:pPr>
            <a:r>
              <a:rPr lang="en-US" sz="1500" b="1" dirty="0">
                <a:solidFill>
                  <a:srgbClr val="FFFFFF"/>
                </a:solidFill>
                <a:latin typeface="Calibri" pitchFamily="34" charset="0"/>
                <a:ea typeface="Calibri" pitchFamily="34" charset="-122"/>
                <a:cs typeface="Calibri" pitchFamily="34" charset="-120"/>
              </a:rPr>
              <a:t>Kafka</a:t>
            </a:r>
            <a:endParaRPr lang="en-US" sz="1500" dirty="0"/>
          </a:p>
          <a:p>
            <a:pPr marL="0" indent="0" algn="ctr">
              <a:lnSpc>
                <a:spcPct val="100000"/>
              </a:lnSpc>
              <a:buNone/>
            </a:pPr>
            <a:r>
              <a:rPr lang="en-US" sz="1200" dirty="0">
                <a:solidFill>
                  <a:srgbClr val="FFFFFF"/>
                </a:solidFill>
                <a:latin typeface="Calibri" pitchFamily="34" charset="0"/>
                <a:ea typeface="Calibri" pitchFamily="34" charset="-122"/>
                <a:cs typeface="Calibri" pitchFamily="34" charset="-120"/>
              </a:rPr>
              <a:t>4 topics, KRaft mode</a:t>
            </a:r>
            <a:endParaRPr lang="en-US" sz="1500" dirty="0"/>
          </a:p>
        </p:txBody>
      </p:sp>
      <p:sp>
        <p:nvSpPr>
          <p:cNvPr id="12" name="s4-10"/>
          <p:cNvSpPr/>
          <p:nvPr/>
        </p:nvSpPr>
        <p:spPr>
          <a:xfrm>
            <a:off x="2926080" y="4480560"/>
            <a:ext cx="1828800" cy="914400"/>
          </a:xfrm>
          <a:prstGeom prst="roundRect">
            <a:avLst>
              <a:gd name="adj" fmla="val 10000"/>
            </a:avLst>
          </a:prstGeom>
          <a:solidFill>
            <a:srgbClr val="EEF2F7"/>
          </a:solidFill>
          <a:ln w="12700">
            <a:solidFill>
              <a:srgbClr val="C6D0DE"/>
            </a:solidFill>
            <a:prstDash val="solid"/>
          </a:ln>
        </p:spPr>
        <p:txBody>
          <a:bodyPr/>
          <a:lstStyle/>
          <a:p>
            <a:endParaRPr lang="en-US"/>
          </a:p>
        </p:txBody>
      </p:sp>
      <p:sp>
        <p:nvSpPr>
          <p:cNvPr id="13" name="s4-11"/>
          <p:cNvSpPr txBox="1"/>
          <p:nvPr/>
        </p:nvSpPr>
        <p:spPr>
          <a:xfrm>
            <a:off x="3017520" y="4553712"/>
            <a:ext cx="1645920" cy="768096"/>
          </a:xfrm>
          <a:prstGeom prst="rect">
            <a:avLst/>
          </a:prstGeom>
          <a:noFill/>
          <a:ln/>
        </p:spPr>
        <p:txBody>
          <a:bodyPr wrap="square" lIns="0" tIns="0" rIns="0" bIns="0" rtlCol="0" anchor="ctr"/>
          <a:lstStyle/>
          <a:p>
            <a:pPr marL="0" indent="0" algn="ctr">
              <a:lnSpc>
                <a:spcPct val="100000"/>
              </a:lnSpc>
              <a:spcAft>
                <a:spcPts val="200"/>
              </a:spcAft>
              <a:buNone/>
            </a:pPr>
            <a:r>
              <a:rPr lang="en-US" sz="1500" b="1" dirty="0">
                <a:solidFill>
                  <a:srgbClr val="0F3D6E"/>
                </a:solidFill>
                <a:latin typeface="Calibri" pitchFamily="34" charset="0"/>
                <a:ea typeface="Calibri" pitchFamily="34" charset="-122"/>
                <a:cs typeface="Calibri" pitchFamily="34" charset="-120"/>
              </a:rPr>
              <a:t>Airflow</a:t>
            </a:r>
            <a:endParaRPr lang="en-US" sz="1500" dirty="0"/>
          </a:p>
          <a:p>
            <a:pPr marL="0" indent="0" algn="ctr">
              <a:lnSpc>
                <a:spcPct val="100000"/>
              </a:lnSpc>
              <a:buNone/>
            </a:pPr>
            <a:r>
              <a:rPr lang="en-US" sz="1200" dirty="0">
                <a:solidFill>
                  <a:srgbClr val="121212"/>
                </a:solidFill>
                <a:latin typeface="Calibri" pitchFamily="34" charset="0"/>
                <a:ea typeface="Calibri" pitchFamily="34" charset="-122"/>
                <a:cs typeface="Calibri" pitchFamily="34" charset="-120"/>
              </a:rPr>
              <a:t>daily ad report, 03:00 UTC</a:t>
            </a:r>
            <a:endParaRPr lang="en-US" sz="1500" dirty="0"/>
          </a:p>
        </p:txBody>
      </p:sp>
      <p:sp>
        <p:nvSpPr>
          <p:cNvPr id="14" name="s4-12"/>
          <p:cNvSpPr/>
          <p:nvPr/>
        </p:nvSpPr>
        <p:spPr>
          <a:xfrm>
            <a:off x="5212080" y="1600200"/>
            <a:ext cx="2834640" cy="3977640"/>
          </a:xfrm>
          <a:prstGeom prst="roundRect">
            <a:avLst>
              <a:gd name="adj" fmla="val 3871"/>
            </a:avLst>
          </a:prstGeom>
          <a:solidFill>
            <a:srgbClr val="F7F9FC"/>
          </a:solidFill>
          <a:ln w="12700">
            <a:solidFill>
              <a:srgbClr val="0F3D6E"/>
            </a:solidFill>
            <a:prstDash val="solid"/>
          </a:ln>
        </p:spPr>
        <p:txBody>
          <a:bodyPr/>
          <a:lstStyle/>
          <a:p>
            <a:endParaRPr lang="en-US"/>
          </a:p>
        </p:txBody>
      </p:sp>
      <p:sp>
        <p:nvSpPr>
          <p:cNvPr id="15" name="s4-13"/>
          <p:cNvSpPr txBox="1"/>
          <p:nvPr/>
        </p:nvSpPr>
        <p:spPr>
          <a:xfrm>
            <a:off x="5303520" y="1645920"/>
            <a:ext cx="2651760" cy="274320"/>
          </a:xfrm>
          <a:prstGeom prst="rect">
            <a:avLst/>
          </a:prstGeom>
          <a:noFill/>
          <a:ln/>
        </p:spPr>
        <p:txBody>
          <a:bodyPr wrap="square" lIns="0" tIns="0" rIns="0" bIns="0" rtlCol="0" anchor="t"/>
          <a:lstStyle/>
          <a:p>
            <a:pPr marL="0" indent="0" algn="ctr">
              <a:lnSpc>
                <a:spcPct val="100000"/>
              </a:lnSpc>
              <a:buNone/>
            </a:pPr>
            <a:r>
              <a:rPr lang="en-US" sz="1100" b="1" dirty="0">
                <a:solidFill>
                  <a:srgbClr val="0F3D6E"/>
                </a:solidFill>
                <a:latin typeface="Calibri" pitchFamily="34" charset="0"/>
                <a:ea typeface="Calibri" pitchFamily="34" charset="-122"/>
                <a:cs typeface="Calibri" pitchFamily="34" charset="-120"/>
              </a:rPr>
              <a:t>Spark Structured Streaming, in Docker</a:t>
            </a:r>
            <a:endParaRPr lang="en-US" sz="1100" dirty="0"/>
          </a:p>
        </p:txBody>
      </p:sp>
      <p:sp>
        <p:nvSpPr>
          <p:cNvPr id="16" name="s4-14"/>
          <p:cNvSpPr/>
          <p:nvPr/>
        </p:nvSpPr>
        <p:spPr>
          <a:xfrm>
            <a:off x="5394960" y="2011680"/>
            <a:ext cx="2468880" cy="822960"/>
          </a:xfrm>
          <a:prstGeom prst="roundRect">
            <a:avLst>
              <a:gd name="adj" fmla="val 11111"/>
            </a:avLst>
          </a:prstGeom>
          <a:solidFill>
            <a:srgbClr val="FDE9D9"/>
          </a:solidFill>
          <a:ln w="12700">
            <a:solidFill>
              <a:srgbClr val="E7B58F"/>
            </a:solidFill>
            <a:prstDash val="solid"/>
          </a:ln>
        </p:spPr>
        <p:txBody>
          <a:bodyPr/>
          <a:lstStyle/>
          <a:p>
            <a:endParaRPr lang="en-US"/>
          </a:p>
        </p:txBody>
      </p:sp>
      <p:sp>
        <p:nvSpPr>
          <p:cNvPr id="17" name="s4-15"/>
          <p:cNvSpPr txBox="1"/>
          <p:nvPr/>
        </p:nvSpPr>
        <p:spPr>
          <a:xfrm>
            <a:off x="5486400" y="2084832"/>
            <a:ext cx="2286000" cy="676656"/>
          </a:xfrm>
          <a:prstGeom prst="rect">
            <a:avLst/>
          </a:prstGeom>
          <a:noFill/>
          <a:ln/>
        </p:spPr>
        <p:txBody>
          <a:bodyPr wrap="square" lIns="0" tIns="0" rIns="0" bIns="0" rtlCol="0" anchor="ctr"/>
          <a:lstStyle/>
          <a:p>
            <a:pPr marL="0" indent="0" algn="ctr">
              <a:lnSpc>
                <a:spcPct val="100000"/>
              </a:lnSpc>
              <a:spcAft>
                <a:spcPts val="200"/>
              </a:spcAft>
              <a:buNone/>
            </a:pPr>
            <a:r>
              <a:rPr lang="en-US" sz="1500" b="1" dirty="0">
                <a:solidFill>
                  <a:srgbClr val="0F3D6E"/>
                </a:solidFill>
                <a:latin typeface="Calibri" pitchFamily="34" charset="0"/>
                <a:ea typeface="Calibri" pitchFamily="34" charset="-122"/>
                <a:cs typeface="Calibri" pitchFamily="34" charset="-120"/>
              </a:rPr>
              <a:t>Bronze</a:t>
            </a:r>
            <a:endParaRPr lang="en-US" sz="1500" dirty="0"/>
          </a:p>
          <a:p>
            <a:pPr marL="0" indent="0" algn="ctr">
              <a:lnSpc>
                <a:spcPct val="100000"/>
              </a:lnSpc>
              <a:buNone/>
            </a:pPr>
            <a:r>
              <a:rPr lang="en-US" sz="1200" dirty="0">
                <a:solidFill>
                  <a:srgbClr val="121212"/>
                </a:solidFill>
                <a:latin typeface="Calibri" pitchFamily="34" charset="0"/>
                <a:ea typeface="Calibri" pitchFamily="34" charset="-122"/>
                <a:cs typeface="Calibri" pitchFamily="34" charset="-120"/>
              </a:rPr>
              <a:t>raw messages, append-only</a:t>
            </a:r>
            <a:endParaRPr lang="en-US" sz="1500" dirty="0"/>
          </a:p>
        </p:txBody>
      </p:sp>
      <p:sp>
        <p:nvSpPr>
          <p:cNvPr id="18" name="s4-16"/>
          <p:cNvSpPr/>
          <p:nvPr/>
        </p:nvSpPr>
        <p:spPr>
          <a:xfrm>
            <a:off x="5394960" y="3246120"/>
            <a:ext cx="2468880" cy="914400"/>
          </a:xfrm>
          <a:prstGeom prst="roundRect">
            <a:avLst>
              <a:gd name="adj" fmla="val 10000"/>
            </a:avLst>
          </a:prstGeom>
          <a:solidFill>
            <a:srgbClr val="E3E8EE"/>
          </a:solidFill>
          <a:ln w="12700">
            <a:solidFill>
              <a:srgbClr val="9AA7B8"/>
            </a:solidFill>
            <a:prstDash val="solid"/>
          </a:ln>
        </p:spPr>
        <p:txBody>
          <a:bodyPr/>
          <a:lstStyle/>
          <a:p>
            <a:endParaRPr lang="en-US"/>
          </a:p>
        </p:txBody>
      </p:sp>
      <p:sp>
        <p:nvSpPr>
          <p:cNvPr id="19" name="s4-17"/>
          <p:cNvSpPr txBox="1"/>
          <p:nvPr/>
        </p:nvSpPr>
        <p:spPr>
          <a:xfrm>
            <a:off x="5486400" y="3319272"/>
            <a:ext cx="2286000" cy="768096"/>
          </a:xfrm>
          <a:prstGeom prst="rect">
            <a:avLst/>
          </a:prstGeom>
          <a:noFill/>
          <a:ln/>
        </p:spPr>
        <p:txBody>
          <a:bodyPr wrap="square" lIns="0" tIns="0" rIns="0" bIns="0" rtlCol="0" anchor="ctr"/>
          <a:lstStyle/>
          <a:p>
            <a:pPr marL="0" indent="0" algn="ctr">
              <a:lnSpc>
                <a:spcPct val="100000"/>
              </a:lnSpc>
              <a:spcAft>
                <a:spcPts val="200"/>
              </a:spcAft>
              <a:buNone/>
            </a:pPr>
            <a:r>
              <a:rPr lang="en-US" sz="1500" b="1" dirty="0">
                <a:solidFill>
                  <a:srgbClr val="0F3D6E"/>
                </a:solidFill>
                <a:latin typeface="Calibri" pitchFamily="34" charset="0"/>
                <a:ea typeface="Calibri" pitchFamily="34" charset="-122"/>
                <a:cs typeface="Calibri" pitchFamily="34" charset="-120"/>
              </a:rPr>
              <a:t>Silver</a:t>
            </a:r>
            <a:endParaRPr lang="en-US" sz="1500" dirty="0"/>
          </a:p>
          <a:p>
            <a:pPr marL="0" indent="0" algn="ctr">
              <a:lnSpc>
                <a:spcPct val="100000"/>
              </a:lnSpc>
              <a:buNone/>
            </a:pPr>
            <a:r>
              <a:rPr lang="en-US" sz="1200" dirty="0">
                <a:solidFill>
                  <a:srgbClr val="121212"/>
                </a:solidFill>
                <a:latin typeface="Calibri" pitchFamily="34" charset="0"/>
                <a:ea typeface="Calibri" pitchFamily="34" charset="-122"/>
                <a:cs typeface="Calibri" pitchFamily="34" charset="-120"/>
              </a:rPr>
              <a:t>validated, deduplicated, Delta MERGE</a:t>
            </a:r>
            <a:endParaRPr lang="en-US" sz="1500" dirty="0"/>
          </a:p>
        </p:txBody>
      </p:sp>
      <p:sp>
        <p:nvSpPr>
          <p:cNvPr id="20" name="s4-18"/>
          <p:cNvSpPr/>
          <p:nvPr/>
        </p:nvSpPr>
        <p:spPr>
          <a:xfrm>
            <a:off x="5394960" y="4526280"/>
            <a:ext cx="2468880" cy="777240"/>
          </a:xfrm>
          <a:prstGeom prst="roundRect">
            <a:avLst>
              <a:gd name="adj" fmla="val 11765"/>
            </a:avLst>
          </a:prstGeom>
          <a:solidFill>
            <a:srgbClr val="F9E0E0"/>
          </a:solidFill>
          <a:ln w="12700">
            <a:solidFill>
              <a:srgbClr val="E0A3A3"/>
            </a:solidFill>
            <a:prstDash val="solid"/>
          </a:ln>
        </p:spPr>
        <p:txBody>
          <a:bodyPr/>
          <a:lstStyle/>
          <a:p>
            <a:endParaRPr lang="en-US"/>
          </a:p>
        </p:txBody>
      </p:sp>
      <p:sp>
        <p:nvSpPr>
          <p:cNvPr id="21" name="s4-19"/>
          <p:cNvSpPr txBox="1"/>
          <p:nvPr/>
        </p:nvSpPr>
        <p:spPr>
          <a:xfrm>
            <a:off x="5486400" y="4599432"/>
            <a:ext cx="2286000" cy="630936"/>
          </a:xfrm>
          <a:prstGeom prst="rect">
            <a:avLst/>
          </a:prstGeom>
          <a:noFill/>
          <a:ln/>
        </p:spPr>
        <p:txBody>
          <a:bodyPr wrap="square" lIns="0" tIns="0" rIns="0" bIns="0" rtlCol="0" anchor="ctr"/>
          <a:lstStyle/>
          <a:p>
            <a:pPr marL="0" indent="0" algn="ctr">
              <a:lnSpc>
                <a:spcPct val="100000"/>
              </a:lnSpc>
              <a:spcAft>
                <a:spcPts val="200"/>
              </a:spcAft>
              <a:buNone/>
            </a:pPr>
            <a:r>
              <a:rPr lang="en-US" sz="1500" b="1" dirty="0">
                <a:solidFill>
                  <a:srgbClr val="0F3D6E"/>
                </a:solidFill>
                <a:latin typeface="Calibri" pitchFamily="34" charset="0"/>
                <a:ea typeface="Calibri" pitchFamily="34" charset="-122"/>
                <a:cs typeface="Calibri" pitchFamily="34" charset="-120"/>
              </a:rPr>
              <a:t>Quarantine</a:t>
            </a:r>
            <a:endParaRPr lang="en-US" sz="1500" dirty="0"/>
          </a:p>
          <a:p>
            <a:pPr marL="0" indent="0" algn="ctr">
              <a:lnSpc>
                <a:spcPct val="100000"/>
              </a:lnSpc>
              <a:buNone/>
            </a:pPr>
            <a:r>
              <a:rPr lang="en-US" sz="1200" dirty="0">
                <a:solidFill>
                  <a:srgbClr val="121212"/>
                </a:solidFill>
                <a:latin typeface="Calibri" pitchFamily="34" charset="0"/>
                <a:ea typeface="Calibri" pitchFamily="34" charset="-122"/>
                <a:cs typeface="Calibri" pitchFamily="34" charset="-120"/>
              </a:rPr>
              <a:t>rejected rows, with a reason</a:t>
            </a:r>
            <a:endParaRPr lang="en-US" sz="1500" dirty="0"/>
          </a:p>
        </p:txBody>
      </p:sp>
      <p:sp>
        <p:nvSpPr>
          <p:cNvPr id="22" name="s4-20"/>
          <p:cNvSpPr txBox="1"/>
          <p:nvPr/>
        </p:nvSpPr>
        <p:spPr>
          <a:xfrm>
            <a:off x="8503920" y="1325880"/>
            <a:ext cx="3291840" cy="274320"/>
          </a:xfrm>
          <a:prstGeom prst="rect">
            <a:avLst/>
          </a:prstGeom>
          <a:noFill/>
          <a:ln/>
        </p:spPr>
        <p:txBody>
          <a:bodyPr wrap="square" lIns="0" tIns="0" rIns="0" bIns="0" rtlCol="0" anchor="t"/>
          <a:lstStyle/>
          <a:p>
            <a:pPr marL="0" indent="0" algn="l">
              <a:lnSpc>
                <a:spcPct val="100000"/>
              </a:lnSpc>
              <a:buNone/>
            </a:pPr>
            <a:r>
              <a:rPr lang="en-US" sz="1100" b="1" dirty="0">
                <a:solidFill>
                  <a:srgbClr val="2F7A4B"/>
                </a:solidFill>
                <a:latin typeface="Calibri" pitchFamily="34" charset="0"/>
                <a:ea typeface="Calibri" pitchFamily="34" charset="-122"/>
                <a:cs typeface="Calibri" pitchFamily="34" charset="-120"/>
              </a:rPr>
              <a:t>LIVE LANE  |  within a minute</a:t>
            </a:r>
            <a:endParaRPr lang="en-US" sz="1100" dirty="0"/>
          </a:p>
        </p:txBody>
      </p:sp>
      <p:sp>
        <p:nvSpPr>
          <p:cNvPr id="23" name="s4-21"/>
          <p:cNvSpPr/>
          <p:nvPr/>
        </p:nvSpPr>
        <p:spPr>
          <a:xfrm>
            <a:off x="8503920" y="1691640"/>
            <a:ext cx="1600200" cy="1325880"/>
          </a:xfrm>
          <a:prstGeom prst="roundRect">
            <a:avLst>
              <a:gd name="adj" fmla="val 6897"/>
            </a:avLst>
          </a:prstGeom>
          <a:solidFill>
            <a:srgbClr val="E3F1E8"/>
          </a:solidFill>
          <a:ln w="12700">
            <a:solidFill>
              <a:srgbClr val="9CCBAB"/>
            </a:solidFill>
            <a:prstDash val="solid"/>
          </a:ln>
        </p:spPr>
        <p:txBody>
          <a:bodyPr/>
          <a:lstStyle/>
          <a:p>
            <a:endParaRPr lang="en-US"/>
          </a:p>
        </p:txBody>
      </p:sp>
      <p:sp>
        <p:nvSpPr>
          <p:cNvPr id="24" name="s4-22"/>
          <p:cNvSpPr txBox="1"/>
          <p:nvPr/>
        </p:nvSpPr>
        <p:spPr>
          <a:xfrm>
            <a:off x="8595360" y="1764792"/>
            <a:ext cx="1417320" cy="1179576"/>
          </a:xfrm>
          <a:prstGeom prst="rect">
            <a:avLst/>
          </a:prstGeom>
          <a:noFill/>
          <a:ln/>
        </p:spPr>
        <p:txBody>
          <a:bodyPr wrap="square" lIns="0" tIns="0" rIns="0" bIns="0" rtlCol="0" anchor="ctr"/>
          <a:lstStyle/>
          <a:p>
            <a:pPr marL="0" indent="0" algn="ctr">
              <a:lnSpc>
                <a:spcPct val="100000"/>
              </a:lnSpc>
              <a:spcAft>
                <a:spcPts val="200"/>
              </a:spcAft>
              <a:buNone/>
            </a:pPr>
            <a:r>
              <a:rPr lang="en-US" sz="1500" b="1" dirty="0">
                <a:solidFill>
                  <a:srgbClr val="0F3D6E"/>
                </a:solidFill>
                <a:latin typeface="Calibri" pitchFamily="34" charset="0"/>
                <a:ea typeface="Calibri" pitchFamily="34" charset="-122"/>
                <a:cs typeface="Calibri" pitchFamily="34" charset="-120"/>
              </a:rPr>
              <a:t>Live sink + Postgres</a:t>
            </a:r>
            <a:endParaRPr lang="en-US" sz="1500" dirty="0"/>
          </a:p>
          <a:p>
            <a:pPr marL="0" indent="0" algn="ctr">
              <a:lnSpc>
                <a:spcPct val="100000"/>
              </a:lnSpc>
              <a:buNone/>
            </a:pPr>
            <a:r>
              <a:rPr lang="en-US" sz="1200" dirty="0">
                <a:solidFill>
                  <a:srgbClr val="121212"/>
                </a:solidFill>
                <a:latin typeface="Calibri" pitchFamily="34" charset="0"/>
                <a:ea typeface="Calibri" pitchFamily="34" charset="-122"/>
                <a:cs typeface="Calibri" pitchFamily="34" charset="-120"/>
              </a:rPr>
              <a:t>16 live and serving tables</a:t>
            </a:r>
            <a:endParaRPr lang="en-US" sz="1500" dirty="0"/>
          </a:p>
        </p:txBody>
      </p:sp>
      <p:sp>
        <p:nvSpPr>
          <p:cNvPr id="25" name="s4-23"/>
          <p:cNvSpPr/>
          <p:nvPr/>
        </p:nvSpPr>
        <p:spPr>
          <a:xfrm>
            <a:off x="10424160" y="1691640"/>
            <a:ext cx="1371600" cy="1325880"/>
          </a:xfrm>
          <a:prstGeom prst="roundRect">
            <a:avLst>
              <a:gd name="adj" fmla="val 6897"/>
            </a:avLst>
          </a:prstGeom>
          <a:solidFill>
            <a:srgbClr val="59A472"/>
          </a:solidFill>
          <a:ln w="12700">
            <a:solidFill>
              <a:srgbClr val="59A472"/>
            </a:solidFill>
            <a:prstDash val="solid"/>
          </a:ln>
        </p:spPr>
        <p:txBody>
          <a:bodyPr/>
          <a:lstStyle/>
          <a:p>
            <a:endParaRPr lang="en-US"/>
          </a:p>
        </p:txBody>
      </p:sp>
      <p:sp>
        <p:nvSpPr>
          <p:cNvPr id="26" name="s4-24"/>
          <p:cNvSpPr txBox="1"/>
          <p:nvPr/>
        </p:nvSpPr>
        <p:spPr>
          <a:xfrm>
            <a:off x="10515600" y="1764792"/>
            <a:ext cx="1188720" cy="1179576"/>
          </a:xfrm>
          <a:prstGeom prst="rect">
            <a:avLst/>
          </a:prstGeom>
          <a:noFill/>
          <a:ln/>
        </p:spPr>
        <p:txBody>
          <a:bodyPr wrap="square" lIns="0" tIns="0" rIns="0" bIns="0" rtlCol="0" anchor="ctr"/>
          <a:lstStyle/>
          <a:p>
            <a:pPr marL="0" indent="0" algn="ctr">
              <a:lnSpc>
                <a:spcPct val="100000"/>
              </a:lnSpc>
              <a:spcAft>
                <a:spcPts val="200"/>
              </a:spcAft>
              <a:buNone/>
            </a:pPr>
            <a:r>
              <a:rPr lang="en-US" sz="1500" b="1" dirty="0">
                <a:solidFill>
                  <a:srgbClr val="FFFFFF"/>
                </a:solidFill>
                <a:latin typeface="Calibri" pitchFamily="34" charset="0"/>
                <a:ea typeface="Calibri" pitchFamily="34" charset="-122"/>
                <a:cs typeface="Calibri" pitchFamily="34" charset="-120"/>
              </a:rPr>
              <a:t>Grafana</a:t>
            </a:r>
            <a:endParaRPr lang="en-US" sz="1500" dirty="0"/>
          </a:p>
          <a:p>
            <a:pPr marL="0" indent="0" algn="ctr">
              <a:lnSpc>
                <a:spcPct val="100000"/>
              </a:lnSpc>
              <a:buNone/>
            </a:pPr>
            <a:r>
              <a:rPr lang="en-US" sz="1200" dirty="0">
                <a:solidFill>
                  <a:srgbClr val="FFFFFF"/>
                </a:solidFill>
                <a:latin typeface="Calibri" pitchFamily="34" charset="0"/>
                <a:ea typeface="Calibri" pitchFamily="34" charset="-122"/>
                <a:cs typeface="Calibri" pitchFamily="34" charset="-120"/>
              </a:rPr>
              <a:t>6 dashboards, 8 alerts</a:t>
            </a:r>
            <a:endParaRPr lang="en-US" sz="1500" dirty="0"/>
          </a:p>
        </p:txBody>
      </p:sp>
      <p:sp>
        <p:nvSpPr>
          <p:cNvPr id="27" name="s4-25"/>
          <p:cNvSpPr txBox="1"/>
          <p:nvPr/>
        </p:nvSpPr>
        <p:spPr>
          <a:xfrm>
            <a:off x="8503920" y="3474720"/>
            <a:ext cx="3291840" cy="274320"/>
          </a:xfrm>
          <a:prstGeom prst="rect">
            <a:avLst/>
          </a:prstGeom>
          <a:noFill/>
          <a:ln/>
        </p:spPr>
        <p:txBody>
          <a:bodyPr wrap="square" lIns="0" tIns="0" rIns="0" bIns="0" rtlCol="0" anchor="t"/>
          <a:lstStyle/>
          <a:p>
            <a:pPr marL="0" indent="0" algn="l">
              <a:lnSpc>
                <a:spcPct val="100000"/>
              </a:lnSpc>
              <a:buNone/>
            </a:pPr>
            <a:r>
              <a:rPr lang="en-US" sz="1100" b="1" dirty="0">
                <a:solidFill>
                  <a:srgbClr val="0F3D6E"/>
                </a:solidFill>
                <a:latin typeface="Calibri" pitchFamily="34" charset="0"/>
                <a:ea typeface="Calibri" pitchFamily="34" charset="-122"/>
                <a:cs typeface="Calibri" pitchFamily="34" charset="-120"/>
              </a:rPr>
              <a:t>BATCH LANE  |  next morning</a:t>
            </a:r>
            <a:endParaRPr lang="en-US" sz="1100" dirty="0"/>
          </a:p>
        </p:txBody>
      </p:sp>
      <p:sp>
        <p:nvSpPr>
          <p:cNvPr id="28" name="s4-26"/>
          <p:cNvSpPr/>
          <p:nvPr/>
        </p:nvSpPr>
        <p:spPr>
          <a:xfrm>
            <a:off x="8503920" y="3840480"/>
            <a:ext cx="1600200" cy="1325880"/>
          </a:xfrm>
          <a:prstGeom prst="roundRect">
            <a:avLst>
              <a:gd name="adj" fmla="val 6897"/>
            </a:avLst>
          </a:prstGeom>
          <a:solidFill>
            <a:srgbClr val="E1ECFB"/>
          </a:solidFill>
          <a:ln w="12700">
            <a:solidFill>
              <a:srgbClr val="9DB9E6"/>
            </a:solidFill>
            <a:prstDash val="solid"/>
          </a:ln>
        </p:spPr>
        <p:txBody>
          <a:bodyPr/>
          <a:lstStyle/>
          <a:p>
            <a:endParaRPr lang="en-US"/>
          </a:p>
        </p:txBody>
      </p:sp>
      <p:sp>
        <p:nvSpPr>
          <p:cNvPr id="29" name="s4-27"/>
          <p:cNvSpPr txBox="1"/>
          <p:nvPr/>
        </p:nvSpPr>
        <p:spPr>
          <a:xfrm>
            <a:off x="8595360" y="3913632"/>
            <a:ext cx="1417320" cy="1179576"/>
          </a:xfrm>
          <a:prstGeom prst="rect">
            <a:avLst/>
          </a:prstGeom>
          <a:noFill/>
          <a:ln/>
        </p:spPr>
        <p:txBody>
          <a:bodyPr wrap="square" lIns="0" tIns="0" rIns="0" bIns="0" rtlCol="0" anchor="ctr"/>
          <a:lstStyle/>
          <a:p>
            <a:pPr marL="0" indent="0" algn="ctr">
              <a:lnSpc>
                <a:spcPct val="100000"/>
              </a:lnSpc>
              <a:spcAft>
                <a:spcPts val="200"/>
              </a:spcAft>
              <a:buNone/>
            </a:pPr>
            <a:r>
              <a:rPr lang="en-US" sz="1500" b="1" dirty="0">
                <a:solidFill>
                  <a:srgbClr val="0F3D6E"/>
                </a:solidFill>
                <a:latin typeface="Calibri" pitchFamily="34" charset="0"/>
                <a:ea typeface="Calibri" pitchFamily="34" charset="-122"/>
                <a:cs typeface="Calibri" pitchFamily="34" charset="-120"/>
              </a:rPr>
              <a:t>Databricks</a:t>
            </a:r>
            <a:endParaRPr lang="en-US" sz="1500" dirty="0"/>
          </a:p>
          <a:p>
            <a:pPr marL="0" indent="0" algn="ctr">
              <a:lnSpc>
                <a:spcPct val="100000"/>
              </a:lnSpc>
              <a:buNone/>
            </a:pPr>
            <a:r>
              <a:rPr lang="en-US" sz="1200" dirty="0">
                <a:solidFill>
                  <a:srgbClr val="121212"/>
                </a:solidFill>
                <a:latin typeface="Calibri" pitchFamily="34" charset="0"/>
                <a:ea typeface="Calibri" pitchFamily="34" charset="-122"/>
                <a:cs typeface="Calibri" pitchFamily="34" charset="-120"/>
              </a:rPr>
              <a:t>Gold galaxy schema, 66 checks</a:t>
            </a:r>
            <a:endParaRPr lang="en-US" sz="1500" dirty="0"/>
          </a:p>
        </p:txBody>
      </p:sp>
      <p:sp>
        <p:nvSpPr>
          <p:cNvPr id="30" name="s4-28"/>
          <p:cNvSpPr/>
          <p:nvPr/>
        </p:nvSpPr>
        <p:spPr>
          <a:xfrm>
            <a:off x="10424160" y="3840480"/>
            <a:ext cx="1371600" cy="1325880"/>
          </a:xfrm>
          <a:prstGeom prst="roundRect">
            <a:avLst>
              <a:gd name="adj" fmla="val 6897"/>
            </a:avLst>
          </a:prstGeom>
          <a:solidFill>
            <a:srgbClr val="0F3D6E"/>
          </a:solidFill>
          <a:ln w="12700">
            <a:solidFill>
              <a:srgbClr val="0F3D6E"/>
            </a:solidFill>
            <a:prstDash val="solid"/>
          </a:ln>
        </p:spPr>
        <p:txBody>
          <a:bodyPr/>
          <a:lstStyle/>
          <a:p>
            <a:endParaRPr lang="en-US"/>
          </a:p>
        </p:txBody>
      </p:sp>
      <p:sp>
        <p:nvSpPr>
          <p:cNvPr id="31" name="s4-29"/>
          <p:cNvSpPr txBox="1"/>
          <p:nvPr/>
        </p:nvSpPr>
        <p:spPr>
          <a:xfrm>
            <a:off x="10515600" y="3913632"/>
            <a:ext cx="1188720" cy="1179576"/>
          </a:xfrm>
          <a:prstGeom prst="rect">
            <a:avLst/>
          </a:prstGeom>
          <a:noFill/>
          <a:ln/>
        </p:spPr>
        <p:txBody>
          <a:bodyPr wrap="square" lIns="0" tIns="0" rIns="0" bIns="0" rtlCol="0" anchor="ctr"/>
          <a:lstStyle/>
          <a:p>
            <a:pPr marL="0" indent="0" algn="ctr">
              <a:lnSpc>
                <a:spcPct val="100000"/>
              </a:lnSpc>
              <a:spcAft>
                <a:spcPts val="200"/>
              </a:spcAft>
              <a:buNone/>
            </a:pPr>
            <a:r>
              <a:rPr lang="en-US" sz="1500" b="1" dirty="0">
                <a:solidFill>
                  <a:srgbClr val="FFFFFF"/>
                </a:solidFill>
                <a:latin typeface="Calibri" pitchFamily="34" charset="0"/>
                <a:ea typeface="Calibri" pitchFamily="34" charset="-122"/>
                <a:cs typeface="Calibri" pitchFamily="34" charset="-120"/>
              </a:rPr>
              <a:t>Power BI</a:t>
            </a:r>
            <a:endParaRPr lang="en-US" sz="1500" dirty="0"/>
          </a:p>
          <a:p>
            <a:pPr marL="0" indent="0" algn="ctr">
              <a:lnSpc>
                <a:spcPct val="100000"/>
              </a:lnSpc>
              <a:buNone/>
            </a:pPr>
            <a:r>
              <a:rPr lang="en-US" sz="1200" dirty="0">
                <a:solidFill>
                  <a:srgbClr val="FFFFFF"/>
                </a:solidFill>
                <a:latin typeface="Calibri" pitchFamily="34" charset="0"/>
                <a:ea typeface="Calibri" pitchFamily="34" charset="-122"/>
                <a:cs typeface="Calibri" pitchFamily="34" charset="-120"/>
              </a:rPr>
              <a:t>7 pages, 103 measures</a:t>
            </a:r>
            <a:endParaRPr lang="en-US" sz="1500" dirty="0"/>
          </a:p>
        </p:txBody>
      </p:sp>
      <p:sp>
        <p:nvSpPr>
          <p:cNvPr id="32" name="s4-30"/>
          <p:cNvSpPr/>
          <p:nvPr/>
        </p:nvSpPr>
        <p:spPr>
          <a:xfrm>
            <a:off x="8503920" y="5349240"/>
            <a:ext cx="3291840" cy="594360"/>
          </a:xfrm>
          <a:prstGeom prst="roundRect">
            <a:avLst>
              <a:gd name="adj" fmla="val 15385"/>
            </a:avLst>
          </a:prstGeom>
          <a:solidFill>
            <a:srgbClr val="E3F1E8"/>
          </a:solidFill>
          <a:ln w="12700">
            <a:solidFill>
              <a:srgbClr val="9CCBAB"/>
            </a:solidFill>
            <a:prstDash val="solid"/>
          </a:ln>
        </p:spPr>
        <p:txBody>
          <a:bodyPr/>
          <a:lstStyle/>
          <a:p>
            <a:endParaRPr lang="en-US"/>
          </a:p>
        </p:txBody>
      </p:sp>
      <p:sp>
        <p:nvSpPr>
          <p:cNvPr id="33" name="s4-31"/>
          <p:cNvSpPr txBox="1"/>
          <p:nvPr/>
        </p:nvSpPr>
        <p:spPr>
          <a:xfrm>
            <a:off x="8595360" y="5422392"/>
            <a:ext cx="3108960" cy="448056"/>
          </a:xfrm>
          <a:prstGeom prst="rect">
            <a:avLst/>
          </a:prstGeom>
          <a:noFill/>
          <a:ln/>
        </p:spPr>
        <p:txBody>
          <a:bodyPr wrap="square" lIns="0" tIns="0" rIns="0" bIns="0" rtlCol="0" anchor="ctr"/>
          <a:lstStyle/>
          <a:p>
            <a:pPr marL="0" indent="0" algn="ctr">
              <a:lnSpc>
                <a:spcPct val="100000"/>
              </a:lnSpc>
              <a:spcAft>
                <a:spcPts val="200"/>
              </a:spcAft>
              <a:buNone/>
            </a:pPr>
            <a:r>
              <a:rPr lang="en-US" sz="1500" b="1" dirty="0">
                <a:solidFill>
                  <a:srgbClr val="0F3D6E"/>
                </a:solidFill>
                <a:latin typeface="Calibri" pitchFamily="34" charset="0"/>
                <a:ea typeface="Calibri" pitchFamily="34" charset="-122"/>
                <a:cs typeface="Calibri" pitchFamily="34" charset="-120"/>
              </a:rPr>
              <a:t>Daily marts in Postgres</a:t>
            </a:r>
            <a:endParaRPr lang="en-US" sz="1500" dirty="0"/>
          </a:p>
          <a:p>
            <a:pPr marL="0" indent="0" algn="ctr">
              <a:lnSpc>
                <a:spcPct val="100000"/>
              </a:lnSpc>
              <a:buNone/>
            </a:pPr>
            <a:r>
              <a:rPr lang="en-US" sz="1200" dirty="0">
                <a:solidFill>
                  <a:srgbClr val="121212"/>
                </a:solidFill>
                <a:latin typeface="Calibri" pitchFamily="34" charset="0"/>
                <a:ea typeface="Calibri" pitchFamily="34" charset="-122"/>
                <a:cs typeface="Calibri" pitchFamily="34" charset="-120"/>
              </a:rPr>
              <a:t>inventory, express, D-1 marketing</a:t>
            </a:r>
            <a:endParaRPr lang="en-US" sz="1500" dirty="0"/>
          </a:p>
        </p:txBody>
      </p:sp>
      <p:sp>
        <p:nvSpPr>
          <p:cNvPr id="34" name="s4-32"/>
          <p:cNvSpPr/>
          <p:nvPr/>
        </p:nvSpPr>
        <p:spPr>
          <a:xfrm>
            <a:off x="2468880" y="2395728"/>
            <a:ext cx="457200" cy="0"/>
          </a:xfrm>
          <a:prstGeom prst="line">
            <a:avLst/>
          </a:prstGeom>
          <a:noFill/>
          <a:ln w="25400">
            <a:solidFill>
              <a:srgbClr val="0F3D6E"/>
            </a:solidFill>
            <a:prstDash val="solid"/>
            <a:tailEnd type="triangle"/>
          </a:ln>
        </p:spPr>
        <p:txBody>
          <a:bodyPr/>
          <a:lstStyle/>
          <a:p>
            <a:endParaRPr lang="en-US"/>
          </a:p>
        </p:txBody>
      </p:sp>
      <p:sp>
        <p:nvSpPr>
          <p:cNvPr id="35" name="s4-33"/>
          <p:cNvSpPr/>
          <p:nvPr/>
        </p:nvSpPr>
        <p:spPr>
          <a:xfrm>
            <a:off x="4754880" y="2423160"/>
            <a:ext cx="640080" cy="0"/>
          </a:xfrm>
          <a:prstGeom prst="line">
            <a:avLst/>
          </a:prstGeom>
          <a:noFill/>
          <a:ln w="25400">
            <a:solidFill>
              <a:srgbClr val="0F3D6E"/>
            </a:solidFill>
            <a:prstDash val="solid"/>
            <a:tailEnd type="triangle"/>
          </a:ln>
        </p:spPr>
        <p:txBody>
          <a:bodyPr/>
          <a:lstStyle/>
          <a:p>
            <a:endParaRPr lang="en-US"/>
          </a:p>
        </p:txBody>
      </p:sp>
      <p:sp>
        <p:nvSpPr>
          <p:cNvPr id="36" name="s4-34"/>
          <p:cNvSpPr/>
          <p:nvPr/>
        </p:nvSpPr>
        <p:spPr>
          <a:xfrm>
            <a:off x="6629400" y="2834640"/>
            <a:ext cx="0" cy="411480"/>
          </a:xfrm>
          <a:prstGeom prst="line">
            <a:avLst/>
          </a:prstGeom>
          <a:noFill/>
          <a:ln w="25400">
            <a:solidFill>
              <a:srgbClr val="0F3D6E"/>
            </a:solidFill>
            <a:prstDash val="solid"/>
            <a:tailEnd type="triangle"/>
          </a:ln>
        </p:spPr>
        <p:txBody>
          <a:bodyPr/>
          <a:lstStyle/>
          <a:p>
            <a:endParaRPr lang="en-US"/>
          </a:p>
        </p:txBody>
      </p:sp>
      <p:sp>
        <p:nvSpPr>
          <p:cNvPr id="37" name="s4-35"/>
          <p:cNvSpPr/>
          <p:nvPr/>
        </p:nvSpPr>
        <p:spPr>
          <a:xfrm>
            <a:off x="6629400" y="4160520"/>
            <a:ext cx="0" cy="365760"/>
          </a:xfrm>
          <a:prstGeom prst="line">
            <a:avLst/>
          </a:prstGeom>
          <a:noFill/>
          <a:ln w="25400">
            <a:solidFill>
              <a:srgbClr val="BB4A4A"/>
            </a:solidFill>
            <a:prstDash val="solid"/>
            <a:tailEnd type="triangle"/>
          </a:ln>
        </p:spPr>
        <p:txBody>
          <a:bodyPr/>
          <a:lstStyle/>
          <a:p>
            <a:endParaRPr lang="en-US"/>
          </a:p>
        </p:txBody>
      </p:sp>
      <p:sp>
        <p:nvSpPr>
          <p:cNvPr id="38" name="s4-36"/>
          <p:cNvSpPr/>
          <p:nvPr/>
        </p:nvSpPr>
        <p:spPr>
          <a:xfrm>
            <a:off x="2468880" y="4937760"/>
            <a:ext cx="457200" cy="0"/>
          </a:xfrm>
          <a:prstGeom prst="line">
            <a:avLst/>
          </a:prstGeom>
          <a:noFill/>
          <a:ln w="25400">
            <a:solidFill>
              <a:srgbClr val="0F3D6E"/>
            </a:solidFill>
            <a:prstDash val="solid"/>
            <a:tailEnd type="triangle"/>
          </a:ln>
        </p:spPr>
        <p:txBody>
          <a:bodyPr/>
          <a:lstStyle/>
          <a:p>
            <a:endParaRPr lang="en-US"/>
          </a:p>
        </p:txBody>
      </p:sp>
      <p:sp>
        <p:nvSpPr>
          <p:cNvPr id="39" name="s4-37"/>
          <p:cNvSpPr/>
          <p:nvPr/>
        </p:nvSpPr>
        <p:spPr>
          <a:xfrm flipV="1">
            <a:off x="4754880" y="3840480"/>
            <a:ext cx="640080" cy="868680"/>
          </a:xfrm>
          <a:prstGeom prst="line">
            <a:avLst/>
          </a:prstGeom>
          <a:noFill/>
          <a:ln w="25400">
            <a:solidFill>
              <a:srgbClr val="0F3D6E"/>
            </a:solidFill>
            <a:prstDash val="solid"/>
            <a:tailEnd type="triangle"/>
          </a:ln>
        </p:spPr>
        <p:txBody>
          <a:bodyPr/>
          <a:lstStyle/>
          <a:p>
            <a:endParaRPr lang="en-US"/>
          </a:p>
        </p:txBody>
      </p:sp>
      <p:sp>
        <p:nvSpPr>
          <p:cNvPr id="40" name="s4-38"/>
          <p:cNvSpPr/>
          <p:nvPr/>
        </p:nvSpPr>
        <p:spPr>
          <a:xfrm flipV="1">
            <a:off x="7863840" y="2651760"/>
            <a:ext cx="640080" cy="777240"/>
          </a:xfrm>
          <a:prstGeom prst="line">
            <a:avLst/>
          </a:prstGeom>
          <a:noFill/>
          <a:ln w="25400">
            <a:solidFill>
              <a:srgbClr val="59A472"/>
            </a:solidFill>
            <a:prstDash val="solid"/>
            <a:tailEnd type="triangle"/>
          </a:ln>
        </p:spPr>
        <p:txBody>
          <a:bodyPr/>
          <a:lstStyle/>
          <a:p>
            <a:endParaRPr lang="en-US"/>
          </a:p>
        </p:txBody>
      </p:sp>
      <p:sp>
        <p:nvSpPr>
          <p:cNvPr id="41" name="s4-39"/>
          <p:cNvSpPr/>
          <p:nvPr/>
        </p:nvSpPr>
        <p:spPr>
          <a:xfrm>
            <a:off x="7863840" y="3977640"/>
            <a:ext cx="640080" cy="411480"/>
          </a:xfrm>
          <a:prstGeom prst="line">
            <a:avLst/>
          </a:prstGeom>
          <a:noFill/>
          <a:ln w="25400">
            <a:solidFill>
              <a:srgbClr val="1F84FF"/>
            </a:solidFill>
            <a:prstDash val="solid"/>
            <a:tailEnd type="triangle"/>
          </a:ln>
        </p:spPr>
        <p:txBody>
          <a:bodyPr/>
          <a:lstStyle/>
          <a:p>
            <a:endParaRPr lang="en-US"/>
          </a:p>
        </p:txBody>
      </p:sp>
      <p:sp>
        <p:nvSpPr>
          <p:cNvPr id="42" name="s4-40"/>
          <p:cNvSpPr/>
          <p:nvPr/>
        </p:nvSpPr>
        <p:spPr>
          <a:xfrm>
            <a:off x="10104120" y="2359152"/>
            <a:ext cx="320040" cy="0"/>
          </a:xfrm>
          <a:prstGeom prst="line">
            <a:avLst/>
          </a:prstGeom>
          <a:noFill/>
          <a:ln w="25400">
            <a:solidFill>
              <a:srgbClr val="59A472"/>
            </a:solidFill>
            <a:prstDash val="solid"/>
            <a:tailEnd type="triangle"/>
          </a:ln>
        </p:spPr>
        <p:txBody>
          <a:bodyPr/>
          <a:lstStyle/>
          <a:p>
            <a:endParaRPr lang="en-US"/>
          </a:p>
        </p:txBody>
      </p:sp>
      <p:sp>
        <p:nvSpPr>
          <p:cNvPr id="43" name="s4-41"/>
          <p:cNvSpPr/>
          <p:nvPr/>
        </p:nvSpPr>
        <p:spPr>
          <a:xfrm>
            <a:off x="10104120" y="4498848"/>
            <a:ext cx="320040" cy="0"/>
          </a:xfrm>
          <a:prstGeom prst="line">
            <a:avLst/>
          </a:prstGeom>
          <a:noFill/>
          <a:ln w="25400">
            <a:solidFill>
              <a:srgbClr val="1F84FF"/>
            </a:solidFill>
            <a:prstDash val="solid"/>
            <a:tailEnd type="triangle"/>
          </a:ln>
        </p:spPr>
        <p:txBody>
          <a:bodyPr/>
          <a:lstStyle/>
          <a:p>
            <a:endParaRPr lang="en-US"/>
          </a:p>
        </p:txBody>
      </p:sp>
      <p:sp>
        <p:nvSpPr>
          <p:cNvPr id="44" name="s4-42"/>
          <p:cNvSpPr/>
          <p:nvPr/>
        </p:nvSpPr>
        <p:spPr>
          <a:xfrm flipV="1">
            <a:off x="11109960" y="5166360"/>
            <a:ext cx="0" cy="182880"/>
          </a:xfrm>
          <a:prstGeom prst="line">
            <a:avLst/>
          </a:prstGeom>
          <a:noFill/>
          <a:ln w="25400">
            <a:solidFill>
              <a:srgbClr val="0F3D6E"/>
            </a:solidFill>
            <a:prstDash val="solid"/>
            <a:tailEnd type="triangle"/>
          </a:ln>
        </p:spPr>
        <p:txBody>
          <a:bodyPr/>
          <a:lstStyle/>
          <a:p>
            <a:endParaRPr lang="en-US"/>
          </a:p>
        </p:txBody>
      </p:sp>
      <p:sp>
        <p:nvSpPr>
          <p:cNvPr id="45" name="s4-43"/>
          <p:cNvSpPr txBox="1"/>
          <p:nvPr/>
        </p:nvSpPr>
        <p:spPr>
          <a:xfrm>
            <a:off x="457200" y="6053328"/>
            <a:ext cx="11338560" cy="320040"/>
          </a:xfrm>
          <a:prstGeom prst="rect">
            <a:avLst/>
          </a:prstGeom>
          <a:noFill/>
          <a:ln/>
        </p:spPr>
        <p:txBody>
          <a:bodyPr wrap="square" lIns="0" tIns="0" rIns="0" bIns="0" rtlCol="0" anchor="t"/>
          <a:lstStyle/>
          <a:p>
            <a:pPr marL="0" indent="0" algn="l">
              <a:lnSpc>
                <a:spcPct val="100000"/>
              </a:lnSpc>
              <a:buNone/>
            </a:pPr>
            <a:r>
              <a:rPr lang="en-US" sz="1200" i="1" dirty="0">
                <a:solidFill>
                  <a:srgbClr val="5B6578"/>
                </a:solidFill>
                <a:latin typeface="Calibri" pitchFamily="34" charset="0"/>
                <a:ea typeface="Calibri" pitchFamily="34" charset="-122"/>
                <a:cs typeface="Calibri" pitchFamily="34" charset="-120"/>
              </a:rPr>
              <a:t>Everything left of Databricks runs on one Windows laptop in Docker. Gold is written only by the Databricks build.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5-0"/>
          <p:cNvSpPr txBox="1"/>
          <p:nvPr/>
        </p:nvSpPr>
        <p:spPr>
          <a:xfrm>
            <a:off x="548640" y="274320"/>
            <a:ext cx="8229600" cy="274320"/>
          </a:xfrm>
          <a:prstGeom prst="rect">
            <a:avLst/>
          </a:prstGeom>
          <a:noFill/>
          <a:ln/>
        </p:spPr>
        <p:txBody>
          <a:bodyPr wrap="square" lIns="0" tIns="0" rIns="0" bIns="0" rtlCol="0" anchor="t"/>
          <a:lstStyle/>
          <a:p>
            <a:pPr marL="0" indent="0" algn="l">
              <a:lnSpc>
                <a:spcPct val="100000"/>
              </a:lnSpc>
              <a:buNone/>
            </a:pPr>
            <a:r>
              <a:rPr lang="en-US" sz="1200" b="1" dirty="0">
                <a:solidFill>
                  <a:srgbClr val="5B6578"/>
                </a:solidFill>
                <a:latin typeface="Calibri" pitchFamily="34" charset="0"/>
                <a:ea typeface="Calibri" pitchFamily="34" charset="-122"/>
                <a:cs typeface="Calibri" pitchFamily="34" charset="-120"/>
              </a:rPr>
              <a:t>2  ARCHITECTURE AND DATA ENGINEERING</a:t>
            </a:r>
            <a:endParaRPr lang="en-US" sz="1200" dirty="0"/>
          </a:p>
        </p:txBody>
      </p:sp>
      <p:sp>
        <p:nvSpPr>
          <p:cNvPr id="3" name="s5-1"/>
          <p:cNvSpPr txBox="1"/>
          <p:nvPr/>
        </p:nvSpPr>
        <p:spPr>
          <a:xfrm>
            <a:off x="548640" y="530352"/>
            <a:ext cx="11064240" cy="685800"/>
          </a:xfrm>
          <a:prstGeom prst="rect">
            <a:avLst/>
          </a:prstGeom>
          <a:noFill/>
          <a:ln/>
        </p:spPr>
        <p:txBody>
          <a:bodyPr wrap="square" lIns="0" tIns="0" rIns="0" bIns="0" rtlCol="0" anchor="ctr"/>
          <a:lstStyle/>
          <a:p>
            <a:pPr marL="0" indent="0" algn="l">
              <a:lnSpc>
                <a:spcPct val="100000"/>
              </a:lnSpc>
              <a:buNone/>
            </a:pPr>
            <a:r>
              <a:rPr lang="en-US" sz="3000" b="1" dirty="0">
                <a:solidFill>
                  <a:srgbClr val="0F3D6E"/>
                </a:solidFill>
                <a:latin typeface="Calibri" pitchFamily="34" charset="0"/>
                <a:ea typeface="Calibri" pitchFamily="34" charset="-122"/>
                <a:cs typeface="Calibri" pitchFamily="34" charset="-120"/>
              </a:rPr>
              <a:t>Data sources and ingestion: a seeded, noisy store simulator</a:t>
            </a:r>
            <a:endParaRPr lang="en-US" sz="3000" dirty="0"/>
          </a:p>
        </p:txBody>
      </p:sp>
      <p:sp>
        <p:nvSpPr>
          <p:cNvPr id="4" name="s5-2"/>
          <p:cNvSpPr txBox="1"/>
          <p:nvPr/>
        </p:nvSpPr>
        <p:spPr>
          <a:xfrm>
            <a:off x="548640" y="6437376"/>
            <a:ext cx="5486400" cy="274320"/>
          </a:xfrm>
          <a:prstGeom prst="rect">
            <a:avLst/>
          </a:prstGeom>
          <a:noFill/>
          <a:ln/>
        </p:spPr>
        <p:txBody>
          <a:bodyPr wrap="square" lIns="0" tIns="0" rIns="0" bIns="0" rtlCol="0" anchor="t"/>
          <a:lstStyle/>
          <a:p>
            <a:pPr marL="0" indent="0" algn="l">
              <a:lnSpc>
                <a:spcPct val="100000"/>
              </a:lnSpc>
              <a:buNone/>
            </a:pPr>
            <a:r>
              <a:rPr lang="en-US" sz="1000" dirty="0">
                <a:solidFill>
                  <a:srgbClr val="5B6578"/>
                </a:solidFill>
                <a:latin typeface="Calibri" pitchFamily="34" charset="0"/>
                <a:ea typeface="Calibri" pitchFamily="34" charset="-122"/>
                <a:cs typeface="Calibri" pitchFamily="34" charset="-120"/>
              </a:rPr>
              <a:t>FunnelStream</a:t>
            </a:r>
            <a:endParaRPr lang="en-US" sz="1000" dirty="0"/>
          </a:p>
        </p:txBody>
      </p:sp>
      <p:sp>
        <p:nvSpPr>
          <p:cNvPr id="5" name="s5-3"/>
          <p:cNvSpPr txBox="1"/>
          <p:nvPr/>
        </p:nvSpPr>
        <p:spPr>
          <a:xfrm>
            <a:off x="10881360" y="6437376"/>
            <a:ext cx="758952" cy="274320"/>
          </a:xfrm>
          <a:prstGeom prst="rect">
            <a:avLst/>
          </a:prstGeom>
          <a:noFill/>
          <a:ln/>
        </p:spPr>
        <p:txBody>
          <a:bodyPr wrap="square" lIns="0" tIns="0" rIns="0" bIns="0" rtlCol="0" anchor="t"/>
          <a:lstStyle/>
          <a:p>
            <a:pPr marL="0" indent="0" algn="r">
              <a:lnSpc>
                <a:spcPct val="100000"/>
              </a:lnSpc>
              <a:buNone/>
            </a:pPr>
            <a:r>
              <a:rPr lang="en-US" sz="1000" dirty="0">
                <a:solidFill>
                  <a:srgbClr val="5B6578"/>
                </a:solidFill>
                <a:latin typeface="Calibri" pitchFamily="34" charset="0"/>
                <a:ea typeface="Calibri" pitchFamily="34" charset="-122"/>
                <a:cs typeface="Calibri" pitchFamily="34" charset="-120"/>
              </a:rPr>
              <a:t>5</a:t>
            </a:r>
            <a:endParaRPr lang="en-US" sz="1000" dirty="0"/>
          </a:p>
        </p:txBody>
      </p:sp>
      <p:sp>
        <p:nvSpPr>
          <p:cNvPr id="6" name="s5-4"/>
          <p:cNvSpPr/>
          <p:nvPr/>
        </p:nvSpPr>
        <p:spPr>
          <a:xfrm>
            <a:off x="548640" y="1600200"/>
            <a:ext cx="2743200" cy="1600200"/>
          </a:xfrm>
          <a:prstGeom prst="roundRect">
            <a:avLst>
              <a:gd name="adj" fmla="val 6857"/>
            </a:avLst>
          </a:prstGeom>
          <a:solidFill>
            <a:srgbClr val="EEF2F7"/>
          </a:solidFill>
          <a:ln w="12700">
            <a:solidFill>
              <a:srgbClr val="EEF2F7"/>
            </a:solidFill>
            <a:prstDash val="solid"/>
          </a:ln>
        </p:spPr>
        <p:txBody>
          <a:bodyPr/>
          <a:lstStyle/>
          <a:p>
            <a:endParaRPr lang="en-US"/>
          </a:p>
        </p:txBody>
      </p:sp>
      <p:sp>
        <p:nvSpPr>
          <p:cNvPr id="7" name="s5-5"/>
          <p:cNvSpPr txBox="1"/>
          <p:nvPr/>
        </p:nvSpPr>
        <p:spPr>
          <a:xfrm>
            <a:off x="713232" y="1731874"/>
            <a:ext cx="2414016" cy="1336853"/>
          </a:xfrm>
          <a:prstGeom prst="rect">
            <a:avLst/>
          </a:prstGeom>
          <a:noFill/>
          <a:ln/>
        </p:spPr>
        <p:txBody>
          <a:bodyPr wrap="square" lIns="0" tIns="0" rIns="0" bIns="0" rtlCol="0" anchor="t"/>
          <a:lstStyle/>
          <a:p>
            <a:pPr marL="0" indent="0" algn="l">
              <a:lnSpc>
                <a:spcPct val="100000"/>
              </a:lnSpc>
              <a:spcAft>
                <a:spcPts val="400"/>
              </a:spcAft>
              <a:buNone/>
            </a:pPr>
            <a:r>
              <a:rPr lang="en-US" sz="1700" b="1" dirty="0">
                <a:solidFill>
                  <a:srgbClr val="0F3D6E"/>
                </a:solidFill>
                <a:latin typeface="Calibri" pitchFamily="34" charset="0"/>
                <a:ea typeface="Calibri" pitchFamily="34" charset="-122"/>
                <a:cs typeface="Calibri" pitchFamily="34" charset="-120"/>
              </a:rPr>
              <a:t>App and web events</a:t>
            </a:r>
            <a:endParaRPr lang="en-US" sz="1700" dirty="0"/>
          </a:p>
          <a:p>
            <a:pPr marL="0" indent="0" algn="l">
              <a:lnSpc>
                <a:spcPct val="100000"/>
              </a:lnSpc>
              <a:buNone/>
            </a:pPr>
            <a:r>
              <a:rPr lang="en-US" sz="1400" dirty="0">
                <a:solidFill>
                  <a:srgbClr val="121212"/>
                </a:solidFill>
                <a:latin typeface="Calibri" pitchFamily="34" charset="0"/>
                <a:ea typeface="Calibri" pitchFamily="34" charset="-122"/>
                <a:cs typeface="Calibri" pitchFamily="34" charset="-120"/>
              </a:rPr>
              <a:t>Product view, cart, checkout, purchase. Anonymous sessions are keyed by session_id.</a:t>
            </a:r>
            <a:endParaRPr lang="en-US" sz="1700" dirty="0"/>
          </a:p>
        </p:txBody>
      </p:sp>
      <p:sp>
        <p:nvSpPr>
          <p:cNvPr id="8" name="s5-6"/>
          <p:cNvSpPr/>
          <p:nvPr/>
        </p:nvSpPr>
        <p:spPr>
          <a:xfrm>
            <a:off x="3474720" y="1600200"/>
            <a:ext cx="2743200" cy="1600200"/>
          </a:xfrm>
          <a:prstGeom prst="roundRect">
            <a:avLst>
              <a:gd name="adj" fmla="val 6857"/>
            </a:avLst>
          </a:prstGeom>
          <a:solidFill>
            <a:srgbClr val="EEF2F7"/>
          </a:solidFill>
          <a:ln w="12700">
            <a:solidFill>
              <a:srgbClr val="EEF2F7"/>
            </a:solidFill>
            <a:prstDash val="solid"/>
          </a:ln>
        </p:spPr>
        <p:txBody>
          <a:bodyPr/>
          <a:lstStyle/>
          <a:p>
            <a:endParaRPr lang="en-US"/>
          </a:p>
        </p:txBody>
      </p:sp>
      <p:sp>
        <p:nvSpPr>
          <p:cNvPr id="9" name="s5-7"/>
          <p:cNvSpPr txBox="1"/>
          <p:nvPr/>
        </p:nvSpPr>
        <p:spPr>
          <a:xfrm>
            <a:off x="3639312" y="1731874"/>
            <a:ext cx="2414016" cy="1336853"/>
          </a:xfrm>
          <a:prstGeom prst="rect">
            <a:avLst/>
          </a:prstGeom>
          <a:noFill/>
          <a:ln/>
        </p:spPr>
        <p:txBody>
          <a:bodyPr wrap="square" lIns="0" tIns="0" rIns="0" bIns="0" rtlCol="0" anchor="t"/>
          <a:lstStyle/>
          <a:p>
            <a:pPr marL="0" indent="0" algn="l">
              <a:lnSpc>
                <a:spcPct val="100000"/>
              </a:lnSpc>
              <a:spcAft>
                <a:spcPts val="400"/>
              </a:spcAft>
              <a:buNone/>
            </a:pPr>
            <a:r>
              <a:rPr lang="en-US" sz="1700" b="1" dirty="0">
                <a:solidFill>
                  <a:srgbClr val="0F3D6E"/>
                </a:solidFill>
                <a:latin typeface="Calibri" pitchFamily="34" charset="0"/>
                <a:ea typeface="Calibri" pitchFamily="34" charset="-122"/>
                <a:cs typeface="Calibri" pitchFamily="34" charset="-120"/>
              </a:rPr>
              <a:t>Orders and deliveries</a:t>
            </a:r>
            <a:endParaRPr lang="en-US" sz="1700" dirty="0"/>
          </a:p>
          <a:p>
            <a:pPr marL="0" indent="0" algn="l">
              <a:lnSpc>
                <a:spcPct val="100000"/>
              </a:lnSpc>
              <a:buNone/>
            </a:pPr>
            <a:r>
              <a:rPr lang="en-US" sz="1400" dirty="0">
                <a:solidFill>
                  <a:srgbClr val="121212"/>
                </a:solidFill>
                <a:latin typeface="Calibri" pitchFamily="34" charset="0"/>
                <a:ea typeface="Calibri" pitchFamily="34" charset="-122"/>
                <a:cs typeface="Calibri" pitchFamily="34" charset="-120"/>
              </a:rPr>
              <a:t>Created only after checkout. Full lifecycle with cancel, return and failed delivery.</a:t>
            </a:r>
            <a:endParaRPr lang="en-US" sz="1700" dirty="0"/>
          </a:p>
        </p:txBody>
      </p:sp>
      <p:sp>
        <p:nvSpPr>
          <p:cNvPr id="10" name="s5-8"/>
          <p:cNvSpPr/>
          <p:nvPr/>
        </p:nvSpPr>
        <p:spPr>
          <a:xfrm>
            <a:off x="548640" y="3383280"/>
            <a:ext cx="2743200" cy="1600200"/>
          </a:xfrm>
          <a:prstGeom prst="roundRect">
            <a:avLst>
              <a:gd name="adj" fmla="val 6857"/>
            </a:avLst>
          </a:prstGeom>
          <a:solidFill>
            <a:srgbClr val="EEF2F7"/>
          </a:solidFill>
          <a:ln w="12700">
            <a:solidFill>
              <a:srgbClr val="EEF2F7"/>
            </a:solidFill>
            <a:prstDash val="solid"/>
          </a:ln>
        </p:spPr>
        <p:txBody>
          <a:bodyPr/>
          <a:lstStyle/>
          <a:p>
            <a:endParaRPr lang="en-US"/>
          </a:p>
        </p:txBody>
      </p:sp>
      <p:sp>
        <p:nvSpPr>
          <p:cNvPr id="11" name="s5-9"/>
          <p:cNvSpPr txBox="1"/>
          <p:nvPr/>
        </p:nvSpPr>
        <p:spPr>
          <a:xfrm>
            <a:off x="713232" y="3514954"/>
            <a:ext cx="2414016" cy="1336853"/>
          </a:xfrm>
          <a:prstGeom prst="rect">
            <a:avLst/>
          </a:prstGeom>
          <a:noFill/>
          <a:ln/>
        </p:spPr>
        <p:txBody>
          <a:bodyPr wrap="square" lIns="0" tIns="0" rIns="0" bIns="0" rtlCol="0" anchor="t"/>
          <a:lstStyle/>
          <a:p>
            <a:pPr marL="0" indent="0" algn="l">
              <a:lnSpc>
                <a:spcPct val="100000"/>
              </a:lnSpc>
              <a:spcAft>
                <a:spcPts val="400"/>
              </a:spcAft>
              <a:buNone/>
            </a:pPr>
            <a:r>
              <a:rPr lang="en-US" sz="1700" b="1" dirty="0">
                <a:solidFill>
                  <a:srgbClr val="0F3D6E"/>
                </a:solidFill>
                <a:latin typeface="Calibri" pitchFamily="34" charset="0"/>
                <a:ea typeface="Calibri" pitchFamily="34" charset="-122"/>
                <a:cs typeface="Calibri" pitchFamily="34" charset="-120"/>
              </a:rPr>
              <a:t>Stock events</a:t>
            </a:r>
            <a:endParaRPr lang="en-US" sz="1700" dirty="0"/>
          </a:p>
          <a:p>
            <a:pPr marL="0" indent="0" algn="l">
              <a:lnSpc>
                <a:spcPct val="100000"/>
              </a:lnSpc>
              <a:buNone/>
            </a:pPr>
            <a:r>
              <a:rPr lang="en-US" sz="1400" dirty="0">
                <a:solidFill>
                  <a:srgbClr val="121212"/>
                </a:solidFill>
                <a:latin typeface="Calibri" pitchFamily="34" charset="0"/>
                <a:ea typeface="Calibri" pitchFamily="34" charset="-122"/>
                <a:cs typeface="Calibri" pitchFamily="34" charset="-120"/>
              </a:rPr>
              <a:t>Snapshots and movements for 8 dark stores. Stock never goes below zero.</a:t>
            </a:r>
            <a:endParaRPr lang="en-US" sz="1700" dirty="0"/>
          </a:p>
        </p:txBody>
      </p:sp>
      <p:sp>
        <p:nvSpPr>
          <p:cNvPr id="12" name="s5-10"/>
          <p:cNvSpPr/>
          <p:nvPr/>
        </p:nvSpPr>
        <p:spPr>
          <a:xfrm>
            <a:off x="3474720" y="3383280"/>
            <a:ext cx="2743200" cy="1600200"/>
          </a:xfrm>
          <a:prstGeom prst="roundRect">
            <a:avLst>
              <a:gd name="adj" fmla="val 6857"/>
            </a:avLst>
          </a:prstGeom>
          <a:solidFill>
            <a:srgbClr val="EEF2F7"/>
          </a:solidFill>
          <a:ln w="12700">
            <a:solidFill>
              <a:srgbClr val="EEF2F7"/>
            </a:solidFill>
            <a:prstDash val="solid"/>
          </a:ln>
        </p:spPr>
        <p:txBody>
          <a:bodyPr/>
          <a:lstStyle/>
          <a:p>
            <a:endParaRPr lang="en-US"/>
          </a:p>
        </p:txBody>
      </p:sp>
      <p:sp>
        <p:nvSpPr>
          <p:cNvPr id="13" name="s5-11"/>
          <p:cNvSpPr txBox="1"/>
          <p:nvPr/>
        </p:nvSpPr>
        <p:spPr>
          <a:xfrm>
            <a:off x="3639312" y="3514954"/>
            <a:ext cx="2414016" cy="1336853"/>
          </a:xfrm>
          <a:prstGeom prst="rect">
            <a:avLst/>
          </a:prstGeom>
          <a:noFill/>
          <a:ln/>
        </p:spPr>
        <p:txBody>
          <a:bodyPr wrap="square" lIns="0" tIns="0" rIns="0" bIns="0" rtlCol="0" anchor="t"/>
          <a:lstStyle/>
          <a:p>
            <a:pPr marL="0" indent="0" algn="l">
              <a:lnSpc>
                <a:spcPct val="100000"/>
              </a:lnSpc>
              <a:spcAft>
                <a:spcPts val="400"/>
              </a:spcAft>
              <a:buNone/>
            </a:pPr>
            <a:r>
              <a:rPr lang="en-US" sz="1700" b="1" dirty="0">
                <a:solidFill>
                  <a:srgbClr val="0F3D6E"/>
                </a:solidFill>
                <a:latin typeface="Calibri" pitchFamily="34" charset="0"/>
                <a:ea typeface="Calibri" pitchFamily="34" charset="-122"/>
                <a:cs typeface="Calibri" pitchFamily="34" charset="-120"/>
              </a:rPr>
              <a:t>Mock ad API</a:t>
            </a:r>
            <a:endParaRPr lang="en-US" sz="1700" dirty="0"/>
          </a:p>
          <a:p>
            <a:pPr marL="0" indent="0" algn="l">
              <a:lnSpc>
                <a:spcPct val="100000"/>
              </a:lnSpc>
              <a:buNone/>
            </a:pPr>
            <a:r>
              <a:rPr lang="en-US" sz="1400" dirty="0">
                <a:solidFill>
                  <a:srgbClr val="121212"/>
                </a:solidFill>
                <a:latin typeface="Calibri" pitchFamily="34" charset="0"/>
                <a:ea typeface="Calibri" pitchFamily="34" charset="-122"/>
                <a:cs typeface="Calibri" pitchFamily="34" charset="-120"/>
              </a:rPr>
              <a:t>Meta and Google campaigns, pulled daily by Airflow into Silver.</a:t>
            </a:r>
            <a:endParaRPr lang="en-US" sz="1700" dirty="0"/>
          </a:p>
        </p:txBody>
      </p:sp>
      <p:sp>
        <p:nvSpPr>
          <p:cNvPr id="14" name="s5-12"/>
          <p:cNvSpPr/>
          <p:nvPr/>
        </p:nvSpPr>
        <p:spPr>
          <a:xfrm>
            <a:off x="548640" y="5166360"/>
            <a:ext cx="5669280" cy="1097280"/>
          </a:xfrm>
          <a:prstGeom prst="roundRect">
            <a:avLst>
              <a:gd name="adj" fmla="val 10000"/>
            </a:avLst>
          </a:prstGeom>
          <a:solidFill>
            <a:srgbClr val="0F3D6E"/>
          </a:solidFill>
          <a:ln w="12700">
            <a:solidFill>
              <a:srgbClr val="0F3D6E"/>
            </a:solidFill>
            <a:prstDash val="solid"/>
          </a:ln>
        </p:spPr>
        <p:txBody>
          <a:bodyPr/>
          <a:lstStyle/>
          <a:p>
            <a:endParaRPr lang="en-US"/>
          </a:p>
        </p:txBody>
      </p:sp>
      <p:sp>
        <p:nvSpPr>
          <p:cNvPr id="15" name="s5-13"/>
          <p:cNvSpPr txBox="1"/>
          <p:nvPr/>
        </p:nvSpPr>
        <p:spPr>
          <a:xfrm>
            <a:off x="713232" y="5298034"/>
            <a:ext cx="5340096" cy="833933"/>
          </a:xfrm>
          <a:prstGeom prst="rect">
            <a:avLst/>
          </a:prstGeom>
          <a:noFill/>
          <a:ln/>
        </p:spPr>
        <p:txBody>
          <a:bodyPr wrap="square" lIns="0" tIns="0" rIns="0" bIns="0" rtlCol="0" anchor="t"/>
          <a:lstStyle/>
          <a:p>
            <a:pPr marL="0" indent="0" algn="l">
              <a:lnSpc>
                <a:spcPct val="100000"/>
              </a:lnSpc>
              <a:spcAft>
                <a:spcPts val="400"/>
              </a:spcAft>
              <a:buNone/>
            </a:pPr>
            <a:r>
              <a:rPr lang="en-US" sz="1500" b="1" dirty="0">
                <a:solidFill>
                  <a:srgbClr val="FFFFFF"/>
                </a:solidFill>
                <a:latin typeface="Calibri" pitchFamily="34" charset="0"/>
                <a:ea typeface="Calibri" pitchFamily="34" charset="-122"/>
                <a:cs typeface="Calibri" pitchFamily="34" charset="-120"/>
              </a:rPr>
              <a:t>Egyptian realism</a:t>
            </a:r>
            <a:endParaRPr lang="en-US" sz="1500" dirty="0"/>
          </a:p>
          <a:p>
            <a:pPr marL="0" indent="0" algn="l">
              <a:lnSpc>
                <a:spcPct val="100000"/>
              </a:lnSpc>
              <a:buNone/>
            </a:pPr>
            <a:r>
              <a:rPr lang="en-US" sz="1300" dirty="0">
                <a:solidFill>
                  <a:srgbClr val="DCE6F2"/>
                </a:solidFill>
                <a:latin typeface="Calibri" pitchFamily="34" charset="0"/>
                <a:ea typeface="Calibri" pitchFamily="34" charset="-122"/>
                <a:cs typeface="Calibri" pitchFamily="34" charset="-120"/>
              </a:rPr>
              <a:t>EGP, cash on delivery, Fawry, Vodafone Cash, InstaPay; Bosta, Aramex, J&amp;T; Ramadan and Eid peaks; business day in Cairo time.</a:t>
            </a:r>
            <a:endParaRPr lang="en-US" sz="1500" dirty="0"/>
          </a:p>
        </p:txBody>
      </p:sp>
      <p:sp>
        <p:nvSpPr>
          <p:cNvPr id="16" name="s5-14"/>
          <p:cNvSpPr/>
          <p:nvPr/>
        </p:nvSpPr>
        <p:spPr>
          <a:xfrm>
            <a:off x="6492240" y="1600200"/>
            <a:ext cx="5120640" cy="2331720"/>
          </a:xfrm>
          <a:prstGeom prst="roundRect">
            <a:avLst>
              <a:gd name="adj" fmla="val 4706"/>
            </a:avLst>
          </a:prstGeom>
          <a:solidFill>
            <a:srgbClr val="0C1220"/>
          </a:solidFill>
          <a:ln w="12700">
            <a:solidFill>
              <a:srgbClr val="0C1220"/>
            </a:solidFill>
            <a:prstDash val="solid"/>
          </a:ln>
        </p:spPr>
        <p:txBody>
          <a:bodyPr/>
          <a:lstStyle/>
          <a:p>
            <a:endParaRPr lang="en-US"/>
          </a:p>
        </p:txBody>
      </p:sp>
      <p:sp>
        <p:nvSpPr>
          <p:cNvPr id="17" name="s5-15"/>
          <p:cNvSpPr txBox="1"/>
          <p:nvPr/>
        </p:nvSpPr>
        <p:spPr>
          <a:xfrm>
            <a:off x="6675120" y="1691640"/>
            <a:ext cx="4754880" cy="274320"/>
          </a:xfrm>
          <a:prstGeom prst="rect">
            <a:avLst/>
          </a:prstGeom>
          <a:noFill/>
          <a:ln/>
        </p:spPr>
        <p:txBody>
          <a:bodyPr wrap="square" lIns="0" tIns="0" rIns="0" bIns="0" rtlCol="0" anchor="t"/>
          <a:lstStyle/>
          <a:p>
            <a:pPr marL="0" indent="0" algn="l">
              <a:lnSpc>
                <a:spcPct val="100000"/>
              </a:lnSpc>
              <a:buNone/>
            </a:pPr>
            <a:r>
              <a:rPr lang="en-US" sz="1200" b="1" dirty="0">
                <a:solidFill>
                  <a:srgbClr val="A9CFFB"/>
                </a:solidFill>
                <a:latin typeface="Calibri" pitchFamily="34" charset="0"/>
                <a:ea typeface="Calibri" pitchFamily="34" charset="-122"/>
                <a:cs typeface="Calibri" pitchFamily="34" charset="-120"/>
              </a:rPr>
              <a:t>One envelope for every event</a:t>
            </a:r>
            <a:endParaRPr lang="en-US" sz="1200" dirty="0"/>
          </a:p>
        </p:txBody>
      </p:sp>
      <p:sp>
        <p:nvSpPr>
          <p:cNvPr id="18" name="s5-16"/>
          <p:cNvSpPr txBox="1"/>
          <p:nvPr/>
        </p:nvSpPr>
        <p:spPr>
          <a:xfrm>
            <a:off x="6675120" y="2011680"/>
            <a:ext cx="4754880" cy="1828800"/>
          </a:xfrm>
          <a:prstGeom prst="rect">
            <a:avLst/>
          </a:prstGeom>
          <a:noFill/>
          <a:ln/>
        </p:spPr>
        <p:txBody>
          <a:bodyPr wrap="square" lIns="0" tIns="0" rIns="0" bIns="0" rtlCol="0" anchor="t"/>
          <a:lstStyle/>
          <a:p>
            <a:pPr marL="0" indent="0" algn="l">
              <a:lnSpc>
                <a:spcPct val="100000"/>
              </a:lnSpc>
              <a:buNone/>
            </a:pPr>
            <a:r>
              <a:rPr lang="en-US" sz="1400" dirty="0">
                <a:solidFill>
                  <a:srgbClr val="DCE6F2"/>
                </a:solidFill>
                <a:latin typeface="Consolas" pitchFamily="34" charset="0"/>
                <a:ea typeface="Consolas" pitchFamily="34" charset="-122"/>
                <a:cs typeface="Consolas" pitchFamily="34" charset="-120"/>
              </a:rPr>
              <a:t>{</a:t>
            </a:r>
            <a:endParaRPr lang="en-US" sz="1400" dirty="0"/>
          </a:p>
          <a:p>
            <a:pPr marL="0" indent="0" algn="l">
              <a:lnSpc>
                <a:spcPct val="100000"/>
              </a:lnSpc>
              <a:buNone/>
            </a:pPr>
            <a:r>
              <a:rPr lang="en-US" sz="1400" dirty="0">
                <a:solidFill>
                  <a:srgbClr val="DCE6F2"/>
                </a:solidFill>
                <a:latin typeface="Consolas" pitchFamily="34" charset="0"/>
                <a:ea typeface="Consolas" pitchFamily="34" charset="-122"/>
                <a:cs typeface="Consolas" pitchFamily="34" charset="-120"/>
              </a:rPr>
              <a:t>  "event_id": ...,</a:t>
            </a:r>
            <a:endParaRPr lang="en-US" sz="1400" dirty="0"/>
          </a:p>
          <a:p>
            <a:pPr marL="0" indent="0" algn="l">
              <a:lnSpc>
                <a:spcPct val="100000"/>
              </a:lnSpc>
              <a:buNone/>
            </a:pPr>
            <a:r>
              <a:rPr lang="en-US" sz="1400" dirty="0">
                <a:solidFill>
                  <a:srgbClr val="DCE6F2"/>
                </a:solidFill>
                <a:latin typeface="Consolas" pitchFamily="34" charset="0"/>
                <a:ea typeface="Consolas" pitchFamily="34" charset="-122"/>
                <a:cs typeface="Consolas" pitchFamily="34" charset="-120"/>
              </a:rPr>
              <a:t>  "event_type": ...,</a:t>
            </a:r>
            <a:endParaRPr lang="en-US" sz="1400" dirty="0"/>
          </a:p>
          <a:p>
            <a:pPr marL="0" indent="0" algn="l">
              <a:lnSpc>
                <a:spcPct val="100000"/>
              </a:lnSpc>
              <a:buNone/>
            </a:pPr>
            <a:r>
              <a:rPr lang="en-US" sz="1400" dirty="0">
                <a:solidFill>
                  <a:srgbClr val="DCE6F2"/>
                </a:solidFill>
                <a:latin typeface="Consolas" pitchFamily="34" charset="0"/>
                <a:ea typeface="Consolas" pitchFamily="34" charset="-122"/>
                <a:cs typeface="Consolas" pitchFamily="34" charset="-120"/>
              </a:rPr>
              <a:t>  "event_version": ...,</a:t>
            </a:r>
            <a:endParaRPr lang="en-US" sz="1400" dirty="0"/>
          </a:p>
          <a:p>
            <a:pPr marL="0" indent="0" algn="l">
              <a:lnSpc>
                <a:spcPct val="100000"/>
              </a:lnSpc>
              <a:buNone/>
            </a:pPr>
            <a:r>
              <a:rPr lang="en-US" sz="1400" dirty="0">
                <a:solidFill>
                  <a:srgbClr val="DCE6F2"/>
                </a:solidFill>
                <a:latin typeface="Consolas" pitchFamily="34" charset="0"/>
                <a:ea typeface="Consolas" pitchFamily="34" charset="-122"/>
                <a:cs typeface="Consolas" pitchFamily="34" charset="-120"/>
              </a:rPr>
              <a:t>  "event_time": ...,</a:t>
            </a:r>
            <a:endParaRPr lang="en-US" sz="1400" dirty="0"/>
          </a:p>
          <a:p>
            <a:pPr marL="0" indent="0" algn="l">
              <a:lnSpc>
                <a:spcPct val="100000"/>
              </a:lnSpc>
              <a:buNone/>
            </a:pPr>
            <a:r>
              <a:rPr lang="en-US" sz="1400" dirty="0">
                <a:solidFill>
                  <a:srgbClr val="DCE6F2"/>
                </a:solidFill>
                <a:latin typeface="Consolas" pitchFamily="34" charset="0"/>
                <a:ea typeface="Consolas" pitchFamily="34" charset="-122"/>
                <a:cs typeface="Consolas" pitchFamily="34" charset="-120"/>
              </a:rPr>
              <a:t>  "payload": { ... }</a:t>
            </a:r>
            <a:endParaRPr lang="en-US" sz="1400" dirty="0"/>
          </a:p>
          <a:p>
            <a:pPr marL="0" indent="0" algn="l">
              <a:lnSpc>
                <a:spcPct val="100000"/>
              </a:lnSpc>
              <a:buNone/>
            </a:pPr>
            <a:r>
              <a:rPr lang="en-US" sz="1400" dirty="0">
                <a:solidFill>
                  <a:srgbClr val="DCE6F2"/>
                </a:solidFill>
                <a:latin typeface="Consolas" pitchFamily="34" charset="0"/>
                <a:ea typeface="Consolas" pitchFamily="34" charset="-122"/>
                <a:cs typeface="Consolas" pitchFamily="34" charset="-120"/>
              </a:rPr>
              <a:t>}</a:t>
            </a:r>
            <a:endParaRPr lang="en-US" sz="1400" dirty="0"/>
          </a:p>
        </p:txBody>
      </p:sp>
      <p:sp>
        <p:nvSpPr>
          <p:cNvPr id="19" name="s5-17"/>
          <p:cNvSpPr/>
          <p:nvPr/>
        </p:nvSpPr>
        <p:spPr>
          <a:xfrm>
            <a:off x="6492240" y="4114800"/>
            <a:ext cx="5120640" cy="2148840"/>
          </a:xfrm>
          <a:prstGeom prst="roundRect">
            <a:avLst>
              <a:gd name="adj" fmla="val 5106"/>
            </a:avLst>
          </a:prstGeom>
          <a:solidFill>
            <a:srgbClr val="FDF3D6"/>
          </a:solidFill>
          <a:ln w="12700">
            <a:solidFill>
              <a:srgbClr val="FDF3D6"/>
            </a:solidFill>
            <a:prstDash val="solid"/>
          </a:ln>
        </p:spPr>
        <p:txBody>
          <a:bodyPr/>
          <a:lstStyle/>
          <a:p>
            <a:endParaRPr lang="en-US"/>
          </a:p>
        </p:txBody>
      </p:sp>
      <p:sp>
        <p:nvSpPr>
          <p:cNvPr id="20" name="s5-18"/>
          <p:cNvSpPr txBox="1"/>
          <p:nvPr/>
        </p:nvSpPr>
        <p:spPr>
          <a:xfrm>
            <a:off x="6656832" y="4246474"/>
            <a:ext cx="4791456" cy="1885493"/>
          </a:xfrm>
          <a:prstGeom prst="rect">
            <a:avLst/>
          </a:prstGeom>
          <a:noFill/>
          <a:ln/>
        </p:spPr>
        <p:txBody>
          <a:bodyPr wrap="square" lIns="0" tIns="0" rIns="0" bIns="0" rtlCol="0" anchor="t"/>
          <a:lstStyle/>
          <a:p>
            <a:pPr marL="0" indent="0" algn="l">
              <a:lnSpc>
                <a:spcPct val="100000"/>
              </a:lnSpc>
              <a:spcAft>
                <a:spcPts val="400"/>
              </a:spcAft>
              <a:buNone/>
            </a:pPr>
            <a:r>
              <a:rPr lang="en-US" sz="1600" b="1" dirty="0">
                <a:solidFill>
                  <a:srgbClr val="0F3D6E"/>
                </a:solidFill>
                <a:latin typeface="Calibri" pitchFamily="34" charset="0"/>
                <a:ea typeface="Calibri" pitchFamily="34" charset="-122"/>
                <a:cs typeface="Calibri" pitchFamily="34" charset="-120"/>
              </a:rPr>
              <a:t>Noise on purpose, seeded and counted</a:t>
            </a:r>
            <a:endParaRPr lang="en-US" sz="1600" dirty="0"/>
          </a:p>
          <a:p>
            <a:pPr marL="0" indent="0" algn="l">
              <a:lnSpc>
                <a:spcPct val="100000"/>
              </a:lnSpc>
              <a:spcAft>
                <a:spcPts val="300"/>
              </a:spcAft>
              <a:buNone/>
            </a:pPr>
            <a:r>
              <a:rPr lang="en-US" sz="1300" dirty="0">
                <a:solidFill>
                  <a:srgbClr val="121212"/>
                </a:solidFill>
                <a:latin typeface="Calibri" pitchFamily="34" charset="0"/>
                <a:ea typeface="Calibri" pitchFamily="34" charset="-122"/>
                <a:cs typeface="Calibri" pitchFamily="34" charset="-120"/>
              </a:rPr>
              <a:t>1% duplicate events, 0.3% malformed JSON, 2% late events, 3% dirty city text, bots, out-of-order order status.</a:t>
            </a:r>
            <a:endParaRPr lang="en-US" sz="1600" dirty="0"/>
          </a:p>
          <a:p>
            <a:pPr marL="0" indent="0" algn="l">
              <a:lnSpc>
                <a:spcPct val="100000"/>
              </a:lnSpc>
              <a:buNone/>
            </a:pPr>
            <a:r>
              <a:rPr lang="en-US" sz="1400" b="1" dirty="0">
                <a:solidFill>
                  <a:srgbClr val="0F3D6E"/>
                </a:solidFill>
                <a:latin typeface="Calibri" pitchFamily="34" charset="0"/>
                <a:ea typeface="Calibri" pitchFamily="34" charset="-122"/>
                <a:cs typeface="Calibri" pitchFamily="34" charset="-120"/>
              </a:rPr>
              <a:t>A noise manifest records what was injected. After Silver, the quarantine count must match it.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6-0"/>
          <p:cNvSpPr txBox="1"/>
          <p:nvPr/>
        </p:nvSpPr>
        <p:spPr>
          <a:xfrm>
            <a:off x="548640" y="274320"/>
            <a:ext cx="8229600" cy="274320"/>
          </a:xfrm>
          <a:prstGeom prst="rect">
            <a:avLst/>
          </a:prstGeom>
          <a:noFill/>
          <a:ln/>
        </p:spPr>
        <p:txBody>
          <a:bodyPr wrap="square" lIns="0" tIns="0" rIns="0" bIns="0" rtlCol="0" anchor="t"/>
          <a:lstStyle/>
          <a:p>
            <a:pPr marL="0" indent="0" algn="l">
              <a:lnSpc>
                <a:spcPct val="100000"/>
              </a:lnSpc>
              <a:buNone/>
            </a:pPr>
            <a:r>
              <a:rPr lang="en-US" sz="1200" b="1" dirty="0">
                <a:solidFill>
                  <a:srgbClr val="5B6578"/>
                </a:solidFill>
                <a:latin typeface="Calibri" pitchFamily="34" charset="0"/>
                <a:ea typeface="Calibri" pitchFamily="34" charset="-122"/>
                <a:cs typeface="Calibri" pitchFamily="34" charset="-120"/>
              </a:rPr>
              <a:t>2  ARCHITECTURE AND DATA ENGINEERING</a:t>
            </a:r>
            <a:endParaRPr lang="en-US" sz="1200" dirty="0"/>
          </a:p>
        </p:txBody>
      </p:sp>
      <p:sp>
        <p:nvSpPr>
          <p:cNvPr id="3" name="s6-1"/>
          <p:cNvSpPr txBox="1"/>
          <p:nvPr/>
        </p:nvSpPr>
        <p:spPr>
          <a:xfrm>
            <a:off x="548640" y="530352"/>
            <a:ext cx="11064240" cy="685800"/>
          </a:xfrm>
          <a:prstGeom prst="rect">
            <a:avLst/>
          </a:prstGeom>
          <a:noFill/>
          <a:ln/>
        </p:spPr>
        <p:txBody>
          <a:bodyPr wrap="square" lIns="0" tIns="0" rIns="0" bIns="0" rtlCol="0" anchor="ctr"/>
          <a:lstStyle/>
          <a:p>
            <a:pPr marL="0" indent="0" algn="l">
              <a:lnSpc>
                <a:spcPct val="100000"/>
              </a:lnSpc>
              <a:buNone/>
            </a:pPr>
            <a:r>
              <a:rPr lang="en-US" sz="3000" b="1" dirty="0">
                <a:solidFill>
                  <a:srgbClr val="0F3D6E"/>
                </a:solidFill>
                <a:latin typeface="Calibri" pitchFamily="34" charset="0"/>
                <a:ea typeface="Calibri" pitchFamily="34" charset="-122"/>
                <a:cs typeface="Calibri" pitchFamily="34" charset="-120"/>
              </a:rPr>
              <a:t>Streaming: Kafka decouples producers from processing</a:t>
            </a:r>
            <a:endParaRPr lang="en-US" sz="3000" dirty="0"/>
          </a:p>
        </p:txBody>
      </p:sp>
      <p:sp>
        <p:nvSpPr>
          <p:cNvPr id="4" name="s6-2"/>
          <p:cNvSpPr txBox="1"/>
          <p:nvPr/>
        </p:nvSpPr>
        <p:spPr>
          <a:xfrm>
            <a:off x="548640" y="6437376"/>
            <a:ext cx="5486400" cy="274320"/>
          </a:xfrm>
          <a:prstGeom prst="rect">
            <a:avLst/>
          </a:prstGeom>
          <a:noFill/>
          <a:ln/>
        </p:spPr>
        <p:txBody>
          <a:bodyPr wrap="square" lIns="0" tIns="0" rIns="0" bIns="0" rtlCol="0" anchor="t"/>
          <a:lstStyle/>
          <a:p>
            <a:pPr marL="0" indent="0" algn="l">
              <a:lnSpc>
                <a:spcPct val="100000"/>
              </a:lnSpc>
              <a:buNone/>
            </a:pPr>
            <a:r>
              <a:rPr lang="en-US" sz="1000" dirty="0">
                <a:solidFill>
                  <a:srgbClr val="5B6578"/>
                </a:solidFill>
                <a:latin typeface="Calibri" pitchFamily="34" charset="0"/>
                <a:ea typeface="Calibri" pitchFamily="34" charset="-122"/>
                <a:cs typeface="Calibri" pitchFamily="34" charset="-120"/>
              </a:rPr>
              <a:t>FunnelStream</a:t>
            </a:r>
            <a:endParaRPr lang="en-US" sz="1000" dirty="0"/>
          </a:p>
        </p:txBody>
      </p:sp>
      <p:sp>
        <p:nvSpPr>
          <p:cNvPr id="5" name="s6-3"/>
          <p:cNvSpPr txBox="1"/>
          <p:nvPr/>
        </p:nvSpPr>
        <p:spPr>
          <a:xfrm>
            <a:off x="10881360" y="6437376"/>
            <a:ext cx="758952" cy="274320"/>
          </a:xfrm>
          <a:prstGeom prst="rect">
            <a:avLst/>
          </a:prstGeom>
          <a:noFill/>
          <a:ln/>
        </p:spPr>
        <p:txBody>
          <a:bodyPr wrap="square" lIns="0" tIns="0" rIns="0" bIns="0" rtlCol="0" anchor="t"/>
          <a:lstStyle/>
          <a:p>
            <a:pPr marL="0" indent="0" algn="r">
              <a:lnSpc>
                <a:spcPct val="100000"/>
              </a:lnSpc>
              <a:buNone/>
            </a:pPr>
            <a:r>
              <a:rPr lang="en-US" sz="1000" dirty="0">
                <a:solidFill>
                  <a:srgbClr val="5B6578"/>
                </a:solidFill>
                <a:latin typeface="Calibri" pitchFamily="34" charset="0"/>
                <a:ea typeface="Calibri" pitchFamily="34" charset="-122"/>
                <a:cs typeface="Calibri" pitchFamily="34" charset="-120"/>
              </a:rPr>
              <a:t>6</a:t>
            </a:r>
            <a:endParaRPr lang="en-US" sz="1000" dirty="0"/>
          </a:p>
        </p:txBody>
      </p:sp>
      <p:sp>
        <p:nvSpPr>
          <p:cNvPr id="6" name="s6-4"/>
          <p:cNvSpPr/>
          <p:nvPr/>
        </p:nvSpPr>
        <p:spPr>
          <a:xfrm>
            <a:off x="548640" y="1645920"/>
            <a:ext cx="4297680" cy="1143000"/>
          </a:xfrm>
          <a:prstGeom prst="roundRect">
            <a:avLst>
              <a:gd name="adj" fmla="val 9600"/>
            </a:avLst>
          </a:prstGeom>
          <a:solidFill>
            <a:srgbClr val="EEF2F7"/>
          </a:solidFill>
          <a:ln w="12700">
            <a:solidFill>
              <a:srgbClr val="EEF2F7"/>
            </a:solidFill>
            <a:prstDash val="solid"/>
          </a:ln>
        </p:spPr>
        <p:txBody>
          <a:bodyPr/>
          <a:lstStyle/>
          <a:p>
            <a:endParaRPr lang="en-US"/>
          </a:p>
        </p:txBody>
      </p:sp>
      <p:sp>
        <p:nvSpPr>
          <p:cNvPr id="7" name="s6-5"/>
          <p:cNvSpPr txBox="1"/>
          <p:nvPr/>
        </p:nvSpPr>
        <p:spPr>
          <a:xfrm>
            <a:off x="713232" y="1777594"/>
            <a:ext cx="3968496" cy="879653"/>
          </a:xfrm>
          <a:prstGeom prst="rect">
            <a:avLst/>
          </a:prstGeom>
          <a:noFill/>
          <a:ln/>
        </p:spPr>
        <p:txBody>
          <a:bodyPr wrap="square" lIns="0" tIns="0" rIns="0" bIns="0" rtlCol="0" anchor="t"/>
          <a:lstStyle/>
          <a:p>
            <a:pPr marL="0" indent="0" algn="l">
              <a:lnSpc>
                <a:spcPct val="100000"/>
              </a:lnSpc>
              <a:spcAft>
                <a:spcPts val="400"/>
              </a:spcAft>
              <a:buNone/>
            </a:pPr>
            <a:r>
              <a:rPr lang="en-US" sz="1600" b="1" dirty="0">
                <a:solidFill>
                  <a:srgbClr val="0F3D6E"/>
                </a:solidFill>
                <a:latin typeface="Calibri" pitchFamily="34" charset="0"/>
                <a:ea typeface="Calibri" pitchFamily="34" charset="-122"/>
                <a:cs typeface="Calibri" pitchFamily="34" charset="-120"/>
              </a:rPr>
              <a:t>Producers</a:t>
            </a:r>
            <a:endParaRPr lang="en-US" sz="1600" dirty="0"/>
          </a:p>
          <a:p>
            <a:pPr marL="0" indent="0" algn="l">
              <a:lnSpc>
                <a:spcPct val="100000"/>
              </a:lnSpc>
              <a:buNone/>
            </a:pPr>
            <a:r>
              <a:rPr lang="en-US" sz="1400" dirty="0">
                <a:solidFill>
                  <a:srgbClr val="121212"/>
                </a:solidFill>
                <a:latin typeface="Calibri" pitchFamily="34" charset="0"/>
                <a:ea typeface="Calibri" pitchFamily="34" charset="-122"/>
                <a:cs typeface="Calibri" pitchFamily="34" charset="-120"/>
              </a:rPr>
              <a:t>The simulator. acks=all and idempotent, so a retry never writes twice.</a:t>
            </a:r>
            <a:endParaRPr lang="en-US" sz="1600" dirty="0"/>
          </a:p>
        </p:txBody>
      </p:sp>
      <p:sp>
        <p:nvSpPr>
          <p:cNvPr id="8" name="s6-6"/>
          <p:cNvSpPr/>
          <p:nvPr/>
        </p:nvSpPr>
        <p:spPr>
          <a:xfrm>
            <a:off x="2697480" y="2788920"/>
            <a:ext cx="0" cy="457200"/>
          </a:xfrm>
          <a:prstGeom prst="line">
            <a:avLst/>
          </a:prstGeom>
          <a:noFill/>
          <a:ln w="38100">
            <a:solidFill>
              <a:srgbClr val="1F84FF"/>
            </a:solidFill>
            <a:prstDash val="solid"/>
            <a:tailEnd type="triangle"/>
          </a:ln>
        </p:spPr>
        <p:txBody>
          <a:bodyPr/>
          <a:lstStyle/>
          <a:p>
            <a:endParaRPr lang="en-US"/>
          </a:p>
        </p:txBody>
      </p:sp>
      <p:sp>
        <p:nvSpPr>
          <p:cNvPr id="9" name="s6-7"/>
          <p:cNvSpPr/>
          <p:nvPr/>
        </p:nvSpPr>
        <p:spPr>
          <a:xfrm>
            <a:off x="548640" y="3246120"/>
            <a:ext cx="4297680" cy="1143000"/>
          </a:xfrm>
          <a:prstGeom prst="roundRect">
            <a:avLst>
              <a:gd name="adj" fmla="val 9600"/>
            </a:avLst>
          </a:prstGeom>
          <a:solidFill>
            <a:srgbClr val="1F84FF"/>
          </a:solidFill>
          <a:ln w="12700">
            <a:solidFill>
              <a:srgbClr val="1F84FF"/>
            </a:solidFill>
            <a:prstDash val="solid"/>
          </a:ln>
        </p:spPr>
        <p:txBody>
          <a:bodyPr/>
          <a:lstStyle/>
          <a:p>
            <a:endParaRPr lang="en-US"/>
          </a:p>
        </p:txBody>
      </p:sp>
      <p:sp>
        <p:nvSpPr>
          <p:cNvPr id="10" name="s6-8"/>
          <p:cNvSpPr txBox="1"/>
          <p:nvPr/>
        </p:nvSpPr>
        <p:spPr>
          <a:xfrm>
            <a:off x="713232" y="3377794"/>
            <a:ext cx="3968496" cy="879653"/>
          </a:xfrm>
          <a:prstGeom prst="rect">
            <a:avLst/>
          </a:prstGeom>
          <a:noFill/>
          <a:ln/>
        </p:spPr>
        <p:txBody>
          <a:bodyPr wrap="square" lIns="0" tIns="0" rIns="0" bIns="0" rtlCol="0" anchor="t"/>
          <a:lstStyle/>
          <a:p>
            <a:pPr marL="0" indent="0" algn="l">
              <a:lnSpc>
                <a:spcPct val="100000"/>
              </a:lnSpc>
              <a:spcAft>
                <a:spcPts val="400"/>
              </a:spcAft>
              <a:buNone/>
            </a:pPr>
            <a:r>
              <a:rPr lang="en-US" sz="1600" b="1" dirty="0">
                <a:solidFill>
                  <a:srgbClr val="FFFFFF"/>
                </a:solidFill>
                <a:latin typeface="Calibri" pitchFamily="34" charset="0"/>
                <a:ea typeface="Calibri" pitchFamily="34" charset="-122"/>
                <a:cs typeface="Calibri" pitchFamily="34" charset="-120"/>
              </a:rPr>
              <a:t>Kafka 3.7, KRaft, 4 topics</a:t>
            </a:r>
            <a:endParaRPr lang="en-US" sz="1600" dirty="0"/>
          </a:p>
          <a:p>
            <a:pPr marL="0" indent="0" algn="l">
              <a:lnSpc>
                <a:spcPct val="100000"/>
              </a:lnSpc>
              <a:buNone/>
            </a:pPr>
            <a:r>
              <a:rPr lang="en-US" sz="1400" dirty="0">
                <a:solidFill>
                  <a:srgbClr val="DCE6F2"/>
                </a:solidFill>
                <a:latin typeface="Calibri" pitchFamily="34" charset="0"/>
                <a:ea typeface="Calibri" pitchFamily="34" charset="-122"/>
                <a:cs typeface="Calibri" pitchFamily="34" charset="-120"/>
              </a:rPr>
              <a:t>Keeps messages while the job is down. Replays after a crash.</a:t>
            </a:r>
            <a:endParaRPr lang="en-US" sz="1600" dirty="0"/>
          </a:p>
        </p:txBody>
      </p:sp>
      <p:sp>
        <p:nvSpPr>
          <p:cNvPr id="11" name="s6-9"/>
          <p:cNvSpPr/>
          <p:nvPr/>
        </p:nvSpPr>
        <p:spPr>
          <a:xfrm>
            <a:off x="2697480" y="4389120"/>
            <a:ext cx="0" cy="457200"/>
          </a:xfrm>
          <a:prstGeom prst="line">
            <a:avLst/>
          </a:prstGeom>
          <a:noFill/>
          <a:ln w="38100">
            <a:solidFill>
              <a:srgbClr val="1F84FF"/>
            </a:solidFill>
            <a:prstDash val="solid"/>
            <a:tailEnd type="triangle"/>
          </a:ln>
        </p:spPr>
        <p:txBody>
          <a:bodyPr/>
          <a:lstStyle/>
          <a:p>
            <a:endParaRPr lang="en-US"/>
          </a:p>
        </p:txBody>
      </p:sp>
      <p:sp>
        <p:nvSpPr>
          <p:cNvPr id="12" name="s6-10"/>
          <p:cNvSpPr/>
          <p:nvPr/>
        </p:nvSpPr>
        <p:spPr>
          <a:xfrm>
            <a:off x="548640" y="4846320"/>
            <a:ext cx="4297680" cy="1325880"/>
          </a:xfrm>
          <a:prstGeom prst="roundRect">
            <a:avLst>
              <a:gd name="adj" fmla="val 8276"/>
            </a:avLst>
          </a:prstGeom>
          <a:solidFill>
            <a:srgbClr val="EEF2F7"/>
          </a:solidFill>
          <a:ln w="12700">
            <a:solidFill>
              <a:srgbClr val="EEF2F7"/>
            </a:solidFill>
            <a:prstDash val="solid"/>
          </a:ln>
        </p:spPr>
        <p:txBody>
          <a:bodyPr/>
          <a:lstStyle/>
          <a:p>
            <a:endParaRPr lang="en-US"/>
          </a:p>
        </p:txBody>
      </p:sp>
      <p:sp>
        <p:nvSpPr>
          <p:cNvPr id="13" name="s6-11"/>
          <p:cNvSpPr txBox="1"/>
          <p:nvPr/>
        </p:nvSpPr>
        <p:spPr>
          <a:xfrm>
            <a:off x="713232" y="4977994"/>
            <a:ext cx="3968496" cy="1062533"/>
          </a:xfrm>
          <a:prstGeom prst="rect">
            <a:avLst/>
          </a:prstGeom>
          <a:noFill/>
          <a:ln/>
        </p:spPr>
        <p:txBody>
          <a:bodyPr wrap="square" lIns="0" tIns="0" rIns="0" bIns="0" rtlCol="0" anchor="t"/>
          <a:lstStyle/>
          <a:p>
            <a:pPr marL="0" indent="0" algn="l">
              <a:lnSpc>
                <a:spcPct val="100000"/>
              </a:lnSpc>
              <a:spcAft>
                <a:spcPts val="400"/>
              </a:spcAft>
              <a:buNone/>
            </a:pPr>
            <a:r>
              <a:rPr lang="en-US" sz="1600" b="1" dirty="0">
                <a:solidFill>
                  <a:srgbClr val="0F3D6E"/>
                </a:solidFill>
                <a:latin typeface="Calibri" pitchFamily="34" charset="0"/>
                <a:ea typeface="Calibri" pitchFamily="34" charset="-122"/>
                <a:cs typeface="Calibri" pitchFamily="34" charset="-120"/>
              </a:rPr>
              <a:t>Consumer: the Spark job</a:t>
            </a:r>
            <a:endParaRPr lang="en-US" sz="1600" dirty="0"/>
          </a:p>
          <a:p>
            <a:pPr marL="0" indent="0" algn="l">
              <a:lnSpc>
                <a:spcPct val="100000"/>
              </a:lnSpc>
              <a:buNone/>
            </a:pPr>
            <a:r>
              <a:rPr lang="en-US" sz="1400" dirty="0">
                <a:solidFill>
                  <a:srgbClr val="121212"/>
                </a:solidFill>
                <a:latin typeface="Calibri" pitchFamily="34" charset="0"/>
                <a:ea typeface="Calibri" pitchFamily="34" charset="-122"/>
                <a:cs typeface="Calibri" pitchFamily="34" charset="-120"/>
              </a:rPr>
              <a:t>Reads each topic in micro-batches. Its checkpoints hold the committed offsets, so a restart resumes where it stopped.</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212080" y="1645920"/>
          <a:ext cx="6400800" cy="2651760"/>
        </p:xfrm>
        <a:graphic>
          <a:graphicData uri="http://schemas.openxmlformats.org/drawingml/2006/table">
            <a:tbl>
              <a:tblPr/>
              <a:tblGrid>
                <a:gridCol w="164592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tblGrid>
              <a:tr h="530352">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Topic</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0F3D6E"/>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Carries</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0F3D6E"/>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Key</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0F3D6E"/>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Partitions</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0F3D6E"/>
                    </a:solidFill>
                  </a:tcPr>
                </a:tc>
                <a:extLst>
                  <a:ext uri="{0D108BD9-81ED-4DB2-BD59-A6C34878D82A}">
                    <a16:rowId xmlns:a16="http://schemas.microsoft.com/office/drawing/2014/main" val="10000"/>
                  </a:ext>
                </a:extLst>
              </a:tr>
              <a:tr h="530352">
                <a:tc>
                  <a:txBody>
                    <a:bodyPr/>
                    <a:lstStyle/>
                    <a:p>
                      <a:pPr marL="0" indent="0">
                        <a:buNone/>
                      </a:pPr>
                      <a:r>
                        <a:rPr lang="en-US" sz="1400" dirty="0">
                          <a:solidFill>
                            <a:srgbClr val="121212"/>
                          </a:solidFill>
                          <a:latin typeface="Calibri" pitchFamily="34" charset="0"/>
                          <a:ea typeface="Calibri" pitchFamily="34" charset="-122"/>
                          <a:cs typeface="Calibri" pitchFamily="34" charset="-120"/>
                        </a:rPr>
                        <a:t>app.events</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FFFFFF"/>
                    </a:solidFill>
                  </a:tcPr>
                </a:tc>
                <a:tc>
                  <a:txBody>
                    <a:bodyPr/>
                    <a:lstStyle/>
                    <a:p>
                      <a:pPr marL="0" indent="0">
                        <a:buNone/>
                      </a:pPr>
                      <a:r>
                        <a:rPr lang="en-US" sz="1400" dirty="0">
                          <a:solidFill>
                            <a:srgbClr val="121212"/>
                          </a:solidFill>
                          <a:latin typeface="Calibri" pitchFamily="34" charset="0"/>
                          <a:ea typeface="Calibri" pitchFamily="34" charset="-122"/>
                          <a:cs typeface="Calibri" pitchFamily="34" charset="-120"/>
                        </a:rPr>
                        <a:t>10 app and web event types</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FFFFFF"/>
                    </a:solidFill>
                  </a:tcPr>
                </a:tc>
                <a:tc>
                  <a:txBody>
                    <a:bodyPr/>
                    <a:lstStyle/>
                    <a:p>
                      <a:pPr marL="0" indent="0">
                        <a:buNone/>
                      </a:pPr>
                      <a:r>
                        <a:rPr lang="en-US" sz="1400" dirty="0">
                          <a:solidFill>
                            <a:srgbClr val="121212"/>
                          </a:solidFill>
                          <a:latin typeface="Calibri" pitchFamily="34" charset="0"/>
                          <a:ea typeface="Calibri" pitchFamily="34" charset="-122"/>
                          <a:cs typeface="Calibri" pitchFamily="34" charset="-120"/>
                        </a:rPr>
                        <a:t>session_id</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FFFFFF"/>
                    </a:solidFill>
                  </a:tcPr>
                </a:tc>
                <a:tc>
                  <a:txBody>
                    <a:bodyPr/>
                    <a:lstStyle/>
                    <a:p>
                      <a:pPr marL="0" indent="0">
                        <a:buNone/>
                      </a:pPr>
                      <a:r>
                        <a:rPr lang="en-US" sz="1400" dirty="0">
                          <a:solidFill>
                            <a:srgbClr val="121212"/>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buNone/>
                      </a:pPr>
                      <a:r>
                        <a:rPr lang="en-US" sz="1400" dirty="0">
                          <a:solidFill>
                            <a:srgbClr val="121212"/>
                          </a:solidFill>
                          <a:latin typeface="Calibri" pitchFamily="34" charset="0"/>
                          <a:ea typeface="Calibri" pitchFamily="34" charset="-122"/>
                          <a:cs typeface="Calibri" pitchFamily="34" charset="-120"/>
                        </a:rPr>
                        <a:t>orders</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EEF2F7"/>
                    </a:solidFill>
                  </a:tcPr>
                </a:tc>
                <a:tc>
                  <a:txBody>
                    <a:bodyPr/>
                    <a:lstStyle/>
                    <a:p>
                      <a:pPr marL="0" indent="0">
                        <a:buNone/>
                      </a:pPr>
                      <a:r>
                        <a:rPr lang="en-US" sz="1400" dirty="0">
                          <a:solidFill>
                            <a:srgbClr val="121212"/>
                          </a:solidFill>
                          <a:latin typeface="Calibri" pitchFamily="34" charset="0"/>
                          <a:ea typeface="Calibri" pitchFamily="34" charset="-122"/>
                          <a:cs typeface="Calibri" pitchFamily="34" charset="-120"/>
                        </a:rPr>
                        <a:t>7 order status events</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EEF2F7"/>
                    </a:solidFill>
                  </a:tcPr>
                </a:tc>
                <a:tc>
                  <a:txBody>
                    <a:bodyPr/>
                    <a:lstStyle/>
                    <a:p>
                      <a:pPr marL="0" indent="0">
                        <a:buNone/>
                      </a:pPr>
                      <a:r>
                        <a:rPr lang="en-US" sz="1400" dirty="0">
                          <a:solidFill>
                            <a:srgbClr val="121212"/>
                          </a:solidFill>
                          <a:latin typeface="Calibri" pitchFamily="34" charset="0"/>
                          <a:ea typeface="Calibri" pitchFamily="34" charset="-122"/>
                          <a:cs typeface="Calibri" pitchFamily="34" charset="-120"/>
                        </a:rPr>
                        <a:t>order_id</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EEF2F7"/>
                    </a:solidFill>
                  </a:tcPr>
                </a:tc>
                <a:tc>
                  <a:txBody>
                    <a:bodyPr/>
                    <a:lstStyle/>
                    <a:p>
                      <a:pPr marL="0" indent="0">
                        <a:buNone/>
                      </a:pPr>
                      <a:r>
                        <a:rPr lang="en-US" sz="1400" dirty="0">
                          <a:solidFill>
                            <a:srgbClr val="121212"/>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530352">
                <a:tc>
                  <a:txBody>
                    <a:bodyPr/>
                    <a:lstStyle/>
                    <a:p>
                      <a:pPr marL="0" indent="0">
                        <a:buNone/>
                      </a:pPr>
                      <a:r>
                        <a:rPr lang="en-US" sz="1400" dirty="0">
                          <a:solidFill>
                            <a:srgbClr val="121212"/>
                          </a:solidFill>
                          <a:latin typeface="Calibri" pitchFamily="34" charset="0"/>
                          <a:ea typeface="Calibri" pitchFamily="34" charset="-122"/>
                          <a:cs typeface="Calibri" pitchFamily="34" charset="-120"/>
                        </a:rPr>
                        <a:t>delivery.events</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FFFFFF"/>
                    </a:solidFill>
                  </a:tcPr>
                </a:tc>
                <a:tc>
                  <a:txBody>
                    <a:bodyPr/>
                    <a:lstStyle/>
                    <a:p>
                      <a:pPr marL="0" indent="0">
                        <a:buNone/>
                      </a:pPr>
                      <a:r>
                        <a:rPr lang="en-US" sz="1400" dirty="0">
                          <a:solidFill>
                            <a:srgbClr val="121212"/>
                          </a:solidFill>
                          <a:latin typeface="Calibri" pitchFamily="34" charset="0"/>
                          <a:ea typeface="Calibri" pitchFamily="34" charset="-122"/>
                          <a:cs typeface="Calibri" pitchFamily="34" charset="-120"/>
                        </a:rPr>
                        <a:t>3 delivery events</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FFFFFF"/>
                    </a:solidFill>
                  </a:tcPr>
                </a:tc>
                <a:tc>
                  <a:txBody>
                    <a:bodyPr/>
                    <a:lstStyle/>
                    <a:p>
                      <a:pPr marL="0" indent="0">
                        <a:buNone/>
                      </a:pPr>
                      <a:r>
                        <a:rPr lang="en-US" sz="1400" dirty="0">
                          <a:solidFill>
                            <a:srgbClr val="121212"/>
                          </a:solidFill>
                          <a:latin typeface="Calibri" pitchFamily="34" charset="0"/>
                          <a:ea typeface="Calibri" pitchFamily="34" charset="-122"/>
                          <a:cs typeface="Calibri" pitchFamily="34" charset="-120"/>
                        </a:rPr>
                        <a:t>order_id</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FFFFFF"/>
                    </a:solidFill>
                  </a:tcPr>
                </a:tc>
                <a:tc>
                  <a:txBody>
                    <a:bodyPr/>
                    <a:lstStyle/>
                    <a:p>
                      <a:pPr marL="0" indent="0">
                        <a:buNone/>
                      </a:pPr>
                      <a:r>
                        <a:rPr lang="en-US" sz="1400" dirty="0">
                          <a:solidFill>
                            <a:srgbClr val="121212"/>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buNone/>
                      </a:pPr>
                      <a:r>
                        <a:rPr lang="en-US" sz="1400" dirty="0">
                          <a:solidFill>
                            <a:srgbClr val="121212"/>
                          </a:solidFill>
                          <a:latin typeface="Calibri" pitchFamily="34" charset="0"/>
                          <a:ea typeface="Calibri" pitchFamily="34" charset="-122"/>
                          <a:cs typeface="Calibri" pitchFamily="34" charset="-120"/>
                        </a:rPr>
                        <a:t>inventory.events</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EEF2F7"/>
                    </a:solidFill>
                  </a:tcPr>
                </a:tc>
                <a:tc>
                  <a:txBody>
                    <a:bodyPr/>
                    <a:lstStyle/>
                    <a:p>
                      <a:pPr marL="0" indent="0">
                        <a:buNone/>
                      </a:pPr>
                      <a:r>
                        <a:rPr lang="en-US" sz="1400" dirty="0">
                          <a:solidFill>
                            <a:srgbClr val="121212"/>
                          </a:solidFill>
                          <a:latin typeface="Calibri" pitchFamily="34" charset="0"/>
                          <a:ea typeface="Calibri" pitchFamily="34" charset="-122"/>
                          <a:cs typeface="Calibri" pitchFamily="34" charset="-120"/>
                        </a:rPr>
                        <a:t>stock snapshots, movements</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EEF2F7"/>
                    </a:solidFill>
                  </a:tcPr>
                </a:tc>
                <a:tc>
                  <a:txBody>
                    <a:bodyPr/>
                    <a:lstStyle/>
                    <a:p>
                      <a:pPr marL="0" indent="0">
                        <a:buNone/>
                      </a:pPr>
                      <a:r>
                        <a:rPr lang="en-US" sz="1400" dirty="0">
                          <a:solidFill>
                            <a:srgbClr val="121212"/>
                          </a:solidFill>
                          <a:latin typeface="Calibri" pitchFamily="34" charset="0"/>
                          <a:ea typeface="Calibri" pitchFamily="34" charset="-122"/>
                          <a:cs typeface="Calibri" pitchFamily="34" charset="-120"/>
                        </a:rPr>
                        <a:t>store_id</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EEF2F7"/>
                    </a:solidFill>
                  </a:tcPr>
                </a:tc>
                <a:tc>
                  <a:txBody>
                    <a:bodyPr/>
                    <a:lstStyle/>
                    <a:p>
                      <a:pPr marL="0" indent="0">
                        <a:buNone/>
                      </a:pPr>
                      <a:r>
                        <a:rPr lang="en-US" sz="1400" dirty="0">
                          <a:solidFill>
                            <a:srgbClr val="121212"/>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bl>
          </a:graphicData>
        </a:graphic>
      </p:graphicFrame>
      <p:sp>
        <p:nvSpPr>
          <p:cNvPr id="15" name="s6-13"/>
          <p:cNvSpPr txBox="1"/>
          <p:nvPr/>
        </p:nvSpPr>
        <p:spPr>
          <a:xfrm>
            <a:off x="5212080" y="4434840"/>
            <a:ext cx="6400800" cy="1828800"/>
          </a:xfrm>
          <a:prstGeom prst="rect">
            <a:avLst/>
          </a:prstGeom>
          <a:noFill/>
          <a:ln/>
        </p:spPr>
        <p:txBody>
          <a:bodyPr wrap="square" lIns="0" tIns="0" rIns="0" bIns="0" rtlCol="0" anchor="t"/>
          <a:lstStyle/>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Keys keep order. </a:t>
            </a:r>
            <a:r>
              <a:rPr lang="en-US" sz="1500" dirty="0">
                <a:solidFill>
                  <a:srgbClr val="121212"/>
                </a:solidFill>
                <a:latin typeface="Calibri" pitchFamily="34" charset="0"/>
                <a:ea typeface="Calibri" pitchFamily="34" charset="-122"/>
                <a:cs typeface="Calibri" pitchFamily="34" charset="-120"/>
              </a:rPr>
              <a:t>All events of a session, or of an order, go to one partition in sequence.</a:t>
            </a:r>
            <a:endParaRPr lang="en-US" sz="15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Producers and the lake never talk to each other. </a:t>
            </a:r>
            <a:r>
              <a:rPr lang="en-US" sz="1500" dirty="0">
                <a:solidFill>
                  <a:srgbClr val="121212"/>
                </a:solidFill>
                <a:latin typeface="Calibri" pitchFamily="34" charset="0"/>
                <a:ea typeface="Calibri" pitchFamily="34" charset="-122"/>
                <a:cs typeface="Calibri" pitchFamily="34" charset="-120"/>
              </a:rPr>
              <a:t>Either side can fail or be replaced.</a:t>
            </a:r>
            <a:endParaRPr lang="en-US" sz="15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Replay is safe. </a:t>
            </a:r>
            <a:r>
              <a:rPr lang="en-US" sz="1500" dirty="0">
                <a:solidFill>
                  <a:srgbClr val="121212"/>
                </a:solidFill>
                <a:latin typeface="Calibri" pitchFamily="34" charset="0"/>
                <a:ea typeface="Calibri" pitchFamily="34" charset="-122"/>
                <a:cs typeface="Calibri" pitchFamily="34" charset="-120"/>
              </a:rPr>
              <a:t>Silver writes are idempotent, so reading a message twice changes nothing.</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7-0"/>
          <p:cNvSpPr txBox="1"/>
          <p:nvPr/>
        </p:nvSpPr>
        <p:spPr>
          <a:xfrm>
            <a:off x="548640" y="274320"/>
            <a:ext cx="8229600" cy="274320"/>
          </a:xfrm>
          <a:prstGeom prst="rect">
            <a:avLst/>
          </a:prstGeom>
          <a:noFill/>
          <a:ln/>
        </p:spPr>
        <p:txBody>
          <a:bodyPr wrap="square" lIns="0" tIns="0" rIns="0" bIns="0" rtlCol="0" anchor="t"/>
          <a:lstStyle/>
          <a:p>
            <a:pPr marL="0" indent="0" algn="l">
              <a:lnSpc>
                <a:spcPct val="100000"/>
              </a:lnSpc>
              <a:buNone/>
            </a:pPr>
            <a:r>
              <a:rPr lang="en-US" sz="1200" b="1" dirty="0">
                <a:solidFill>
                  <a:srgbClr val="5B6578"/>
                </a:solidFill>
                <a:latin typeface="Calibri" pitchFamily="34" charset="0"/>
                <a:ea typeface="Calibri" pitchFamily="34" charset="-122"/>
                <a:cs typeface="Calibri" pitchFamily="34" charset="-120"/>
              </a:rPr>
              <a:t>2  ARCHITECTURE AND DATA ENGINEERING</a:t>
            </a:r>
            <a:endParaRPr lang="en-US" sz="1200" dirty="0"/>
          </a:p>
        </p:txBody>
      </p:sp>
      <p:sp>
        <p:nvSpPr>
          <p:cNvPr id="3" name="s7-1"/>
          <p:cNvSpPr txBox="1"/>
          <p:nvPr/>
        </p:nvSpPr>
        <p:spPr>
          <a:xfrm>
            <a:off x="548640" y="530352"/>
            <a:ext cx="11064240" cy="685800"/>
          </a:xfrm>
          <a:prstGeom prst="rect">
            <a:avLst/>
          </a:prstGeom>
          <a:noFill/>
          <a:ln/>
        </p:spPr>
        <p:txBody>
          <a:bodyPr wrap="square" lIns="0" tIns="0" rIns="0" bIns="0" rtlCol="0" anchor="ctr"/>
          <a:lstStyle/>
          <a:p>
            <a:pPr marL="0" indent="0" algn="l">
              <a:lnSpc>
                <a:spcPct val="100000"/>
              </a:lnSpc>
              <a:buNone/>
            </a:pPr>
            <a:r>
              <a:rPr lang="en-US" sz="3000" b="1" dirty="0">
                <a:solidFill>
                  <a:srgbClr val="0F3D6E"/>
                </a:solidFill>
                <a:latin typeface="Calibri" pitchFamily="34" charset="0"/>
                <a:ea typeface="Calibri" pitchFamily="34" charset="-122"/>
                <a:cs typeface="Calibri" pitchFamily="34" charset="-120"/>
              </a:rPr>
              <a:t>Processing: from a raw message to a trusted row</a:t>
            </a:r>
            <a:endParaRPr lang="en-US" sz="3000" dirty="0"/>
          </a:p>
        </p:txBody>
      </p:sp>
      <p:sp>
        <p:nvSpPr>
          <p:cNvPr id="4" name="s7-2"/>
          <p:cNvSpPr txBox="1"/>
          <p:nvPr/>
        </p:nvSpPr>
        <p:spPr>
          <a:xfrm>
            <a:off x="548640" y="6437376"/>
            <a:ext cx="5486400" cy="274320"/>
          </a:xfrm>
          <a:prstGeom prst="rect">
            <a:avLst/>
          </a:prstGeom>
          <a:noFill/>
          <a:ln/>
        </p:spPr>
        <p:txBody>
          <a:bodyPr wrap="square" lIns="0" tIns="0" rIns="0" bIns="0" rtlCol="0" anchor="t"/>
          <a:lstStyle/>
          <a:p>
            <a:pPr marL="0" indent="0" algn="l">
              <a:lnSpc>
                <a:spcPct val="100000"/>
              </a:lnSpc>
              <a:buNone/>
            </a:pPr>
            <a:r>
              <a:rPr lang="en-US" sz="1000" dirty="0">
                <a:solidFill>
                  <a:srgbClr val="5B6578"/>
                </a:solidFill>
                <a:latin typeface="Calibri" pitchFamily="34" charset="0"/>
                <a:ea typeface="Calibri" pitchFamily="34" charset="-122"/>
                <a:cs typeface="Calibri" pitchFamily="34" charset="-120"/>
              </a:rPr>
              <a:t>FunnelStream</a:t>
            </a:r>
            <a:endParaRPr lang="en-US" sz="1000" dirty="0"/>
          </a:p>
        </p:txBody>
      </p:sp>
      <p:sp>
        <p:nvSpPr>
          <p:cNvPr id="5" name="s7-3"/>
          <p:cNvSpPr txBox="1"/>
          <p:nvPr/>
        </p:nvSpPr>
        <p:spPr>
          <a:xfrm>
            <a:off x="10881360" y="6437376"/>
            <a:ext cx="758952" cy="274320"/>
          </a:xfrm>
          <a:prstGeom prst="rect">
            <a:avLst/>
          </a:prstGeom>
          <a:noFill/>
          <a:ln/>
        </p:spPr>
        <p:txBody>
          <a:bodyPr wrap="square" lIns="0" tIns="0" rIns="0" bIns="0" rtlCol="0" anchor="t"/>
          <a:lstStyle/>
          <a:p>
            <a:pPr marL="0" indent="0" algn="r">
              <a:lnSpc>
                <a:spcPct val="100000"/>
              </a:lnSpc>
              <a:buNone/>
            </a:pPr>
            <a:r>
              <a:rPr lang="en-US" sz="1000" dirty="0">
                <a:solidFill>
                  <a:srgbClr val="5B6578"/>
                </a:solidFill>
                <a:latin typeface="Calibri" pitchFamily="34" charset="0"/>
                <a:ea typeface="Calibri" pitchFamily="34" charset="-122"/>
                <a:cs typeface="Calibri" pitchFamily="34" charset="-120"/>
              </a:rPr>
              <a:t>7</a:t>
            </a:r>
            <a:endParaRPr lang="en-US" sz="1000" dirty="0"/>
          </a:p>
        </p:txBody>
      </p:sp>
      <p:sp>
        <p:nvSpPr>
          <p:cNvPr id="6" name="s7-4"/>
          <p:cNvSpPr txBox="1"/>
          <p:nvPr/>
        </p:nvSpPr>
        <p:spPr>
          <a:xfrm>
            <a:off x="548640" y="1371600"/>
            <a:ext cx="11064240" cy="365760"/>
          </a:xfrm>
          <a:prstGeom prst="rect">
            <a:avLst/>
          </a:prstGeom>
          <a:noFill/>
          <a:ln/>
        </p:spPr>
        <p:txBody>
          <a:bodyPr wrap="square" lIns="0" tIns="0" rIns="0" bIns="0" rtlCol="0" anchor="t"/>
          <a:lstStyle/>
          <a:p>
            <a:pPr marL="0" indent="0" algn="l">
              <a:lnSpc>
                <a:spcPct val="100000"/>
              </a:lnSpc>
              <a:buNone/>
            </a:pPr>
            <a:r>
              <a:rPr lang="en-US" sz="1600" i="1" dirty="0">
                <a:solidFill>
                  <a:srgbClr val="5B6578"/>
                </a:solidFill>
                <a:latin typeface="Calibri" pitchFamily="34" charset="0"/>
                <a:ea typeface="Calibri" pitchFamily="34" charset="-122"/>
                <a:cs typeface="Calibri" pitchFamily="34" charset="-120"/>
              </a:rPr>
              <a:t>One event, end to end: an order_created message on the orders topic</a:t>
            </a:r>
            <a:endParaRPr lang="en-US" sz="1600" dirty="0"/>
          </a:p>
        </p:txBody>
      </p:sp>
      <p:sp>
        <p:nvSpPr>
          <p:cNvPr id="7" name="s7-5"/>
          <p:cNvSpPr/>
          <p:nvPr/>
        </p:nvSpPr>
        <p:spPr>
          <a:xfrm>
            <a:off x="548640" y="1874520"/>
            <a:ext cx="2057400" cy="2514600"/>
          </a:xfrm>
          <a:prstGeom prst="roundRect">
            <a:avLst>
              <a:gd name="adj" fmla="val 5333"/>
            </a:avLst>
          </a:prstGeom>
          <a:solidFill>
            <a:srgbClr val="EEF2F7"/>
          </a:solidFill>
          <a:ln w="12700">
            <a:solidFill>
              <a:srgbClr val="EEF2F7"/>
            </a:solidFill>
            <a:prstDash val="solid"/>
          </a:ln>
        </p:spPr>
        <p:txBody>
          <a:bodyPr/>
          <a:lstStyle/>
          <a:p>
            <a:endParaRPr lang="en-US"/>
          </a:p>
        </p:txBody>
      </p:sp>
      <p:sp>
        <p:nvSpPr>
          <p:cNvPr id="8" name="s7-6"/>
          <p:cNvSpPr/>
          <p:nvPr/>
        </p:nvSpPr>
        <p:spPr>
          <a:xfrm>
            <a:off x="713232" y="2039112"/>
            <a:ext cx="457200" cy="457200"/>
          </a:xfrm>
          <a:prstGeom prst="roundRect">
            <a:avLst>
              <a:gd name="adj" fmla="val 50000"/>
            </a:avLst>
          </a:prstGeom>
          <a:solidFill>
            <a:srgbClr val="1F84FF"/>
          </a:solidFill>
          <a:ln w="12700">
            <a:solidFill>
              <a:srgbClr val="1F84FF"/>
            </a:solidFill>
            <a:prstDash val="solid"/>
          </a:ln>
        </p:spPr>
        <p:txBody>
          <a:bodyPr/>
          <a:lstStyle/>
          <a:p>
            <a:endParaRPr lang="en-US"/>
          </a:p>
        </p:txBody>
      </p:sp>
      <p:sp>
        <p:nvSpPr>
          <p:cNvPr id="9" name="s7-7"/>
          <p:cNvSpPr txBox="1"/>
          <p:nvPr/>
        </p:nvSpPr>
        <p:spPr>
          <a:xfrm>
            <a:off x="713232" y="2039112"/>
            <a:ext cx="457200" cy="457200"/>
          </a:xfrm>
          <a:prstGeom prst="rect">
            <a:avLst/>
          </a:prstGeom>
          <a:noFill/>
          <a:ln/>
        </p:spPr>
        <p:txBody>
          <a:bodyPr wrap="square" lIns="0" tIns="0" rIns="0" bIns="0" rtlCol="0" anchor="ctr"/>
          <a:lstStyle/>
          <a:p>
            <a:pPr marL="0" indent="0" algn="ctr">
              <a:lnSpc>
                <a:spcPct val="100000"/>
              </a:lnSpc>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s7-8"/>
          <p:cNvSpPr txBox="1"/>
          <p:nvPr/>
        </p:nvSpPr>
        <p:spPr>
          <a:xfrm>
            <a:off x="713232" y="2606040"/>
            <a:ext cx="1728216" cy="1737360"/>
          </a:xfrm>
          <a:prstGeom prst="rect">
            <a:avLst/>
          </a:prstGeom>
          <a:noFill/>
          <a:ln/>
        </p:spPr>
        <p:txBody>
          <a:bodyPr wrap="square" lIns="0" tIns="0" rIns="0" bIns="0" rtlCol="0" anchor="t"/>
          <a:lstStyle/>
          <a:p>
            <a:pPr marL="0" indent="0" algn="l">
              <a:lnSpc>
                <a:spcPct val="100000"/>
              </a:lnSpc>
              <a:spcAft>
                <a:spcPts val="300"/>
              </a:spcAft>
              <a:buNone/>
            </a:pPr>
            <a:r>
              <a:rPr lang="en-US" sz="1700" b="1" dirty="0">
                <a:solidFill>
                  <a:srgbClr val="0F3D6E"/>
                </a:solidFill>
                <a:latin typeface="Calibri" pitchFamily="34" charset="0"/>
                <a:ea typeface="Calibri" pitchFamily="34" charset="-122"/>
                <a:cs typeface="Calibri" pitchFamily="34" charset="-120"/>
              </a:rPr>
              <a:t>Kafka</a:t>
            </a:r>
            <a:endParaRPr lang="en-US" sz="1700" dirty="0"/>
          </a:p>
          <a:p>
            <a:pPr marL="0" indent="0" algn="l">
              <a:lnSpc>
                <a:spcPct val="100000"/>
              </a:lnSpc>
              <a:buNone/>
            </a:pPr>
            <a:r>
              <a:rPr lang="en-US" sz="1400" dirty="0">
                <a:solidFill>
                  <a:srgbClr val="121212"/>
                </a:solidFill>
                <a:latin typeface="Calibri" pitchFamily="34" charset="0"/>
                <a:ea typeface="Calibri" pitchFamily="34" charset="-122"/>
                <a:cs typeface="Calibri" pitchFamily="34" charset="-120"/>
              </a:rPr>
              <a:t>A new order. Topic orders, key order_id.</a:t>
            </a:r>
            <a:endParaRPr lang="en-US" sz="1700" dirty="0"/>
          </a:p>
        </p:txBody>
      </p:sp>
      <p:sp>
        <p:nvSpPr>
          <p:cNvPr id="11" name="s7-9"/>
          <p:cNvSpPr/>
          <p:nvPr/>
        </p:nvSpPr>
        <p:spPr>
          <a:xfrm>
            <a:off x="2606040" y="3108960"/>
            <a:ext cx="182880" cy="0"/>
          </a:xfrm>
          <a:prstGeom prst="line">
            <a:avLst/>
          </a:prstGeom>
          <a:noFill/>
          <a:ln w="31750">
            <a:solidFill>
              <a:srgbClr val="0F3D6E"/>
            </a:solidFill>
            <a:prstDash val="solid"/>
            <a:tailEnd type="triangle"/>
          </a:ln>
        </p:spPr>
        <p:txBody>
          <a:bodyPr/>
          <a:lstStyle/>
          <a:p>
            <a:endParaRPr lang="en-US"/>
          </a:p>
        </p:txBody>
      </p:sp>
      <p:sp>
        <p:nvSpPr>
          <p:cNvPr id="12" name="s7-10"/>
          <p:cNvSpPr/>
          <p:nvPr/>
        </p:nvSpPr>
        <p:spPr>
          <a:xfrm>
            <a:off x="2788920" y="1874520"/>
            <a:ext cx="2057400" cy="2514600"/>
          </a:xfrm>
          <a:prstGeom prst="roundRect">
            <a:avLst>
              <a:gd name="adj" fmla="val 5333"/>
            </a:avLst>
          </a:prstGeom>
          <a:solidFill>
            <a:srgbClr val="EEF2F7"/>
          </a:solidFill>
          <a:ln w="12700">
            <a:solidFill>
              <a:srgbClr val="EEF2F7"/>
            </a:solidFill>
            <a:prstDash val="solid"/>
          </a:ln>
        </p:spPr>
        <p:txBody>
          <a:bodyPr/>
          <a:lstStyle/>
          <a:p>
            <a:endParaRPr lang="en-US"/>
          </a:p>
        </p:txBody>
      </p:sp>
      <p:sp>
        <p:nvSpPr>
          <p:cNvPr id="13" name="s7-11"/>
          <p:cNvSpPr/>
          <p:nvPr/>
        </p:nvSpPr>
        <p:spPr>
          <a:xfrm>
            <a:off x="2953512" y="2039112"/>
            <a:ext cx="457200" cy="457200"/>
          </a:xfrm>
          <a:prstGeom prst="roundRect">
            <a:avLst>
              <a:gd name="adj" fmla="val 50000"/>
            </a:avLst>
          </a:prstGeom>
          <a:solidFill>
            <a:srgbClr val="C77B3B"/>
          </a:solidFill>
          <a:ln w="12700">
            <a:solidFill>
              <a:srgbClr val="C77B3B"/>
            </a:solidFill>
            <a:prstDash val="solid"/>
          </a:ln>
        </p:spPr>
        <p:txBody>
          <a:bodyPr/>
          <a:lstStyle/>
          <a:p>
            <a:endParaRPr lang="en-US"/>
          </a:p>
        </p:txBody>
      </p:sp>
      <p:sp>
        <p:nvSpPr>
          <p:cNvPr id="14" name="s7-12"/>
          <p:cNvSpPr txBox="1"/>
          <p:nvPr/>
        </p:nvSpPr>
        <p:spPr>
          <a:xfrm>
            <a:off x="2953512" y="2039112"/>
            <a:ext cx="457200" cy="457200"/>
          </a:xfrm>
          <a:prstGeom prst="rect">
            <a:avLst/>
          </a:prstGeom>
          <a:noFill/>
          <a:ln/>
        </p:spPr>
        <p:txBody>
          <a:bodyPr wrap="square" lIns="0" tIns="0" rIns="0" bIns="0" rtlCol="0" anchor="ctr"/>
          <a:lstStyle/>
          <a:p>
            <a:pPr marL="0" indent="0" algn="ctr">
              <a:lnSpc>
                <a:spcPct val="100000"/>
              </a:lnSpc>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s7-13"/>
          <p:cNvSpPr txBox="1"/>
          <p:nvPr/>
        </p:nvSpPr>
        <p:spPr>
          <a:xfrm>
            <a:off x="2953512" y="2606040"/>
            <a:ext cx="1728216" cy="1737360"/>
          </a:xfrm>
          <a:prstGeom prst="rect">
            <a:avLst/>
          </a:prstGeom>
          <a:noFill/>
          <a:ln/>
        </p:spPr>
        <p:txBody>
          <a:bodyPr wrap="square" lIns="0" tIns="0" rIns="0" bIns="0" rtlCol="0" anchor="t"/>
          <a:lstStyle/>
          <a:p>
            <a:pPr marL="0" indent="0" algn="l">
              <a:lnSpc>
                <a:spcPct val="100000"/>
              </a:lnSpc>
              <a:spcAft>
                <a:spcPts val="300"/>
              </a:spcAft>
              <a:buNone/>
            </a:pPr>
            <a:r>
              <a:rPr lang="en-US" sz="1700" b="1" dirty="0">
                <a:solidFill>
                  <a:srgbClr val="0F3D6E"/>
                </a:solidFill>
                <a:latin typeface="Calibri" pitchFamily="34" charset="0"/>
                <a:ea typeface="Calibri" pitchFamily="34" charset="-122"/>
                <a:cs typeface="Calibri" pitchFamily="34" charset="-120"/>
              </a:rPr>
              <a:t>Bronze</a:t>
            </a:r>
            <a:endParaRPr lang="en-US" sz="1700" dirty="0"/>
          </a:p>
          <a:p>
            <a:pPr marL="0" indent="0" algn="l">
              <a:lnSpc>
                <a:spcPct val="100000"/>
              </a:lnSpc>
              <a:buNone/>
            </a:pPr>
            <a:r>
              <a:rPr lang="en-US" sz="1400" dirty="0">
                <a:solidFill>
                  <a:srgbClr val="121212"/>
                </a:solidFill>
                <a:latin typeface="Calibri" pitchFamily="34" charset="0"/>
                <a:ea typeface="Calibri" pitchFamily="34" charset="-122"/>
                <a:cs typeface="Calibri" pitchFamily="34" charset="-120"/>
              </a:rPr>
              <a:t>Raw value plus partition, offset and ingest time. Nothing changed, nothing dropped.</a:t>
            </a:r>
            <a:endParaRPr lang="en-US" sz="1700" dirty="0"/>
          </a:p>
        </p:txBody>
      </p:sp>
      <p:sp>
        <p:nvSpPr>
          <p:cNvPr id="16" name="s7-14"/>
          <p:cNvSpPr/>
          <p:nvPr/>
        </p:nvSpPr>
        <p:spPr>
          <a:xfrm>
            <a:off x="4846320" y="3108960"/>
            <a:ext cx="182880" cy="0"/>
          </a:xfrm>
          <a:prstGeom prst="line">
            <a:avLst/>
          </a:prstGeom>
          <a:noFill/>
          <a:ln w="31750">
            <a:solidFill>
              <a:srgbClr val="0F3D6E"/>
            </a:solidFill>
            <a:prstDash val="solid"/>
            <a:tailEnd type="triangle"/>
          </a:ln>
        </p:spPr>
        <p:txBody>
          <a:bodyPr/>
          <a:lstStyle/>
          <a:p>
            <a:endParaRPr lang="en-US"/>
          </a:p>
        </p:txBody>
      </p:sp>
      <p:sp>
        <p:nvSpPr>
          <p:cNvPr id="17" name="s7-15"/>
          <p:cNvSpPr/>
          <p:nvPr/>
        </p:nvSpPr>
        <p:spPr>
          <a:xfrm>
            <a:off x="5029200" y="1874520"/>
            <a:ext cx="2057400" cy="2514600"/>
          </a:xfrm>
          <a:prstGeom prst="roundRect">
            <a:avLst>
              <a:gd name="adj" fmla="val 5333"/>
            </a:avLst>
          </a:prstGeom>
          <a:solidFill>
            <a:srgbClr val="EEF2F7"/>
          </a:solidFill>
          <a:ln w="12700">
            <a:solidFill>
              <a:srgbClr val="EEF2F7"/>
            </a:solidFill>
            <a:prstDash val="solid"/>
          </a:ln>
        </p:spPr>
        <p:txBody>
          <a:bodyPr/>
          <a:lstStyle/>
          <a:p>
            <a:endParaRPr lang="en-US"/>
          </a:p>
        </p:txBody>
      </p:sp>
      <p:sp>
        <p:nvSpPr>
          <p:cNvPr id="18" name="s7-16"/>
          <p:cNvSpPr/>
          <p:nvPr/>
        </p:nvSpPr>
        <p:spPr>
          <a:xfrm>
            <a:off x="5193792" y="2039112"/>
            <a:ext cx="457200" cy="457200"/>
          </a:xfrm>
          <a:prstGeom prst="roundRect">
            <a:avLst>
              <a:gd name="adj" fmla="val 50000"/>
            </a:avLst>
          </a:prstGeom>
          <a:solidFill>
            <a:srgbClr val="BB4A4A"/>
          </a:solidFill>
          <a:ln w="12700">
            <a:solidFill>
              <a:srgbClr val="BB4A4A"/>
            </a:solidFill>
            <a:prstDash val="solid"/>
          </a:ln>
        </p:spPr>
        <p:txBody>
          <a:bodyPr/>
          <a:lstStyle/>
          <a:p>
            <a:endParaRPr lang="en-US"/>
          </a:p>
        </p:txBody>
      </p:sp>
      <p:sp>
        <p:nvSpPr>
          <p:cNvPr id="19" name="s7-17"/>
          <p:cNvSpPr txBox="1"/>
          <p:nvPr/>
        </p:nvSpPr>
        <p:spPr>
          <a:xfrm>
            <a:off x="5193792" y="2039112"/>
            <a:ext cx="457200" cy="457200"/>
          </a:xfrm>
          <a:prstGeom prst="rect">
            <a:avLst/>
          </a:prstGeom>
          <a:noFill/>
          <a:ln/>
        </p:spPr>
        <p:txBody>
          <a:bodyPr wrap="square" lIns="0" tIns="0" rIns="0" bIns="0" rtlCol="0" anchor="ctr"/>
          <a:lstStyle/>
          <a:p>
            <a:pPr marL="0" indent="0" algn="ctr">
              <a:lnSpc>
                <a:spcPct val="100000"/>
              </a:lnSpc>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7-18"/>
          <p:cNvSpPr txBox="1"/>
          <p:nvPr/>
        </p:nvSpPr>
        <p:spPr>
          <a:xfrm>
            <a:off x="5193792" y="2606040"/>
            <a:ext cx="1728216" cy="1737360"/>
          </a:xfrm>
          <a:prstGeom prst="rect">
            <a:avLst/>
          </a:prstGeom>
          <a:noFill/>
          <a:ln/>
        </p:spPr>
        <p:txBody>
          <a:bodyPr wrap="square" lIns="0" tIns="0" rIns="0" bIns="0" rtlCol="0" anchor="t"/>
          <a:lstStyle/>
          <a:p>
            <a:pPr marL="0" indent="0" algn="l">
              <a:lnSpc>
                <a:spcPct val="100000"/>
              </a:lnSpc>
              <a:spcAft>
                <a:spcPts val="300"/>
              </a:spcAft>
              <a:buNone/>
            </a:pPr>
            <a:r>
              <a:rPr lang="en-US" sz="1700" b="1" dirty="0">
                <a:solidFill>
                  <a:srgbClr val="0F3D6E"/>
                </a:solidFill>
                <a:latin typeface="Calibri" pitchFamily="34" charset="0"/>
                <a:ea typeface="Calibri" pitchFamily="34" charset="-122"/>
                <a:cs typeface="Calibri" pitchFamily="34" charset="-120"/>
              </a:rPr>
              <a:t>Validate</a:t>
            </a:r>
            <a:endParaRPr lang="en-US" sz="1700" dirty="0"/>
          </a:p>
          <a:p>
            <a:pPr marL="0" indent="0" algn="l">
              <a:lnSpc>
                <a:spcPct val="100000"/>
              </a:lnSpc>
              <a:buNone/>
            </a:pPr>
            <a:r>
              <a:rPr lang="en-US" sz="1400" dirty="0">
                <a:solidFill>
                  <a:srgbClr val="121212"/>
                </a:solidFill>
                <a:latin typeface="Calibri" pitchFamily="34" charset="0"/>
                <a:ea typeface="Calibri" pitchFamily="34" charset="-122"/>
                <a:cs typeface="Calibri" pitchFamily="34" charset="-120"/>
              </a:rPr>
              <a:t>Schema contract per event type. A bad row goes to quarantine with an error code.</a:t>
            </a:r>
            <a:endParaRPr lang="en-US" sz="1700" dirty="0"/>
          </a:p>
        </p:txBody>
      </p:sp>
      <p:sp>
        <p:nvSpPr>
          <p:cNvPr id="21" name="s7-19"/>
          <p:cNvSpPr/>
          <p:nvPr/>
        </p:nvSpPr>
        <p:spPr>
          <a:xfrm>
            <a:off x="7086600" y="3108960"/>
            <a:ext cx="182880" cy="0"/>
          </a:xfrm>
          <a:prstGeom prst="line">
            <a:avLst/>
          </a:prstGeom>
          <a:noFill/>
          <a:ln w="31750">
            <a:solidFill>
              <a:srgbClr val="0F3D6E"/>
            </a:solidFill>
            <a:prstDash val="solid"/>
            <a:tailEnd type="triangle"/>
          </a:ln>
        </p:spPr>
        <p:txBody>
          <a:bodyPr/>
          <a:lstStyle/>
          <a:p>
            <a:endParaRPr lang="en-US"/>
          </a:p>
        </p:txBody>
      </p:sp>
      <p:sp>
        <p:nvSpPr>
          <p:cNvPr id="22" name="s7-20"/>
          <p:cNvSpPr/>
          <p:nvPr/>
        </p:nvSpPr>
        <p:spPr>
          <a:xfrm>
            <a:off x="7269480" y="1874520"/>
            <a:ext cx="2057400" cy="2514600"/>
          </a:xfrm>
          <a:prstGeom prst="roundRect">
            <a:avLst>
              <a:gd name="adj" fmla="val 5333"/>
            </a:avLst>
          </a:prstGeom>
          <a:solidFill>
            <a:srgbClr val="EEF2F7"/>
          </a:solidFill>
          <a:ln w="12700">
            <a:solidFill>
              <a:srgbClr val="EEF2F7"/>
            </a:solidFill>
            <a:prstDash val="solid"/>
          </a:ln>
        </p:spPr>
        <p:txBody>
          <a:bodyPr/>
          <a:lstStyle/>
          <a:p>
            <a:endParaRPr lang="en-US"/>
          </a:p>
        </p:txBody>
      </p:sp>
      <p:sp>
        <p:nvSpPr>
          <p:cNvPr id="23" name="s7-21"/>
          <p:cNvSpPr/>
          <p:nvPr/>
        </p:nvSpPr>
        <p:spPr>
          <a:xfrm>
            <a:off x="7434072" y="2039112"/>
            <a:ext cx="457200" cy="457200"/>
          </a:xfrm>
          <a:prstGeom prst="roundRect">
            <a:avLst>
              <a:gd name="adj" fmla="val 50000"/>
            </a:avLst>
          </a:prstGeom>
          <a:solidFill>
            <a:srgbClr val="5B6B80"/>
          </a:solidFill>
          <a:ln w="12700">
            <a:solidFill>
              <a:srgbClr val="5B6B80"/>
            </a:solidFill>
            <a:prstDash val="solid"/>
          </a:ln>
        </p:spPr>
        <p:txBody>
          <a:bodyPr/>
          <a:lstStyle/>
          <a:p>
            <a:endParaRPr lang="en-US"/>
          </a:p>
        </p:txBody>
      </p:sp>
      <p:sp>
        <p:nvSpPr>
          <p:cNvPr id="24" name="s7-22"/>
          <p:cNvSpPr txBox="1"/>
          <p:nvPr/>
        </p:nvSpPr>
        <p:spPr>
          <a:xfrm>
            <a:off x="7434072" y="2039112"/>
            <a:ext cx="457200" cy="457200"/>
          </a:xfrm>
          <a:prstGeom prst="rect">
            <a:avLst/>
          </a:prstGeom>
          <a:noFill/>
          <a:ln/>
        </p:spPr>
        <p:txBody>
          <a:bodyPr wrap="square" lIns="0" tIns="0" rIns="0" bIns="0" rtlCol="0" anchor="ctr"/>
          <a:lstStyle/>
          <a:p>
            <a:pPr marL="0" indent="0" algn="ctr">
              <a:lnSpc>
                <a:spcPct val="100000"/>
              </a:lnSpc>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5" name="s7-23"/>
          <p:cNvSpPr txBox="1"/>
          <p:nvPr/>
        </p:nvSpPr>
        <p:spPr>
          <a:xfrm>
            <a:off x="7434072" y="2606040"/>
            <a:ext cx="1728216" cy="1737360"/>
          </a:xfrm>
          <a:prstGeom prst="rect">
            <a:avLst/>
          </a:prstGeom>
          <a:noFill/>
          <a:ln/>
        </p:spPr>
        <p:txBody>
          <a:bodyPr wrap="square" lIns="0" tIns="0" rIns="0" bIns="0" rtlCol="0" anchor="t"/>
          <a:lstStyle/>
          <a:p>
            <a:pPr marL="0" indent="0" algn="l">
              <a:lnSpc>
                <a:spcPct val="100000"/>
              </a:lnSpc>
              <a:spcAft>
                <a:spcPts val="300"/>
              </a:spcAft>
              <a:buNone/>
            </a:pPr>
            <a:r>
              <a:rPr lang="en-US" sz="1700" b="1" dirty="0">
                <a:solidFill>
                  <a:srgbClr val="0F3D6E"/>
                </a:solidFill>
                <a:latin typeface="Calibri" pitchFamily="34" charset="0"/>
                <a:ea typeface="Calibri" pitchFamily="34" charset="-122"/>
                <a:cs typeface="Calibri" pitchFamily="34" charset="-120"/>
              </a:rPr>
              <a:t>Silver</a:t>
            </a:r>
            <a:endParaRPr lang="en-US" sz="1700" dirty="0"/>
          </a:p>
          <a:p>
            <a:pPr marL="0" indent="0" algn="l">
              <a:lnSpc>
                <a:spcPct val="100000"/>
              </a:lnSpc>
              <a:buNone/>
            </a:pPr>
            <a:r>
              <a:rPr lang="en-US" sz="1400" dirty="0">
                <a:solidFill>
                  <a:srgbClr val="121212"/>
                </a:solidFill>
                <a:latin typeface="Calibri" pitchFamily="34" charset="0"/>
                <a:ea typeface="Calibri" pitchFamily="34" charset="-122"/>
                <a:cs typeface="Calibri" pitchFamily="34" charset="-120"/>
              </a:rPr>
              <a:t>Typed, UTC, deduplicated on event_id, written with a Delta MERGE. Status by rank.</a:t>
            </a:r>
            <a:endParaRPr lang="en-US" sz="1700" dirty="0"/>
          </a:p>
        </p:txBody>
      </p:sp>
      <p:sp>
        <p:nvSpPr>
          <p:cNvPr id="26" name="s7-24"/>
          <p:cNvSpPr/>
          <p:nvPr/>
        </p:nvSpPr>
        <p:spPr>
          <a:xfrm>
            <a:off x="9326880" y="3108960"/>
            <a:ext cx="182880" cy="0"/>
          </a:xfrm>
          <a:prstGeom prst="line">
            <a:avLst/>
          </a:prstGeom>
          <a:noFill/>
          <a:ln w="31750">
            <a:solidFill>
              <a:srgbClr val="0F3D6E"/>
            </a:solidFill>
            <a:prstDash val="solid"/>
            <a:tailEnd type="triangle"/>
          </a:ln>
        </p:spPr>
        <p:txBody>
          <a:bodyPr/>
          <a:lstStyle/>
          <a:p>
            <a:endParaRPr lang="en-US"/>
          </a:p>
        </p:txBody>
      </p:sp>
      <p:sp>
        <p:nvSpPr>
          <p:cNvPr id="27" name="s7-25"/>
          <p:cNvSpPr/>
          <p:nvPr/>
        </p:nvSpPr>
        <p:spPr>
          <a:xfrm>
            <a:off x="9509760" y="1874520"/>
            <a:ext cx="2057400" cy="2514600"/>
          </a:xfrm>
          <a:prstGeom prst="roundRect">
            <a:avLst>
              <a:gd name="adj" fmla="val 5333"/>
            </a:avLst>
          </a:prstGeom>
          <a:solidFill>
            <a:srgbClr val="EEF2F7"/>
          </a:solidFill>
          <a:ln w="12700">
            <a:solidFill>
              <a:srgbClr val="EEF2F7"/>
            </a:solidFill>
            <a:prstDash val="solid"/>
          </a:ln>
        </p:spPr>
        <p:txBody>
          <a:bodyPr/>
          <a:lstStyle/>
          <a:p>
            <a:endParaRPr lang="en-US"/>
          </a:p>
        </p:txBody>
      </p:sp>
      <p:sp>
        <p:nvSpPr>
          <p:cNvPr id="28" name="s7-26"/>
          <p:cNvSpPr/>
          <p:nvPr/>
        </p:nvSpPr>
        <p:spPr>
          <a:xfrm>
            <a:off x="9674352" y="2039112"/>
            <a:ext cx="457200" cy="457200"/>
          </a:xfrm>
          <a:prstGeom prst="roundRect">
            <a:avLst>
              <a:gd name="adj" fmla="val 50000"/>
            </a:avLst>
          </a:prstGeom>
          <a:solidFill>
            <a:srgbClr val="59A472"/>
          </a:solidFill>
          <a:ln w="12700">
            <a:solidFill>
              <a:srgbClr val="59A472"/>
            </a:solidFill>
            <a:prstDash val="solid"/>
          </a:ln>
        </p:spPr>
        <p:txBody>
          <a:bodyPr/>
          <a:lstStyle/>
          <a:p>
            <a:endParaRPr lang="en-US"/>
          </a:p>
        </p:txBody>
      </p:sp>
      <p:sp>
        <p:nvSpPr>
          <p:cNvPr id="29" name="s7-27"/>
          <p:cNvSpPr txBox="1"/>
          <p:nvPr/>
        </p:nvSpPr>
        <p:spPr>
          <a:xfrm>
            <a:off x="9674352" y="2039112"/>
            <a:ext cx="457200" cy="457200"/>
          </a:xfrm>
          <a:prstGeom prst="rect">
            <a:avLst/>
          </a:prstGeom>
          <a:noFill/>
          <a:ln/>
        </p:spPr>
        <p:txBody>
          <a:bodyPr wrap="square" lIns="0" tIns="0" rIns="0" bIns="0" rtlCol="0" anchor="ctr"/>
          <a:lstStyle/>
          <a:p>
            <a:pPr marL="0" indent="0" algn="ctr">
              <a:lnSpc>
                <a:spcPct val="100000"/>
              </a:lnSpc>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0" name="s7-28"/>
          <p:cNvSpPr txBox="1"/>
          <p:nvPr/>
        </p:nvSpPr>
        <p:spPr>
          <a:xfrm>
            <a:off x="9674352" y="2606040"/>
            <a:ext cx="1728216" cy="1737360"/>
          </a:xfrm>
          <a:prstGeom prst="rect">
            <a:avLst/>
          </a:prstGeom>
          <a:noFill/>
          <a:ln/>
        </p:spPr>
        <p:txBody>
          <a:bodyPr wrap="square" lIns="0" tIns="0" rIns="0" bIns="0" rtlCol="0" anchor="t"/>
          <a:lstStyle/>
          <a:p>
            <a:pPr marL="0" indent="0" algn="l">
              <a:lnSpc>
                <a:spcPct val="100000"/>
              </a:lnSpc>
              <a:spcAft>
                <a:spcPts val="300"/>
              </a:spcAft>
              <a:buNone/>
            </a:pPr>
            <a:r>
              <a:rPr lang="en-US" sz="1700" b="1" dirty="0">
                <a:solidFill>
                  <a:srgbClr val="0F3D6E"/>
                </a:solidFill>
                <a:latin typeface="Calibri" pitchFamily="34" charset="0"/>
                <a:ea typeface="Calibri" pitchFamily="34" charset="-122"/>
                <a:cs typeface="Calibri" pitchFamily="34" charset="-120"/>
              </a:rPr>
              <a:t>Consumers</a:t>
            </a:r>
            <a:endParaRPr lang="en-US" sz="1700" dirty="0"/>
          </a:p>
          <a:p>
            <a:pPr marL="0" indent="0" algn="l">
              <a:lnSpc>
                <a:spcPct val="100000"/>
              </a:lnSpc>
              <a:buNone/>
            </a:pPr>
            <a:r>
              <a:rPr lang="en-US" sz="1400" dirty="0">
                <a:solidFill>
                  <a:srgbClr val="121212"/>
                </a:solidFill>
                <a:latin typeface="Calibri" pitchFamily="34" charset="0"/>
                <a:ea typeface="Calibri" pitchFamily="34" charset="-122"/>
                <a:cs typeface="Calibri" pitchFamily="34" charset="-120"/>
              </a:rPr>
              <a:t>Live sink: Postgres within a minute. Publish: Databricks, then Gold.</a:t>
            </a:r>
            <a:endParaRPr lang="en-US" sz="1700" dirty="0"/>
          </a:p>
        </p:txBody>
      </p:sp>
      <p:sp>
        <p:nvSpPr>
          <p:cNvPr id="31" name="s7-29"/>
          <p:cNvSpPr txBox="1"/>
          <p:nvPr/>
        </p:nvSpPr>
        <p:spPr>
          <a:xfrm>
            <a:off x="548640" y="4572000"/>
            <a:ext cx="11064240" cy="274320"/>
          </a:xfrm>
          <a:prstGeom prst="rect">
            <a:avLst/>
          </a:prstGeom>
          <a:noFill/>
          <a:ln/>
        </p:spPr>
        <p:txBody>
          <a:bodyPr wrap="square" lIns="0" tIns="0" rIns="0" bIns="0" rtlCol="0" anchor="t"/>
          <a:lstStyle/>
          <a:p>
            <a:pPr marL="0" indent="0" algn="l">
              <a:lnSpc>
                <a:spcPct val="100000"/>
              </a:lnSpc>
              <a:buNone/>
            </a:pPr>
            <a:r>
              <a:rPr lang="en-US" sz="1400" b="1" dirty="0">
                <a:solidFill>
                  <a:srgbClr val="0F3D6E"/>
                </a:solidFill>
                <a:latin typeface="Calibri" pitchFamily="34" charset="0"/>
                <a:ea typeface="Calibri" pitchFamily="34" charset="-122"/>
                <a:cs typeface="Calibri" pitchFamily="34" charset="-120"/>
              </a:rPr>
              <a:t>Rejected rows go to quarantine with one of these reasons</a:t>
            </a:r>
            <a:endParaRPr lang="en-US" sz="1400" dirty="0"/>
          </a:p>
        </p:txBody>
      </p:sp>
      <p:sp>
        <p:nvSpPr>
          <p:cNvPr id="32" name="s7-30"/>
          <p:cNvSpPr/>
          <p:nvPr/>
        </p:nvSpPr>
        <p:spPr>
          <a:xfrm>
            <a:off x="548640" y="4937760"/>
            <a:ext cx="1234440" cy="365760"/>
          </a:xfrm>
          <a:prstGeom prst="roundRect">
            <a:avLst>
              <a:gd name="adj" fmla="val 50000"/>
            </a:avLst>
          </a:prstGeom>
          <a:solidFill>
            <a:srgbClr val="F9E0E0"/>
          </a:solidFill>
          <a:ln w="12700">
            <a:solidFill>
              <a:srgbClr val="F9E0E0"/>
            </a:solidFill>
            <a:prstDash val="solid"/>
          </a:ln>
        </p:spPr>
        <p:txBody>
          <a:bodyPr/>
          <a:lstStyle/>
          <a:p>
            <a:endParaRPr lang="en-US"/>
          </a:p>
        </p:txBody>
      </p:sp>
      <p:sp>
        <p:nvSpPr>
          <p:cNvPr id="33" name="s7-31"/>
          <p:cNvSpPr txBox="1"/>
          <p:nvPr/>
        </p:nvSpPr>
        <p:spPr>
          <a:xfrm>
            <a:off x="548640" y="4937760"/>
            <a:ext cx="1234440" cy="365760"/>
          </a:xfrm>
          <a:prstGeom prst="rect">
            <a:avLst/>
          </a:prstGeom>
          <a:noFill/>
          <a:ln/>
        </p:spPr>
        <p:txBody>
          <a:bodyPr wrap="square" lIns="0" tIns="0" rIns="0" bIns="0" rtlCol="0" anchor="ctr"/>
          <a:lstStyle/>
          <a:p>
            <a:pPr marL="0" indent="0" algn="ctr">
              <a:lnSpc>
                <a:spcPct val="100000"/>
              </a:lnSpc>
              <a:buNone/>
            </a:pPr>
            <a:r>
              <a:rPr lang="en-US" sz="1100" b="1" dirty="0">
                <a:solidFill>
                  <a:srgbClr val="BB4A4A"/>
                </a:solidFill>
                <a:latin typeface="Consolas" pitchFamily="34" charset="0"/>
                <a:ea typeface="Consolas" pitchFamily="34" charset="-122"/>
                <a:cs typeface="Consolas" pitchFamily="34" charset="-120"/>
              </a:rPr>
              <a:t>BAD_JSON</a:t>
            </a:r>
            <a:endParaRPr lang="en-US" sz="1100" dirty="0"/>
          </a:p>
        </p:txBody>
      </p:sp>
      <p:sp>
        <p:nvSpPr>
          <p:cNvPr id="34" name="s7-32"/>
          <p:cNvSpPr/>
          <p:nvPr/>
        </p:nvSpPr>
        <p:spPr>
          <a:xfrm>
            <a:off x="1805940" y="4937760"/>
            <a:ext cx="1554480" cy="365760"/>
          </a:xfrm>
          <a:prstGeom prst="roundRect">
            <a:avLst>
              <a:gd name="adj" fmla="val 50000"/>
            </a:avLst>
          </a:prstGeom>
          <a:solidFill>
            <a:srgbClr val="F9E0E0"/>
          </a:solidFill>
          <a:ln w="12700">
            <a:solidFill>
              <a:srgbClr val="F9E0E0"/>
            </a:solidFill>
            <a:prstDash val="solid"/>
          </a:ln>
        </p:spPr>
        <p:txBody>
          <a:bodyPr/>
          <a:lstStyle/>
          <a:p>
            <a:endParaRPr lang="en-US"/>
          </a:p>
        </p:txBody>
      </p:sp>
      <p:sp>
        <p:nvSpPr>
          <p:cNvPr id="35" name="s7-33"/>
          <p:cNvSpPr txBox="1"/>
          <p:nvPr/>
        </p:nvSpPr>
        <p:spPr>
          <a:xfrm>
            <a:off x="1805940" y="4937760"/>
            <a:ext cx="1554480" cy="365760"/>
          </a:xfrm>
          <a:prstGeom prst="rect">
            <a:avLst/>
          </a:prstGeom>
          <a:noFill/>
          <a:ln/>
        </p:spPr>
        <p:txBody>
          <a:bodyPr wrap="square" lIns="0" tIns="0" rIns="0" bIns="0" rtlCol="0" anchor="ctr"/>
          <a:lstStyle/>
          <a:p>
            <a:pPr marL="0" indent="0" algn="ctr">
              <a:lnSpc>
                <a:spcPct val="100000"/>
              </a:lnSpc>
              <a:buNone/>
            </a:pPr>
            <a:r>
              <a:rPr lang="en-US" sz="1100" b="1" dirty="0">
                <a:solidFill>
                  <a:srgbClr val="BB4A4A"/>
                </a:solidFill>
                <a:latin typeface="Consolas" pitchFamily="34" charset="0"/>
                <a:ea typeface="Consolas" pitchFamily="34" charset="-122"/>
                <a:cs typeface="Consolas" pitchFamily="34" charset="-120"/>
              </a:rPr>
              <a:t>MISSING_FIELD</a:t>
            </a:r>
            <a:endParaRPr lang="en-US" sz="1100" dirty="0"/>
          </a:p>
        </p:txBody>
      </p:sp>
      <p:sp>
        <p:nvSpPr>
          <p:cNvPr id="36" name="s7-34"/>
          <p:cNvSpPr/>
          <p:nvPr/>
        </p:nvSpPr>
        <p:spPr>
          <a:xfrm>
            <a:off x="3383280" y="4937760"/>
            <a:ext cx="2103120" cy="365760"/>
          </a:xfrm>
          <a:prstGeom prst="roundRect">
            <a:avLst>
              <a:gd name="adj" fmla="val 50000"/>
            </a:avLst>
          </a:prstGeom>
          <a:solidFill>
            <a:srgbClr val="F9E0E0"/>
          </a:solidFill>
          <a:ln w="12700">
            <a:solidFill>
              <a:srgbClr val="F9E0E0"/>
            </a:solidFill>
            <a:prstDash val="solid"/>
          </a:ln>
        </p:spPr>
        <p:txBody>
          <a:bodyPr/>
          <a:lstStyle/>
          <a:p>
            <a:endParaRPr lang="en-US"/>
          </a:p>
        </p:txBody>
      </p:sp>
      <p:sp>
        <p:nvSpPr>
          <p:cNvPr id="37" name="s7-35"/>
          <p:cNvSpPr txBox="1"/>
          <p:nvPr/>
        </p:nvSpPr>
        <p:spPr>
          <a:xfrm>
            <a:off x="3383280" y="4937760"/>
            <a:ext cx="2103120" cy="365760"/>
          </a:xfrm>
          <a:prstGeom prst="rect">
            <a:avLst/>
          </a:prstGeom>
          <a:noFill/>
          <a:ln/>
        </p:spPr>
        <p:txBody>
          <a:bodyPr wrap="square" lIns="0" tIns="0" rIns="0" bIns="0" rtlCol="0" anchor="ctr"/>
          <a:lstStyle/>
          <a:p>
            <a:pPr marL="0" indent="0" algn="ctr">
              <a:lnSpc>
                <a:spcPct val="100000"/>
              </a:lnSpc>
              <a:buNone/>
            </a:pPr>
            <a:r>
              <a:rPr lang="en-US" sz="1100" b="1" dirty="0">
                <a:solidFill>
                  <a:srgbClr val="BB4A4A"/>
                </a:solidFill>
                <a:latin typeface="Consolas" pitchFamily="34" charset="0"/>
                <a:ea typeface="Consolas" pitchFamily="34" charset="-122"/>
                <a:cs typeface="Consolas" pitchFamily="34" charset="-120"/>
              </a:rPr>
              <a:t>UNKNOWN_EVENT_TYPE</a:t>
            </a:r>
            <a:endParaRPr lang="en-US" sz="1100" dirty="0"/>
          </a:p>
        </p:txBody>
      </p:sp>
      <p:sp>
        <p:nvSpPr>
          <p:cNvPr id="38" name="s7-36"/>
          <p:cNvSpPr/>
          <p:nvPr/>
        </p:nvSpPr>
        <p:spPr>
          <a:xfrm>
            <a:off x="5509260" y="4937760"/>
            <a:ext cx="1280160" cy="365760"/>
          </a:xfrm>
          <a:prstGeom prst="roundRect">
            <a:avLst>
              <a:gd name="adj" fmla="val 50000"/>
            </a:avLst>
          </a:prstGeom>
          <a:solidFill>
            <a:srgbClr val="F9E0E0"/>
          </a:solidFill>
          <a:ln w="12700">
            <a:solidFill>
              <a:srgbClr val="F9E0E0"/>
            </a:solidFill>
            <a:prstDash val="solid"/>
          </a:ln>
        </p:spPr>
        <p:txBody>
          <a:bodyPr/>
          <a:lstStyle/>
          <a:p>
            <a:endParaRPr lang="en-US"/>
          </a:p>
        </p:txBody>
      </p:sp>
      <p:sp>
        <p:nvSpPr>
          <p:cNvPr id="39" name="s7-37"/>
          <p:cNvSpPr txBox="1"/>
          <p:nvPr/>
        </p:nvSpPr>
        <p:spPr>
          <a:xfrm>
            <a:off x="5509260" y="4937760"/>
            <a:ext cx="1280160" cy="365760"/>
          </a:xfrm>
          <a:prstGeom prst="rect">
            <a:avLst/>
          </a:prstGeom>
          <a:noFill/>
          <a:ln/>
        </p:spPr>
        <p:txBody>
          <a:bodyPr wrap="square" lIns="0" tIns="0" rIns="0" bIns="0" rtlCol="0" anchor="ctr"/>
          <a:lstStyle/>
          <a:p>
            <a:pPr marL="0" indent="0" algn="ctr">
              <a:lnSpc>
                <a:spcPct val="100000"/>
              </a:lnSpc>
              <a:buNone/>
            </a:pPr>
            <a:r>
              <a:rPr lang="en-US" sz="1100" b="1" dirty="0">
                <a:solidFill>
                  <a:srgbClr val="BB4A4A"/>
                </a:solidFill>
                <a:latin typeface="Consolas" pitchFamily="34" charset="0"/>
                <a:ea typeface="Consolas" pitchFamily="34" charset="-122"/>
                <a:cs typeface="Consolas" pitchFamily="34" charset="-120"/>
              </a:rPr>
              <a:t>BAD_VERSION</a:t>
            </a:r>
            <a:endParaRPr lang="en-US" sz="1100" dirty="0"/>
          </a:p>
        </p:txBody>
      </p:sp>
      <p:sp>
        <p:nvSpPr>
          <p:cNvPr id="40" name="s7-38"/>
          <p:cNvSpPr/>
          <p:nvPr/>
        </p:nvSpPr>
        <p:spPr>
          <a:xfrm>
            <a:off x="6812280" y="4937760"/>
            <a:ext cx="1508760" cy="365760"/>
          </a:xfrm>
          <a:prstGeom prst="roundRect">
            <a:avLst>
              <a:gd name="adj" fmla="val 50000"/>
            </a:avLst>
          </a:prstGeom>
          <a:solidFill>
            <a:srgbClr val="F9E0E0"/>
          </a:solidFill>
          <a:ln w="12700">
            <a:solidFill>
              <a:srgbClr val="F9E0E0"/>
            </a:solidFill>
            <a:prstDash val="solid"/>
          </a:ln>
        </p:spPr>
        <p:txBody>
          <a:bodyPr/>
          <a:lstStyle/>
          <a:p>
            <a:endParaRPr lang="en-US"/>
          </a:p>
        </p:txBody>
      </p:sp>
      <p:sp>
        <p:nvSpPr>
          <p:cNvPr id="41" name="s7-39"/>
          <p:cNvSpPr txBox="1"/>
          <p:nvPr/>
        </p:nvSpPr>
        <p:spPr>
          <a:xfrm>
            <a:off x="6812280" y="4937760"/>
            <a:ext cx="1508760" cy="365760"/>
          </a:xfrm>
          <a:prstGeom prst="rect">
            <a:avLst/>
          </a:prstGeom>
          <a:noFill/>
          <a:ln/>
        </p:spPr>
        <p:txBody>
          <a:bodyPr wrap="square" lIns="0" tIns="0" rIns="0" bIns="0" rtlCol="0" anchor="ctr"/>
          <a:lstStyle/>
          <a:p>
            <a:pPr marL="0" indent="0" algn="ctr">
              <a:lnSpc>
                <a:spcPct val="100000"/>
              </a:lnSpc>
              <a:buNone/>
            </a:pPr>
            <a:r>
              <a:rPr lang="en-US" sz="1100" b="1" dirty="0">
                <a:solidFill>
                  <a:srgbClr val="BB4A4A"/>
                </a:solidFill>
                <a:latin typeface="Consolas" pitchFamily="34" charset="0"/>
                <a:ea typeface="Consolas" pitchFamily="34" charset="-122"/>
                <a:cs typeface="Consolas" pitchFamily="34" charset="-120"/>
              </a:rPr>
              <a:t>NEGATIVE_PRICE</a:t>
            </a:r>
            <a:endParaRPr lang="en-US" sz="1100" dirty="0"/>
          </a:p>
        </p:txBody>
      </p:sp>
      <p:sp>
        <p:nvSpPr>
          <p:cNvPr id="42" name="s7-40"/>
          <p:cNvSpPr/>
          <p:nvPr/>
        </p:nvSpPr>
        <p:spPr>
          <a:xfrm>
            <a:off x="8343900" y="4937760"/>
            <a:ext cx="1691640" cy="365760"/>
          </a:xfrm>
          <a:prstGeom prst="roundRect">
            <a:avLst>
              <a:gd name="adj" fmla="val 50000"/>
            </a:avLst>
          </a:prstGeom>
          <a:solidFill>
            <a:srgbClr val="F9E0E0"/>
          </a:solidFill>
          <a:ln w="12700">
            <a:solidFill>
              <a:srgbClr val="F9E0E0"/>
            </a:solidFill>
            <a:prstDash val="solid"/>
          </a:ln>
        </p:spPr>
        <p:txBody>
          <a:bodyPr/>
          <a:lstStyle/>
          <a:p>
            <a:endParaRPr lang="en-US"/>
          </a:p>
        </p:txBody>
      </p:sp>
      <p:sp>
        <p:nvSpPr>
          <p:cNvPr id="43" name="s7-41"/>
          <p:cNvSpPr txBox="1"/>
          <p:nvPr/>
        </p:nvSpPr>
        <p:spPr>
          <a:xfrm>
            <a:off x="8343900" y="4937760"/>
            <a:ext cx="1691640" cy="365760"/>
          </a:xfrm>
          <a:prstGeom prst="rect">
            <a:avLst/>
          </a:prstGeom>
          <a:noFill/>
          <a:ln/>
        </p:spPr>
        <p:txBody>
          <a:bodyPr wrap="square" lIns="0" tIns="0" rIns="0" bIns="0" rtlCol="0" anchor="ctr"/>
          <a:lstStyle/>
          <a:p>
            <a:pPr marL="0" indent="0" algn="ctr">
              <a:lnSpc>
                <a:spcPct val="100000"/>
              </a:lnSpc>
              <a:buNone/>
            </a:pPr>
            <a:r>
              <a:rPr lang="en-US" sz="1100" b="1" dirty="0">
                <a:solidFill>
                  <a:srgbClr val="BB4A4A"/>
                </a:solidFill>
                <a:latin typeface="Consolas" pitchFamily="34" charset="0"/>
                <a:ea typeface="Consolas" pitchFamily="34" charset="-122"/>
                <a:cs typeface="Consolas" pitchFamily="34" charset="-120"/>
              </a:rPr>
              <a:t>FUTURE_TIMESTAMP</a:t>
            </a:r>
            <a:endParaRPr lang="en-US" sz="1100" dirty="0"/>
          </a:p>
        </p:txBody>
      </p:sp>
      <p:sp>
        <p:nvSpPr>
          <p:cNvPr id="44" name="s7-42"/>
          <p:cNvSpPr/>
          <p:nvPr/>
        </p:nvSpPr>
        <p:spPr>
          <a:xfrm>
            <a:off x="10058400" y="4937760"/>
            <a:ext cx="1554480" cy="365760"/>
          </a:xfrm>
          <a:prstGeom prst="roundRect">
            <a:avLst>
              <a:gd name="adj" fmla="val 50000"/>
            </a:avLst>
          </a:prstGeom>
          <a:solidFill>
            <a:srgbClr val="F9E0E0"/>
          </a:solidFill>
          <a:ln w="12700">
            <a:solidFill>
              <a:srgbClr val="F9E0E0"/>
            </a:solidFill>
            <a:prstDash val="solid"/>
          </a:ln>
        </p:spPr>
        <p:txBody>
          <a:bodyPr/>
          <a:lstStyle/>
          <a:p>
            <a:endParaRPr lang="en-US"/>
          </a:p>
        </p:txBody>
      </p:sp>
      <p:sp>
        <p:nvSpPr>
          <p:cNvPr id="45" name="s7-43"/>
          <p:cNvSpPr txBox="1"/>
          <p:nvPr/>
        </p:nvSpPr>
        <p:spPr>
          <a:xfrm>
            <a:off x="10058400" y="4937760"/>
            <a:ext cx="1554480" cy="365760"/>
          </a:xfrm>
          <a:prstGeom prst="rect">
            <a:avLst/>
          </a:prstGeom>
          <a:noFill/>
          <a:ln/>
        </p:spPr>
        <p:txBody>
          <a:bodyPr wrap="square" lIns="0" tIns="0" rIns="0" bIns="0" rtlCol="0" anchor="ctr"/>
          <a:lstStyle/>
          <a:p>
            <a:pPr marL="0" indent="0" algn="ctr">
              <a:lnSpc>
                <a:spcPct val="100000"/>
              </a:lnSpc>
              <a:buNone/>
            </a:pPr>
            <a:r>
              <a:rPr lang="en-US" sz="1100" b="1" dirty="0">
                <a:solidFill>
                  <a:srgbClr val="BB4A4A"/>
                </a:solidFill>
                <a:latin typeface="Consolas" pitchFamily="34" charset="0"/>
                <a:ea typeface="Consolas" pitchFamily="34" charset="-122"/>
                <a:cs typeface="Consolas" pitchFamily="34" charset="-120"/>
              </a:rPr>
              <a:t>UNKNOWN_PRODUCT</a:t>
            </a:r>
            <a:endParaRPr lang="en-US" sz="1100" dirty="0"/>
          </a:p>
        </p:txBody>
      </p:sp>
      <p:sp>
        <p:nvSpPr>
          <p:cNvPr id="46" name="s7-44"/>
          <p:cNvSpPr/>
          <p:nvPr/>
        </p:nvSpPr>
        <p:spPr>
          <a:xfrm>
            <a:off x="548640" y="5486400"/>
            <a:ext cx="11064240" cy="731520"/>
          </a:xfrm>
          <a:prstGeom prst="roundRect">
            <a:avLst>
              <a:gd name="adj" fmla="val 12500"/>
            </a:avLst>
          </a:prstGeom>
          <a:solidFill>
            <a:srgbClr val="E3F1E8"/>
          </a:solidFill>
          <a:ln w="12700">
            <a:solidFill>
              <a:srgbClr val="E3F1E8"/>
            </a:solidFill>
            <a:prstDash val="solid"/>
          </a:ln>
        </p:spPr>
        <p:txBody>
          <a:bodyPr/>
          <a:lstStyle/>
          <a:p>
            <a:endParaRPr lang="en-US"/>
          </a:p>
        </p:txBody>
      </p:sp>
      <p:sp>
        <p:nvSpPr>
          <p:cNvPr id="47" name="s7-45"/>
          <p:cNvSpPr txBox="1"/>
          <p:nvPr/>
        </p:nvSpPr>
        <p:spPr>
          <a:xfrm>
            <a:off x="731520" y="5486400"/>
            <a:ext cx="10698480" cy="731520"/>
          </a:xfrm>
          <a:prstGeom prst="rect">
            <a:avLst/>
          </a:prstGeom>
          <a:noFill/>
          <a:ln/>
        </p:spPr>
        <p:txBody>
          <a:bodyPr wrap="square" lIns="0" tIns="0" rIns="0" bIns="0" rtlCol="0" anchor="ctr"/>
          <a:lstStyle/>
          <a:p>
            <a:pPr marL="0" indent="0" algn="l">
              <a:lnSpc>
                <a:spcPct val="100000"/>
              </a:lnSpc>
              <a:buNone/>
            </a:pPr>
            <a:r>
              <a:rPr lang="en-US" sz="1400" b="1" dirty="0">
                <a:solidFill>
                  <a:srgbClr val="121212"/>
                </a:solidFill>
                <a:latin typeface="Calibri" pitchFamily="34" charset="0"/>
                <a:ea typeface="Calibri" pitchFamily="34" charset="-122"/>
                <a:cs typeface="Calibri" pitchFamily="34" charset="-120"/>
              </a:rPr>
              <a:t>Evidence, 13 October 2026: </a:t>
            </a:r>
            <a:r>
              <a:rPr lang="en-US" sz="1400" dirty="0">
                <a:solidFill>
                  <a:srgbClr val="121212"/>
                </a:solidFill>
                <a:latin typeface="Calibri" pitchFamily="34" charset="0"/>
                <a:ea typeface="Calibri" pitchFamily="34" charset="-122"/>
                <a:cs typeface="Calibri" pitchFamily="34" charset="-120"/>
              </a:rPr>
              <a:t>quarantine count matched the noise manifest (308 expected, 308 observed). Replaying Bronze left all 10 Silver tables unchanged.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8-0"/>
          <p:cNvSpPr txBox="1"/>
          <p:nvPr/>
        </p:nvSpPr>
        <p:spPr>
          <a:xfrm>
            <a:off x="548640" y="274320"/>
            <a:ext cx="8229600" cy="274320"/>
          </a:xfrm>
          <a:prstGeom prst="rect">
            <a:avLst/>
          </a:prstGeom>
          <a:noFill/>
          <a:ln/>
        </p:spPr>
        <p:txBody>
          <a:bodyPr wrap="square" lIns="0" tIns="0" rIns="0" bIns="0" rtlCol="0" anchor="t"/>
          <a:lstStyle/>
          <a:p>
            <a:pPr marL="0" indent="0" algn="l">
              <a:lnSpc>
                <a:spcPct val="100000"/>
              </a:lnSpc>
              <a:buNone/>
            </a:pPr>
            <a:r>
              <a:rPr lang="en-US" sz="1200" b="1" dirty="0">
                <a:solidFill>
                  <a:srgbClr val="5B6578"/>
                </a:solidFill>
                <a:latin typeface="Calibri" pitchFamily="34" charset="0"/>
                <a:ea typeface="Calibri" pitchFamily="34" charset="-122"/>
                <a:cs typeface="Calibri" pitchFamily="34" charset="-120"/>
              </a:rPr>
              <a:t>2  ARCHITECTURE AND DATA ENGINEERING</a:t>
            </a:r>
            <a:endParaRPr lang="en-US" sz="1200" dirty="0"/>
          </a:p>
        </p:txBody>
      </p:sp>
      <p:sp>
        <p:nvSpPr>
          <p:cNvPr id="3" name="s8-1"/>
          <p:cNvSpPr txBox="1"/>
          <p:nvPr/>
        </p:nvSpPr>
        <p:spPr>
          <a:xfrm>
            <a:off x="548640" y="530352"/>
            <a:ext cx="11064240" cy="685800"/>
          </a:xfrm>
          <a:prstGeom prst="rect">
            <a:avLst/>
          </a:prstGeom>
          <a:noFill/>
          <a:ln/>
        </p:spPr>
        <p:txBody>
          <a:bodyPr wrap="square" lIns="0" tIns="0" rIns="0" bIns="0" rtlCol="0" anchor="ctr"/>
          <a:lstStyle/>
          <a:p>
            <a:pPr marL="0" indent="0" algn="l">
              <a:lnSpc>
                <a:spcPct val="100000"/>
              </a:lnSpc>
              <a:buNone/>
            </a:pPr>
            <a:r>
              <a:rPr lang="en-US" sz="3000" b="1" dirty="0">
                <a:solidFill>
                  <a:srgbClr val="0F3D6E"/>
                </a:solidFill>
                <a:latin typeface="Calibri" pitchFamily="34" charset="0"/>
                <a:ea typeface="Calibri" pitchFamily="34" charset="-122"/>
                <a:cs typeface="Calibri" pitchFamily="34" charset="-120"/>
              </a:rPr>
              <a:t>Storage: three layers, three places</a:t>
            </a:r>
            <a:endParaRPr lang="en-US" sz="3000" dirty="0"/>
          </a:p>
        </p:txBody>
      </p:sp>
      <p:sp>
        <p:nvSpPr>
          <p:cNvPr id="4" name="s8-2"/>
          <p:cNvSpPr txBox="1"/>
          <p:nvPr/>
        </p:nvSpPr>
        <p:spPr>
          <a:xfrm>
            <a:off x="548640" y="6437376"/>
            <a:ext cx="5486400" cy="274320"/>
          </a:xfrm>
          <a:prstGeom prst="rect">
            <a:avLst/>
          </a:prstGeom>
          <a:noFill/>
          <a:ln/>
        </p:spPr>
        <p:txBody>
          <a:bodyPr wrap="square" lIns="0" tIns="0" rIns="0" bIns="0" rtlCol="0" anchor="t"/>
          <a:lstStyle/>
          <a:p>
            <a:pPr marL="0" indent="0" algn="l">
              <a:lnSpc>
                <a:spcPct val="100000"/>
              </a:lnSpc>
              <a:buNone/>
            </a:pPr>
            <a:r>
              <a:rPr lang="en-US" sz="1000" dirty="0">
                <a:solidFill>
                  <a:srgbClr val="5B6578"/>
                </a:solidFill>
                <a:latin typeface="Calibri" pitchFamily="34" charset="0"/>
                <a:ea typeface="Calibri" pitchFamily="34" charset="-122"/>
                <a:cs typeface="Calibri" pitchFamily="34" charset="-120"/>
              </a:rPr>
              <a:t>FunnelStream</a:t>
            </a:r>
            <a:endParaRPr lang="en-US" sz="1000" dirty="0"/>
          </a:p>
        </p:txBody>
      </p:sp>
      <p:sp>
        <p:nvSpPr>
          <p:cNvPr id="5" name="s8-3"/>
          <p:cNvSpPr txBox="1"/>
          <p:nvPr/>
        </p:nvSpPr>
        <p:spPr>
          <a:xfrm>
            <a:off x="10881360" y="6437376"/>
            <a:ext cx="758952" cy="274320"/>
          </a:xfrm>
          <a:prstGeom prst="rect">
            <a:avLst/>
          </a:prstGeom>
          <a:noFill/>
          <a:ln/>
        </p:spPr>
        <p:txBody>
          <a:bodyPr wrap="square" lIns="0" tIns="0" rIns="0" bIns="0" rtlCol="0" anchor="t"/>
          <a:lstStyle/>
          <a:p>
            <a:pPr marL="0" indent="0" algn="r">
              <a:lnSpc>
                <a:spcPct val="100000"/>
              </a:lnSpc>
              <a:buNone/>
            </a:pPr>
            <a:r>
              <a:rPr lang="en-US" sz="1000" dirty="0">
                <a:solidFill>
                  <a:srgbClr val="5B6578"/>
                </a:solidFill>
                <a:latin typeface="Calibri" pitchFamily="34" charset="0"/>
                <a:ea typeface="Calibri" pitchFamily="34" charset="-122"/>
                <a:cs typeface="Calibri" pitchFamily="34" charset="-120"/>
              </a:rPr>
              <a:t>8</a:t>
            </a:r>
            <a:endParaRPr lang="en-US" sz="1000" dirty="0"/>
          </a:p>
        </p:txBody>
      </p:sp>
      <p:sp>
        <p:nvSpPr>
          <p:cNvPr id="6" name="s8-4"/>
          <p:cNvSpPr/>
          <p:nvPr/>
        </p:nvSpPr>
        <p:spPr>
          <a:xfrm>
            <a:off x="548640" y="1600200"/>
            <a:ext cx="11064240" cy="1188720"/>
          </a:xfrm>
          <a:prstGeom prst="roundRect">
            <a:avLst>
              <a:gd name="adj" fmla="val 9231"/>
            </a:avLst>
          </a:prstGeom>
          <a:solidFill>
            <a:srgbClr val="FDF1E6"/>
          </a:solidFill>
          <a:ln w="12700">
            <a:solidFill>
              <a:srgbClr val="E7B58F"/>
            </a:solidFill>
            <a:prstDash val="solid"/>
          </a:ln>
        </p:spPr>
        <p:txBody>
          <a:bodyPr/>
          <a:lstStyle/>
          <a:p>
            <a:endParaRPr lang="en-US"/>
          </a:p>
        </p:txBody>
      </p:sp>
      <p:sp>
        <p:nvSpPr>
          <p:cNvPr id="7" name="s8-5"/>
          <p:cNvSpPr txBox="1"/>
          <p:nvPr/>
        </p:nvSpPr>
        <p:spPr>
          <a:xfrm>
            <a:off x="731520" y="1691640"/>
            <a:ext cx="2103120" cy="1005840"/>
          </a:xfrm>
          <a:prstGeom prst="rect">
            <a:avLst/>
          </a:prstGeom>
          <a:noFill/>
          <a:ln/>
        </p:spPr>
        <p:txBody>
          <a:bodyPr wrap="square" lIns="0" tIns="0" rIns="0" bIns="0" rtlCol="0" anchor="ctr"/>
          <a:lstStyle/>
          <a:p>
            <a:pPr marL="0" indent="0" algn="l">
              <a:lnSpc>
                <a:spcPct val="100000"/>
              </a:lnSpc>
              <a:spcAft>
                <a:spcPts val="200"/>
              </a:spcAft>
              <a:buNone/>
            </a:pPr>
            <a:r>
              <a:rPr lang="en-US" sz="2000" b="1" dirty="0">
                <a:solidFill>
                  <a:srgbClr val="9A5521"/>
                </a:solidFill>
                <a:latin typeface="Calibri" pitchFamily="34" charset="0"/>
                <a:ea typeface="Calibri" pitchFamily="34" charset="-122"/>
                <a:cs typeface="Calibri" pitchFamily="34" charset="-120"/>
              </a:rPr>
              <a:t>Bronze</a:t>
            </a:r>
            <a:endParaRPr lang="en-US" sz="2000" dirty="0"/>
          </a:p>
          <a:p>
            <a:pPr marL="0" indent="0" algn="l">
              <a:lnSpc>
                <a:spcPct val="100000"/>
              </a:lnSpc>
              <a:buNone/>
            </a:pPr>
            <a:r>
              <a:rPr lang="en-US" sz="1200" dirty="0">
                <a:solidFill>
                  <a:srgbClr val="5B6578"/>
                </a:solidFill>
                <a:latin typeface="Calibri" pitchFamily="34" charset="0"/>
                <a:ea typeface="Calibri" pitchFamily="34" charset="-122"/>
                <a:cs typeface="Calibri" pitchFamily="34" charset="-120"/>
              </a:rPr>
              <a:t>raw, never changed</a:t>
            </a:r>
            <a:endParaRPr lang="en-US" sz="2000" dirty="0"/>
          </a:p>
        </p:txBody>
      </p:sp>
      <p:sp>
        <p:nvSpPr>
          <p:cNvPr id="8" name="s8-6"/>
          <p:cNvSpPr/>
          <p:nvPr/>
        </p:nvSpPr>
        <p:spPr>
          <a:xfrm>
            <a:off x="2926080" y="1783080"/>
            <a:ext cx="2000250" cy="822960"/>
          </a:xfrm>
          <a:prstGeom prst="roundRect">
            <a:avLst>
              <a:gd name="adj" fmla="val 8889"/>
            </a:avLst>
          </a:prstGeom>
          <a:solidFill>
            <a:srgbClr val="FFFFFF"/>
          </a:solidFill>
          <a:ln w="12700">
            <a:solidFill>
              <a:srgbClr val="C6D0DE"/>
            </a:solidFill>
            <a:prstDash val="solid"/>
          </a:ln>
        </p:spPr>
        <p:txBody>
          <a:bodyPr/>
          <a:lstStyle/>
          <a:p>
            <a:endParaRPr lang="en-US"/>
          </a:p>
        </p:txBody>
      </p:sp>
      <p:sp>
        <p:nvSpPr>
          <p:cNvPr id="9" name="s8-7"/>
          <p:cNvSpPr txBox="1"/>
          <p:nvPr/>
        </p:nvSpPr>
        <p:spPr>
          <a:xfrm>
            <a:off x="2999232" y="1783080"/>
            <a:ext cx="1853946" cy="822960"/>
          </a:xfrm>
          <a:prstGeom prst="rect">
            <a:avLst/>
          </a:prstGeom>
          <a:noFill/>
          <a:ln/>
        </p:spPr>
        <p:txBody>
          <a:bodyPr wrap="square" lIns="0" tIns="0" rIns="0" bIns="0" rtlCol="0" anchor="ctr"/>
          <a:lstStyle/>
          <a:p>
            <a:pPr marL="0" indent="0" algn="ctr">
              <a:lnSpc>
                <a:spcPct val="100000"/>
              </a:lnSpc>
              <a:buNone/>
            </a:pPr>
            <a:r>
              <a:rPr lang="en-US" sz="1300" b="1" dirty="0">
                <a:solidFill>
                  <a:srgbClr val="9A5521"/>
                </a:solidFill>
                <a:latin typeface="Calibri" pitchFamily="34" charset="0"/>
                <a:ea typeface="Calibri" pitchFamily="34" charset="-122"/>
                <a:cs typeface="Calibri" pitchFamily="34" charset="-120"/>
              </a:rPr>
              <a:t>bronze_app_events</a:t>
            </a:r>
            <a:endParaRPr lang="en-US" sz="1300" dirty="0"/>
          </a:p>
          <a:p>
            <a:pPr marL="0" indent="0" algn="ctr">
              <a:lnSpc>
                <a:spcPct val="100000"/>
              </a:lnSpc>
              <a:buNone/>
            </a:pPr>
            <a:r>
              <a:rPr lang="en-US" sz="1100" dirty="0">
                <a:solidFill>
                  <a:srgbClr val="5B6578"/>
                </a:solidFill>
                <a:latin typeface="Calibri" pitchFamily="34" charset="0"/>
                <a:ea typeface="Calibri" pitchFamily="34" charset="-122"/>
                <a:cs typeface="Calibri" pitchFamily="34" charset="-120"/>
              </a:rPr>
              <a:t>6 partitions of raw messages</a:t>
            </a:r>
            <a:endParaRPr lang="en-US" sz="1300" dirty="0"/>
          </a:p>
        </p:txBody>
      </p:sp>
      <p:sp>
        <p:nvSpPr>
          <p:cNvPr id="10" name="s8-8"/>
          <p:cNvSpPr/>
          <p:nvPr/>
        </p:nvSpPr>
        <p:spPr>
          <a:xfrm>
            <a:off x="5063490" y="1783080"/>
            <a:ext cx="2000250" cy="822960"/>
          </a:xfrm>
          <a:prstGeom prst="roundRect">
            <a:avLst>
              <a:gd name="adj" fmla="val 8889"/>
            </a:avLst>
          </a:prstGeom>
          <a:solidFill>
            <a:srgbClr val="FFFFFF"/>
          </a:solidFill>
          <a:ln w="12700">
            <a:solidFill>
              <a:srgbClr val="C6D0DE"/>
            </a:solidFill>
            <a:prstDash val="solid"/>
          </a:ln>
        </p:spPr>
        <p:txBody>
          <a:bodyPr/>
          <a:lstStyle/>
          <a:p>
            <a:endParaRPr lang="en-US"/>
          </a:p>
        </p:txBody>
      </p:sp>
      <p:sp>
        <p:nvSpPr>
          <p:cNvPr id="11" name="s8-9"/>
          <p:cNvSpPr txBox="1"/>
          <p:nvPr/>
        </p:nvSpPr>
        <p:spPr>
          <a:xfrm>
            <a:off x="5136642" y="1783080"/>
            <a:ext cx="1853946" cy="822960"/>
          </a:xfrm>
          <a:prstGeom prst="rect">
            <a:avLst/>
          </a:prstGeom>
          <a:noFill/>
          <a:ln/>
        </p:spPr>
        <p:txBody>
          <a:bodyPr wrap="square" lIns="0" tIns="0" rIns="0" bIns="0" rtlCol="0" anchor="ctr"/>
          <a:lstStyle/>
          <a:p>
            <a:pPr marL="0" indent="0" algn="ctr">
              <a:lnSpc>
                <a:spcPct val="100000"/>
              </a:lnSpc>
              <a:buNone/>
            </a:pPr>
            <a:r>
              <a:rPr lang="en-US" sz="1300" b="1" dirty="0">
                <a:solidFill>
                  <a:srgbClr val="9A5521"/>
                </a:solidFill>
                <a:latin typeface="Calibri" pitchFamily="34" charset="0"/>
                <a:ea typeface="Calibri" pitchFamily="34" charset="-122"/>
                <a:cs typeface="Calibri" pitchFamily="34" charset="-120"/>
              </a:rPr>
              <a:t>bronze_orders</a:t>
            </a:r>
            <a:endParaRPr lang="en-US" sz="1300" dirty="0"/>
          </a:p>
          <a:p>
            <a:pPr marL="0" indent="0" algn="ctr">
              <a:lnSpc>
                <a:spcPct val="100000"/>
              </a:lnSpc>
              <a:buNone/>
            </a:pPr>
            <a:r>
              <a:rPr lang="en-US" sz="1100" dirty="0">
                <a:solidFill>
                  <a:srgbClr val="5B6578"/>
                </a:solidFill>
                <a:latin typeface="Calibri" pitchFamily="34" charset="0"/>
                <a:ea typeface="Calibri" pitchFamily="34" charset="-122"/>
                <a:cs typeface="Calibri" pitchFamily="34" charset="-120"/>
              </a:rPr>
              <a:t>order status messages</a:t>
            </a:r>
            <a:endParaRPr lang="en-US" sz="1300" dirty="0"/>
          </a:p>
        </p:txBody>
      </p:sp>
      <p:sp>
        <p:nvSpPr>
          <p:cNvPr id="12" name="s8-10"/>
          <p:cNvSpPr/>
          <p:nvPr/>
        </p:nvSpPr>
        <p:spPr>
          <a:xfrm>
            <a:off x="7200900" y="1783080"/>
            <a:ext cx="2000250" cy="822960"/>
          </a:xfrm>
          <a:prstGeom prst="roundRect">
            <a:avLst>
              <a:gd name="adj" fmla="val 8889"/>
            </a:avLst>
          </a:prstGeom>
          <a:solidFill>
            <a:srgbClr val="FFFFFF"/>
          </a:solidFill>
          <a:ln w="12700">
            <a:solidFill>
              <a:srgbClr val="C6D0DE"/>
            </a:solidFill>
            <a:prstDash val="solid"/>
          </a:ln>
        </p:spPr>
        <p:txBody>
          <a:bodyPr/>
          <a:lstStyle/>
          <a:p>
            <a:endParaRPr lang="en-US"/>
          </a:p>
        </p:txBody>
      </p:sp>
      <p:sp>
        <p:nvSpPr>
          <p:cNvPr id="13" name="s8-11"/>
          <p:cNvSpPr txBox="1"/>
          <p:nvPr/>
        </p:nvSpPr>
        <p:spPr>
          <a:xfrm>
            <a:off x="7274052" y="1783080"/>
            <a:ext cx="1853946" cy="822960"/>
          </a:xfrm>
          <a:prstGeom prst="rect">
            <a:avLst/>
          </a:prstGeom>
          <a:noFill/>
          <a:ln/>
        </p:spPr>
        <p:txBody>
          <a:bodyPr wrap="square" lIns="0" tIns="0" rIns="0" bIns="0" rtlCol="0" anchor="ctr"/>
          <a:lstStyle/>
          <a:p>
            <a:pPr marL="0" indent="0" algn="ctr">
              <a:lnSpc>
                <a:spcPct val="100000"/>
              </a:lnSpc>
              <a:buNone/>
            </a:pPr>
            <a:r>
              <a:rPr lang="en-US" sz="1300" b="1" dirty="0">
                <a:solidFill>
                  <a:srgbClr val="9A5521"/>
                </a:solidFill>
                <a:latin typeface="Calibri" pitchFamily="34" charset="0"/>
                <a:ea typeface="Calibri" pitchFamily="34" charset="-122"/>
                <a:cs typeface="Calibri" pitchFamily="34" charset="-120"/>
              </a:rPr>
              <a:t>bronze_delivery_events</a:t>
            </a:r>
            <a:endParaRPr lang="en-US" sz="1300" dirty="0"/>
          </a:p>
          <a:p>
            <a:pPr marL="0" indent="0" algn="ctr">
              <a:lnSpc>
                <a:spcPct val="100000"/>
              </a:lnSpc>
              <a:buNone/>
            </a:pPr>
            <a:r>
              <a:rPr lang="en-US" sz="1100" dirty="0">
                <a:solidFill>
                  <a:srgbClr val="5B6578"/>
                </a:solidFill>
                <a:latin typeface="Calibri" pitchFamily="34" charset="0"/>
                <a:ea typeface="Calibri" pitchFamily="34" charset="-122"/>
                <a:cs typeface="Calibri" pitchFamily="34" charset="-120"/>
              </a:rPr>
              <a:t>delivery messages</a:t>
            </a:r>
            <a:endParaRPr lang="en-US" sz="1300" dirty="0"/>
          </a:p>
        </p:txBody>
      </p:sp>
      <p:sp>
        <p:nvSpPr>
          <p:cNvPr id="14" name="s8-12"/>
          <p:cNvSpPr/>
          <p:nvPr/>
        </p:nvSpPr>
        <p:spPr>
          <a:xfrm>
            <a:off x="9338310" y="1783080"/>
            <a:ext cx="2000250" cy="822960"/>
          </a:xfrm>
          <a:prstGeom prst="roundRect">
            <a:avLst>
              <a:gd name="adj" fmla="val 8889"/>
            </a:avLst>
          </a:prstGeom>
          <a:solidFill>
            <a:srgbClr val="FFFFFF"/>
          </a:solidFill>
          <a:ln w="12700">
            <a:solidFill>
              <a:srgbClr val="C6D0DE"/>
            </a:solidFill>
            <a:prstDash val="solid"/>
          </a:ln>
        </p:spPr>
        <p:txBody>
          <a:bodyPr/>
          <a:lstStyle/>
          <a:p>
            <a:endParaRPr lang="en-US"/>
          </a:p>
        </p:txBody>
      </p:sp>
      <p:sp>
        <p:nvSpPr>
          <p:cNvPr id="15" name="s8-13"/>
          <p:cNvSpPr txBox="1"/>
          <p:nvPr/>
        </p:nvSpPr>
        <p:spPr>
          <a:xfrm>
            <a:off x="9411462" y="1783080"/>
            <a:ext cx="1853946" cy="822960"/>
          </a:xfrm>
          <a:prstGeom prst="rect">
            <a:avLst/>
          </a:prstGeom>
          <a:noFill/>
          <a:ln/>
        </p:spPr>
        <p:txBody>
          <a:bodyPr wrap="square" lIns="0" tIns="0" rIns="0" bIns="0" rtlCol="0" anchor="ctr"/>
          <a:lstStyle/>
          <a:p>
            <a:pPr marL="0" indent="0" algn="ctr">
              <a:lnSpc>
                <a:spcPct val="100000"/>
              </a:lnSpc>
              <a:buNone/>
            </a:pPr>
            <a:r>
              <a:rPr lang="en-US" sz="1300" b="1" dirty="0">
                <a:solidFill>
                  <a:srgbClr val="9A5521"/>
                </a:solidFill>
                <a:latin typeface="Calibri" pitchFamily="34" charset="0"/>
                <a:ea typeface="Calibri" pitchFamily="34" charset="-122"/>
                <a:cs typeface="Calibri" pitchFamily="34" charset="-120"/>
              </a:rPr>
              <a:t>bronze_inventory_events</a:t>
            </a:r>
            <a:endParaRPr lang="en-US" sz="1300" dirty="0"/>
          </a:p>
          <a:p>
            <a:pPr marL="0" indent="0" algn="ctr">
              <a:lnSpc>
                <a:spcPct val="100000"/>
              </a:lnSpc>
              <a:buNone/>
            </a:pPr>
            <a:r>
              <a:rPr lang="en-US" sz="1100" dirty="0">
                <a:solidFill>
                  <a:srgbClr val="5B6578"/>
                </a:solidFill>
                <a:latin typeface="Calibri" pitchFamily="34" charset="0"/>
                <a:ea typeface="Calibri" pitchFamily="34" charset="-122"/>
                <a:cs typeface="Calibri" pitchFamily="34" charset="-120"/>
              </a:rPr>
              <a:t>stock messages</a:t>
            </a:r>
            <a:endParaRPr lang="en-US" sz="1300" dirty="0"/>
          </a:p>
        </p:txBody>
      </p:sp>
      <p:sp>
        <p:nvSpPr>
          <p:cNvPr id="16" name="s8-14"/>
          <p:cNvSpPr/>
          <p:nvPr/>
        </p:nvSpPr>
        <p:spPr>
          <a:xfrm>
            <a:off x="548640" y="2926080"/>
            <a:ext cx="11064240" cy="1188720"/>
          </a:xfrm>
          <a:prstGeom prst="roundRect">
            <a:avLst>
              <a:gd name="adj" fmla="val 9231"/>
            </a:avLst>
          </a:prstGeom>
          <a:solidFill>
            <a:srgbClr val="EDF0F4"/>
          </a:solidFill>
          <a:ln w="12700">
            <a:solidFill>
              <a:srgbClr val="9AA7B8"/>
            </a:solidFill>
            <a:prstDash val="solid"/>
          </a:ln>
        </p:spPr>
        <p:txBody>
          <a:bodyPr/>
          <a:lstStyle/>
          <a:p>
            <a:endParaRPr lang="en-US"/>
          </a:p>
        </p:txBody>
      </p:sp>
      <p:sp>
        <p:nvSpPr>
          <p:cNvPr id="17" name="s8-15"/>
          <p:cNvSpPr txBox="1"/>
          <p:nvPr/>
        </p:nvSpPr>
        <p:spPr>
          <a:xfrm>
            <a:off x="731520" y="3017520"/>
            <a:ext cx="2103120" cy="1005840"/>
          </a:xfrm>
          <a:prstGeom prst="rect">
            <a:avLst/>
          </a:prstGeom>
          <a:noFill/>
          <a:ln/>
        </p:spPr>
        <p:txBody>
          <a:bodyPr wrap="square" lIns="0" tIns="0" rIns="0" bIns="0" rtlCol="0" anchor="ctr"/>
          <a:lstStyle/>
          <a:p>
            <a:pPr marL="0" indent="0" algn="l">
              <a:lnSpc>
                <a:spcPct val="100000"/>
              </a:lnSpc>
              <a:spcAft>
                <a:spcPts val="200"/>
              </a:spcAft>
              <a:buNone/>
            </a:pPr>
            <a:r>
              <a:rPr lang="en-US" sz="2000" b="1" dirty="0">
                <a:solidFill>
                  <a:srgbClr val="3D4B5E"/>
                </a:solidFill>
                <a:latin typeface="Calibri" pitchFamily="34" charset="0"/>
                <a:ea typeface="Calibri" pitchFamily="34" charset="-122"/>
                <a:cs typeface="Calibri" pitchFamily="34" charset="-120"/>
              </a:rPr>
              <a:t>Silver</a:t>
            </a:r>
            <a:endParaRPr lang="en-US" sz="2000" dirty="0"/>
          </a:p>
          <a:p>
            <a:pPr marL="0" indent="0" algn="l">
              <a:lnSpc>
                <a:spcPct val="100000"/>
              </a:lnSpc>
              <a:buNone/>
            </a:pPr>
            <a:r>
              <a:rPr lang="en-US" sz="1200" dirty="0">
                <a:solidFill>
                  <a:srgbClr val="5B6578"/>
                </a:solidFill>
                <a:latin typeface="Calibri" pitchFamily="34" charset="0"/>
                <a:ea typeface="Calibri" pitchFamily="34" charset="-122"/>
                <a:cs typeface="Calibri" pitchFamily="34" charset="-120"/>
              </a:rPr>
              <a:t>trusted, one row per key</a:t>
            </a:r>
            <a:endParaRPr lang="en-US" sz="2000" dirty="0"/>
          </a:p>
        </p:txBody>
      </p:sp>
      <p:sp>
        <p:nvSpPr>
          <p:cNvPr id="18" name="s8-16"/>
          <p:cNvSpPr/>
          <p:nvPr/>
        </p:nvSpPr>
        <p:spPr>
          <a:xfrm>
            <a:off x="2926080" y="3108960"/>
            <a:ext cx="2000250" cy="822960"/>
          </a:xfrm>
          <a:prstGeom prst="roundRect">
            <a:avLst>
              <a:gd name="adj" fmla="val 8889"/>
            </a:avLst>
          </a:prstGeom>
          <a:solidFill>
            <a:srgbClr val="FFFFFF"/>
          </a:solidFill>
          <a:ln w="12700">
            <a:solidFill>
              <a:srgbClr val="C6D0DE"/>
            </a:solidFill>
            <a:prstDash val="solid"/>
          </a:ln>
        </p:spPr>
        <p:txBody>
          <a:bodyPr/>
          <a:lstStyle/>
          <a:p>
            <a:endParaRPr lang="en-US"/>
          </a:p>
        </p:txBody>
      </p:sp>
      <p:sp>
        <p:nvSpPr>
          <p:cNvPr id="19" name="s8-17"/>
          <p:cNvSpPr txBox="1"/>
          <p:nvPr/>
        </p:nvSpPr>
        <p:spPr>
          <a:xfrm>
            <a:off x="2999232" y="3108960"/>
            <a:ext cx="1853946" cy="822960"/>
          </a:xfrm>
          <a:prstGeom prst="rect">
            <a:avLst/>
          </a:prstGeom>
          <a:noFill/>
          <a:ln/>
        </p:spPr>
        <p:txBody>
          <a:bodyPr wrap="square" lIns="0" tIns="0" rIns="0" bIns="0" rtlCol="0" anchor="ctr"/>
          <a:lstStyle/>
          <a:p>
            <a:pPr marL="0" indent="0" algn="ctr">
              <a:lnSpc>
                <a:spcPct val="100000"/>
              </a:lnSpc>
              <a:buNone/>
            </a:pPr>
            <a:r>
              <a:rPr lang="en-US" sz="1300" b="1" dirty="0">
                <a:solidFill>
                  <a:srgbClr val="3D4B5E"/>
                </a:solidFill>
                <a:latin typeface="Calibri" pitchFamily="34" charset="0"/>
                <a:ea typeface="Calibri" pitchFamily="34" charset="-122"/>
                <a:cs typeface="Calibri" pitchFamily="34" charset="-120"/>
              </a:rPr>
              <a:t>silver_events</a:t>
            </a:r>
            <a:endParaRPr lang="en-US" sz="1300" dirty="0"/>
          </a:p>
          <a:p>
            <a:pPr marL="0" indent="0" algn="ctr">
              <a:lnSpc>
                <a:spcPct val="100000"/>
              </a:lnSpc>
              <a:buNone/>
            </a:pPr>
            <a:r>
              <a:rPr lang="en-US" sz="1100" dirty="0">
                <a:solidFill>
                  <a:srgbClr val="5B6578"/>
                </a:solidFill>
                <a:latin typeface="Calibri" pitchFamily="34" charset="0"/>
                <a:ea typeface="Calibri" pitchFamily="34" charset="-122"/>
                <a:cs typeface="Calibri" pitchFamily="34" charset="-120"/>
              </a:rPr>
              <a:t>one app event</a:t>
            </a:r>
            <a:endParaRPr lang="en-US" sz="1300" dirty="0"/>
          </a:p>
        </p:txBody>
      </p:sp>
      <p:sp>
        <p:nvSpPr>
          <p:cNvPr id="20" name="s8-18"/>
          <p:cNvSpPr/>
          <p:nvPr/>
        </p:nvSpPr>
        <p:spPr>
          <a:xfrm>
            <a:off x="5063490" y="3108960"/>
            <a:ext cx="2000250" cy="822960"/>
          </a:xfrm>
          <a:prstGeom prst="roundRect">
            <a:avLst>
              <a:gd name="adj" fmla="val 8889"/>
            </a:avLst>
          </a:prstGeom>
          <a:solidFill>
            <a:srgbClr val="FFFFFF"/>
          </a:solidFill>
          <a:ln w="12700">
            <a:solidFill>
              <a:srgbClr val="C6D0DE"/>
            </a:solidFill>
            <a:prstDash val="solid"/>
          </a:ln>
        </p:spPr>
        <p:txBody>
          <a:bodyPr/>
          <a:lstStyle/>
          <a:p>
            <a:endParaRPr lang="en-US"/>
          </a:p>
        </p:txBody>
      </p:sp>
      <p:sp>
        <p:nvSpPr>
          <p:cNvPr id="21" name="s8-19"/>
          <p:cNvSpPr txBox="1"/>
          <p:nvPr/>
        </p:nvSpPr>
        <p:spPr>
          <a:xfrm>
            <a:off x="5136642" y="3108960"/>
            <a:ext cx="1853946" cy="822960"/>
          </a:xfrm>
          <a:prstGeom prst="rect">
            <a:avLst/>
          </a:prstGeom>
          <a:noFill/>
          <a:ln/>
        </p:spPr>
        <p:txBody>
          <a:bodyPr wrap="square" lIns="0" tIns="0" rIns="0" bIns="0" rtlCol="0" anchor="ctr"/>
          <a:lstStyle/>
          <a:p>
            <a:pPr marL="0" indent="0" algn="ctr">
              <a:lnSpc>
                <a:spcPct val="100000"/>
              </a:lnSpc>
              <a:buNone/>
            </a:pPr>
            <a:r>
              <a:rPr lang="en-US" sz="1300" b="1" dirty="0">
                <a:solidFill>
                  <a:srgbClr val="3D4B5E"/>
                </a:solidFill>
                <a:latin typeface="Calibri" pitchFamily="34" charset="0"/>
                <a:ea typeface="Calibri" pitchFamily="34" charset="-122"/>
                <a:cs typeface="Calibri" pitchFamily="34" charset="-120"/>
              </a:rPr>
              <a:t>silver_orders, _status, _items</a:t>
            </a:r>
            <a:endParaRPr lang="en-US" sz="1300" dirty="0"/>
          </a:p>
          <a:p>
            <a:pPr marL="0" indent="0" algn="ctr">
              <a:lnSpc>
                <a:spcPct val="100000"/>
              </a:lnSpc>
              <a:buNone/>
            </a:pPr>
            <a:r>
              <a:rPr lang="en-US" sz="1100" dirty="0">
                <a:solidFill>
                  <a:srgbClr val="5B6578"/>
                </a:solidFill>
                <a:latin typeface="Calibri" pitchFamily="34" charset="0"/>
                <a:ea typeface="Calibri" pitchFamily="34" charset="-122"/>
                <a:cs typeface="Calibri" pitchFamily="34" charset="-120"/>
              </a:rPr>
              <a:t>order, status change, line</a:t>
            </a:r>
            <a:endParaRPr lang="en-US" sz="1300" dirty="0"/>
          </a:p>
        </p:txBody>
      </p:sp>
      <p:sp>
        <p:nvSpPr>
          <p:cNvPr id="22" name="s8-20"/>
          <p:cNvSpPr/>
          <p:nvPr/>
        </p:nvSpPr>
        <p:spPr>
          <a:xfrm>
            <a:off x="7200900" y="3108960"/>
            <a:ext cx="2000250" cy="822960"/>
          </a:xfrm>
          <a:prstGeom prst="roundRect">
            <a:avLst>
              <a:gd name="adj" fmla="val 8889"/>
            </a:avLst>
          </a:prstGeom>
          <a:solidFill>
            <a:srgbClr val="FFFFFF"/>
          </a:solidFill>
          <a:ln w="12700">
            <a:solidFill>
              <a:srgbClr val="C6D0DE"/>
            </a:solidFill>
            <a:prstDash val="solid"/>
          </a:ln>
        </p:spPr>
        <p:txBody>
          <a:bodyPr/>
          <a:lstStyle/>
          <a:p>
            <a:endParaRPr lang="en-US"/>
          </a:p>
        </p:txBody>
      </p:sp>
      <p:sp>
        <p:nvSpPr>
          <p:cNvPr id="23" name="s8-21"/>
          <p:cNvSpPr txBox="1"/>
          <p:nvPr/>
        </p:nvSpPr>
        <p:spPr>
          <a:xfrm>
            <a:off x="7274052" y="3108960"/>
            <a:ext cx="1853946" cy="822960"/>
          </a:xfrm>
          <a:prstGeom prst="rect">
            <a:avLst/>
          </a:prstGeom>
          <a:noFill/>
          <a:ln/>
        </p:spPr>
        <p:txBody>
          <a:bodyPr wrap="square" lIns="0" tIns="0" rIns="0" bIns="0" rtlCol="0" anchor="ctr"/>
          <a:lstStyle/>
          <a:p>
            <a:pPr marL="0" indent="0" algn="ctr">
              <a:lnSpc>
                <a:spcPct val="100000"/>
              </a:lnSpc>
              <a:buNone/>
            </a:pPr>
            <a:r>
              <a:rPr lang="en-US" sz="1300" b="1" dirty="0">
                <a:solidFill>
                  <a:srgbClr val="3D4B5E"/>
                </a:solidFill>
                <a:latin typeface="Calibri" pitchFamily="34" charset="0"/>
                <a:ea typeface="Calibri" pitchFamily="34" charset="-122"/>
                <a:cs typeface="Calibri" pitchFamily="34" charset="-120"/>
              </a:rPr>
              <a:t>silver_stock_*, _express_orders</a:t>
            </a:r>
            <a:endParaRPr lang="en-US" sz="1300" dirty="0"/>
          </a:p>
          <a:p>
            <a:pPr marL="0" indent="0" algn="ctr">
              <a:lnSpc>
                <a:spcPct val="100000"/>
              </a:lnSpc>
              <a:buNone/>
            </a:pPr>
            <a:r>
              <a:rPr lang="en-US" sz="1100" dirty="0">
                <a:solidFill>
                  <a:srgbClr val="5B6578"/>
                </a:solidFill>
                <a:latin typeface="Calibri" pitchFamily="34" charset="0"/>
                <a:ea typeface="Calibri" pitchFamily="34" charset="-122"/>
                <a:cs typeface="Calibri" pitchFamily="34" charset="-120"/>
              </a:rPr>
              <a:t>stock and express</a:t>
            </a:r>
            <a:endParaRPr lang="en-US" sz="1300" dirty="0"/>
          </a:p>
        </p:txBody>
      </p:sp>
      <p:sp>
        <p:nvSpPr>
          <p:cNvPr id="24" name="s8-22"/>
          <p:cNvSpPr/>
          <p:nvPr/>
        </p:nvSpPr>
        <p:spPr>
          <a:xfrm>
            <a:off x="9338310" y="3108960"/>
            <a:ext cx="2000250" cy="822960"/>
          </a:xfrm>
          <a:prstGeom prst="roundRect">
            <a:avLst>
              <a:gd name="adj" fmla="val 8889"/>
            </a:avLst>
          </a:prstGeom>
          <a:solidFill>
            <a:srgbClr val="FFFFFF"/>
          </a:solidFill>
          <a:ln w="12700">
            <a:solidFill>
              <a:srgbClr val="C6D0DE"/>
            </a:solidFill>
            <a:prstDash val="solid"/>
          </a:ln>
        </p:spPr>
        <p:txBody>
          <a:bodyPr/>
          <a:lstStyle/>
          <a:p>
            <a:endParaRPr lang="en-US"/>
          </a:p>
        </p:txBody>
      </p:sp>
      <p:sp>
        <p:nvSpPr>
          <p:cNvPr id="25" name="s8-23"/>
          <p:cNvSpPr txBox="1"/>
          <p:nvPr/>
        </p:nvSpPr>
        <p:spPr>
          <a:xfrm>
            <a:off x="9411462" y="3108960"/>
            <a:ext cx="1853946" cy="822960"/>
          </a:xfrm>
          <a:prstGeom prst="rect">
            <a:avLst/>
          </a:prstGeom>
          <a:noFill/>
          <a:ln/>
        </p:spPr>
        <p:txBody>
          <a:bodyPr wrap="square" lIns="0" tIns="0" rIns="0" bIns="0" rtlCol="0" anchor="ctr"/>
          <a:lstStyle/>
          <a:p>
            <a:pPr marL="0" indent="0" algn="ctr">
              <a:lnSpc>
                <a:spcPct val="100000"/>
              </a:lnSpc>
              <a:buNone/>
            </a:pPr>
            <a:r>
              <a:rPr lang="en-US" sz="1300" b="1" dirty="0">
                <a:solidFill>
                  <a:srgbClr val="3D4B5E"/>
                </a:solidFill>
                <a:latin typeface="Calibri" pitchFamily="34" charset="0"/>
                <a:ea typeface="Calibri" pitchFamily="34" charset="-122"/>
                <a:cs typeface="Calibri" pitchFamily="34" charset="-120"/>
              </a:rPr>
              <a:t>silver_quarantine</a:t>
            </a:r>
            <a:endParaRPr lang="en-US" sz="1300" dirty="0"/>
          </a:p>
          <a:p>
            <a:pPr marL="0" indent="0" algn="ctr">
              <a:lnSpc>
                <a:spcPct val="100000"/>
              </a:lnSpc>
              <a:buNone/>
            </a:pPr>
            <a:r>
              <a:rPr lang="en-US" sz="1100" dirty="0">
                <a:solidFill>
                  <a:srgbClr val="5B6578"/>
                </a:solidFill>
                <a:latin typeface="Calibri" pitchFamily="34" charset="0"/>
                <a:ea typeface="Calibri" pitchFamily="34" charset="-122"/>
                <a:cs typeface="Calibri" pitchFamily="34" charset="-120"/>
              </a:rPr>
              <a:t>rejected rows</a:t>
            </a:r>
            <a:endParaRPr lang="en-US" sz="1300" dirty="0"/>
          </a:p>
        </p:txBody>
      </p:sp>
      <p:sp>
        <p:nvSpPr>
          <p:cNvPr id="26" name="s8-24"/>
          <p:cNvSpPr/>
          <p:nvPr/>
        </p:nvSpPr>
        <p:spPr>
          <a:xfrm>
            <a:off x="548640" y="4251960"/>
            <a:ext cx="11064240" cy="1188720"/>
          </a:xfrm>
          <a:prstGeom prst="roundRect">
            <a:avLst>
              <a:gd name="adj" fmla="val 9231"/>
            </a:avLst>
          </a:prstGeom>
          <a:solidFill>
            <a:srgbClr val="E5EFFC"/>
          </a:solidFill>
          <a:ln w="12700">
            <a:solidFill>
              <a:srgbClr val="9DB9E6"/>
            </a:solidFill>
            <a:prstDash val="solid"/>
          </a:ln>
        </p:spPr>
        <p:txBody>
          <a:bodyPr/>
          <a:lstStyle/>
          <a:p>
            <a:endParaRPr lang="en-US"/>
          </a:p>
        </p:txBody>
      </p:sp>
      <p:sp>
        <p:nvSpPr>
          <p:cNvPr id="27" name="s8-25"/>
          <p:cNvSpPr txBox="1"/>
          <p:nvPr/>
        </p:nvSpPr>
        <p:spPr>
          <a:xfrm>
            <a:off x="731520" y="4343400"/>
            <a:ext cx="2103120" cy="1005840"/>
          </a:xfrm>
          <a:prstGeom prst="rect">
            <a:avLst/>
          </a:prstGeom>
          <a:noFill/>
          <a:ln/>
        </p:spPr>
        <p:txBody>
          <a:bodyPr wrap="square" lIns="0" tIns="0" rIns="0" bIns="0" rtlCol="0" anchor="ctr"/>
          <a:lstStyle/>
          <a:p>
            <a:pPr marL="0" indent="0" algn="l">
              <a:lnSpc>
                <a:spcPct val="100000"/>
              </a:lnSpc>
              <a:spcAft>
                <a:spcPts val="200"/>
              </a:spcAft>
              <a:buNone/>
            </a:pPr>
            <a:r>
              <a:rPr lang="en-US" sz="2000" b="1" dirty="0">
                <a:solidFill>
                  <a:srgbClr val="0F3D6E"/>
                </a:solidFill>
                <a:latin typeface="Calibri" pitchFamily="34" charset="0"/>
                <a:ea typeface="Calibri" pitchFamily="34" charset="-122"/>
                <a:cs typeface="Calibri" pitchFamily="34" charset="-120"/>
              </a:rPr>
              <a:t>Gold</a:t>
            </a:r>
            <a:endParaRPr lang="en-US" sz="2000" dirty="0"/>
          </a:p>
          <a:p>
            <a:pPr marL="0" indent="0" algn="l">
              <a:lnSpc>
                <a:spcPct val="100000"/>
              </a:lnSpc>
              <a:buNone/>
            </a:pPr>
            <a:r>
              <a:rPr lang="en-US" sz="1200" dirty="0">
                <a:solidFill>
                  <a:srgbClr val="5B6578"/>
                </a:solidFill>
                <a:latin typeface="Calibri" pitchFamily="34" charset="0"/>
                <a:ea typeface="Calibri" pitchFamily="34" charset="-122"/>
                <a:cs typeface="Calibri" pitchFamily="34" charset="-120"/>
              </a:rPr>
              <a:t>business ready, Databricks</a:t>
            </a:r>
            <a:endParaRPr lang="en-US" sz="2000" dirty="0"/>
          </a:p>
        </p:txBody>
      </p:sp>
      <p:sp>
        <p:nvSpPr>
          <p:cNvPr id="28" name="s8-26"/>
          <p:cNvSpPr/>
          <p:nvPr/>
        </p:nvSpPr>
        <p:spPr>
          <a:xfrm>
            <a:off x="2926080" y="4434840"/>
            <a:ext cx="2000250" cy="822960"/>
          </a:xfrm>
          <a:prstGeom prst="roundRect">
            <a:avLst>
              <a:gd name="adj" fmla="val 8889"/>
            </a:avLst>
          </a:prstGeom>
          <a:solidFill>
            <a:srgbClr val="FFFFFF"/>
          </a:solidFill>
          <a:ln w="12700">
            <a:solidFill>
              <a:srgbClr val="C6D0DE"/>
            </a:solidFill>
            <a:prstDash val="solid"/>
          </a:ln>
        </p:spPr>
        <p:txBody>
          <a:bodyPr/>
          <a:lstStyle/>
          <a:p>
            <a:endParaRPr lang="en-US"/>
          </a:p>
        </p:txBody>
      </p:sp>
      <p:sp>
        <p:nvSpPr>
          <p:cNvPr id="29" name="s8-27"/>
          <p:cNvSpPr txBox="1"/>
          <p:nvPr/>
        </p:nvSpPr>
        <p:spPr>
          <a:xfrm>
            <a:off x="2999232" y="4434840"/>
            <a:ext cx="1853946" cy="822960"/>
          </a:xfrm>
          <a:prstGeom prst="rect">
            <a:avLst/>
          </a:prstGeom>
          <a:noFill/>
          <a:ln/>
        </p:spPr>
        <p:txBody>
          <a:bodyPr wrap="square" lIns="0" tIns="0" rIns="0" bIns="0" rtlCol="0" anchor="ctr"/>
          <a:lstStyle/>
          <a:p>
            <a:pPr marL="0" indent="0" algn="ctr">
              <a:lnSpc>
                <a:spcPct val="100000"/>
              </a:lnSpc>
              <a:buNone/>
            </a:pPr>
            <a:r>
              <a:rPr lang="en-US" sz="1300" b="1" dirty="0">
                <a:solidFill>
                  <a:srgbClr val="0F3D6E"/>
                </a:solidFill>
                <a:latin typeface="Calibri" pitchFamily="34" charset="0"/>
                <a:ea typeface="Calibri" pitchFamily="34" charset="-122"/>
                <a:cs typeface="Calibri" pitchFamily="34" charset="-120"/>
              </a:rPr>
              <a:t>fact_orders, _lines, _attribution</a:t>
            </a:r>
            <a:endParaRPr lang="en-US" sz="1300" dirty="0"/>
          </a:p>
          <a:p>
            <a:pPr marL="0" indent="0" algn="ctr">
              <a:lnSpc>
                <a:spcPct val="100000"/>
              </a:lnSpc>
              <a:buNone/>
            </a:pPr>
            <a:r>
              <a:rPr lang="en-US" sz="1100" dirty="0">
                <a:solidFill>
                  <a:srgbClr val="5B6578"/>
                </a:solidFill>
                <a:latin typeface="Calibri" pitchFamily="34" charset="0"/>
                <a:ea typeface="Calibri" pitchFamily="34" charset="-122"/>
                <a:cs typeface="Calibri" pitchFamily="34" charset="-120"/>
              </a:rPr>
              <a:t>last and first touch</a:t>
            </a:r>
            <a:endParaRPr lang="en-US" sz="1300" dirty="0"/>
          </a:p>
        </p:txBody>
      </p:sp>
      <p:sp>
        <p:nvSpPr>
          <p:cNvPr id="30" name="s8-28"/>
          <p:cNvSpPr/>
          <p:nvPr/>
        </p:nvSpPr>
        <p:spPr>
          <a:xfrm>
            <a:off x="5063490" y="4434840"/>
            <a:ext cx="2000250" cy="822960"/>
          </a:xfrm>
          <a:prstGeom prst="roundRect">
            <a:avLst>
              <a:gd name="adj" fmla="val 8889"/>
            </a:avLst>
          </a:prstGeom>
          <a:solidFill>
            <a:srgbClr val="FFFFFF"/>
          </a:solidFill>
          <a:ln w="12700">
            <a:solidFill>
              <a:srgbClr val="C6D0DE"/>
            </a:solidFill>
            <a:prstDash val="solid"/>
          </a:ln>
        </p:spPr>
        <p:txBody>
          <a:bodyPr/>
          <a:lstStyle/>
          <a:p>
            <a:endParaRPr lang="en-US"/>
          </a:p>
        </p:txBody>
      </p:sp>
      <p:sp>
        <p:nvSpPr>
          <p:cNvPr id="31" name="s8-29"/>
          <p:cNvSpPr txBox="1"/>
          <p:nvPr/>
        </p:nvSpPr>
        <p:spPr>
          <a:xfrm>
            <a:off x="5136642" y="4434840"/>
            <a:ext cx="1853946" cy="822960"/>
          </a:xfrm>
          <a:prstGeom prst="rect">
            <a:avLst/>
          </a:prstGeom>
          <a:noFill/>
          <a:ln/>
        </p:spPr>
        <p:txBody>
          <a:bodyPr wrap="square" lIns="0" tIns="0" rIns="0" bIns="0" rtlCol="0" anchor="ctr"/>
          <a:lstStyle/>
          <a:p>
            <a:pPr marL="0" indent="0" algn="ctr">
              <a:lnSpc>
                <a:spcPct val="100000"/>
              </a:lnSpc>
              <a:buNone/>
            </a:pPr>
            <a:r>
              <a:rPr lang="en-US" sz="1300" b="1" dirty="0">
                <a:solidFill>
                  <a:srgbClr val="0F3D6E"/>
                </a:solidFill>
                <a:latin typeface="Calibri" pitchFamily="34" charset="0"/>
                <a:ea typeface="Calibri" pitchFamily="34" charset="-122"/>
                <a:cs typeface="Calibri" pitchFamily="34" charset="-120"/>
              </a:rPr>
              <a:t>dim_customer, dim_product</a:t>
            </a:r>
            <a:endParaRPr lang="en-US" sz="1300" dirty="0"/>
          </a:p>
          <a:p>
            <a:pPr marL="0" indent="0" algn="ctr">
              <a:lnSpc>
                <a:spcPct val="100000"/>
              </a:lnSpc>
              <a:buNone/>
            </a:pPr>
            <a:r>
              <a:rPr lang="en-US" sz="1100" dirty="0">
                <a:solidFill>
                  <a:srgbClr val="5B6578"/>
                </a:solidFill>
                <a:latin typeface="Calibri" pitchFamily="34" charset="0"/>
                <a:ea typeface="Calibri" pitchFamily="34" charset="-122"/>
                <a:cs typeface="Calibri" pitchFamily="34" charset="-120"/>
              </a:rPr>
              <a:t>slowly changing (SCD2)</a:t>
            </a:r>
            <a:endParaRPr lang="en-US" sz="1300" dirty="0"/>
          </a:p>
        </p:txBody>
      </p:sp>
      <p:sp>
        <p:nvSpPr>
          <p:cNvPr id="32" name="s8-30"/>
          <p:cNvSpPr/>
          <p:nvPr/>
        </p:nvSpPr>
        <p:spPr>
          <a:xfrm>
            <a:off x="7200900" y="4434840"/>
            <a:ext cx="2000250" cy="822960"/>
          </a:xfrm>
          <a:prstGeom prst="roundRect">
            <a:avLst>
              <a:gd name="adj" fmla="val 8889"/>
            </a:avLst>
          </a:prstGeom>
          <a:solidFill>
            <a:srgbClr val="FFFFFF"/>
          </a:solidFill>
          <a:ln w="12700">
            <a:solidFill>
              <a:srgbClr val="C6D0DE"/>
            </a:solidFill>
            <a:prstDash val="solid"/>
          </a:ln>
        </p:spPr>
        <p:txBody>
          <a:bodyPr/>
          <a:lstStyle/>
          <a:p>
            <a:endParaRPr lang="en-US"/>
          </a:p>
        </p:txBody>
      </p:sp>
      <p:sp>
        <p:nvSpPr>
          <p:cNvPr id="33" name="s8-31"/>
          <p:cNvSpPr txBox="1"/>
          <p:nvPr/>
        </p:nvSpPr>
        <p:spPr>
          <a:xfrm>
            <a:off x="7274052" y="4434840"/>
            <a:ext cx="1853946" cy="822960"/>
          </a:xfrm>
          <a:prstGeom prst="rect">
            <a:avLst/>
          </a:prstGeom>
          <a:noFill/>
          <a:ln/>
        </p:spPr>
        <p:txBody>
          <a:bodyPr wrap="square" lIns="0" tIns="0" rIns="0" bIns="0" rtlCol="0" anchor="ctr"/>
          <a:lstStyle/>
          <a:p>
            <a:pPr marL="0" indent="0" algn="ctr">
              <a:lnSpc>
                <a:spcPct val="100000"/>
              </a:lnSpc>
              <a:buNone/>
            </a:pPr>
            <a:r>
              <a:rPr lang="en-US" sz="1300" b="1" dirty="0">
                <a:solidFill>
                  <a:srgbClr val="0F3D6E"/>
                </a:solidFill>
                <a:latin typeface="Calibri" pitchFamily="34" charset="0"/>
                <a:ea typeface="Calibri" pitchFamily="34" charset="-122"/>
                <a:cs typeface="Calibri" pitchFamily="34" charset="-120"/>
              </a:rPr>
              <a:t>agg_orders, funnel, campaign, city_product</a:t>
            </a:r>
            <a:endParaRPr lang="en-US" sz="1300" dirty="0"/>
          </a:p>
          <a:p>
            <a:pPr marL="0" indent="0" algn="ctr">
              <a:lnSpc>
                <a:spcPct val="100000"/>
              </a:lnSpc>
              <a:buNone/>
            </a:pPr>
            <a:r>
              <a:rPr lang="en-US" sz="1100" dirty="0">
                <a:solidFill>
                  <a:srgbClr val="5B6578"/>
                </a:solidFill>
                <a:latin typeface="Calibri" pitchFamily="34" charset="0"/>
                <a:ea typeface="Calibri" pitchFamily="34" charset="-122"/>
                <a:cs typeface="Calibri" pitchFamily="34" charset="-120"/>
              </a:rPr>
              <a:t>daily aggregates</a:t>
            </a:r>
            <a:endParaRPr lang="en-US" sz="1300" dirty="0"/>
          </a:p>
        </p:txBody>
      </p:sp>
      <p:sp>
        <p:nvSpPr>
          <p:cNvPr id="34" name="s8-32"/>
          <p:cNvSpPr/>
          <p:nvPr/>
        </p:nvSpPr>
        <p:spPr>
          <a:xfrm>
            <a:off x="9338310" y="4434840"/>
            <a:ext cx="2000250" cy="822960"/>
          </a:xfrm>
          <a:prstGeom prst="roundRect">
            <a:avLst>
              <a:gd name="adj" fmla="val 8889"/>
            </a:avLst>
          </a:prstGeom>
          <a:solidFill>
            <a:srgbClr val="FFFFFF"/>
          </a:solidFill>
          <a:ln w="12700">
            <a:solidFill>
              <a:srgbClr val="C6D0DE"/>
            </a:solidFill>
            <a:prstDash val="solid"/>
          </a:ln>
        </p:spPr>
        <p:txBody>
          <a:bodyPr/>
          <a:lstStyle/>
          <a:p>
            <a:endParaRPr lang="en-US"/>
          </a:p>
        </p:txBody>
      </p:sp>
      <p:sp>
        <p:nvSpPr>
          <p:cNvPr id="35" name="s8-33"/>
          <p:cNvSpPr txBox="1"/>
          <p:nvPr/>
        </p:nvSpPr>
        <p:spPr>
          <a:xfrm>
            <a:off x="9411462" y="4434840"/>
            <a:ext cx="1853946" cy="822960"/>
          </a:xfrm>
          <a:prstGeom prst="rect">
            <a:avLst/>
          </a:prstGeom>
          <a:noFill/>
          <a:ln/>
        </p:spPr>
        <p:txBody>
          <a:bodyPr wrap="square" lIns="0" tIns="0" rIns="0" bIns="0" rtlCol="0" anchor="ctr"/>
          <a:lstStyle/>
          <a:p>
            <a:pPr marL="0" indent="0" algn="ctr">
              <a:lnSpc>
                <a:spcPct val="100000"/>
              </a:lnSpc>
              <a:buNone/>
            </a:pPr>
            <a:r>
              <a:rPr lang="en-US" sz="1300" b="1" dirty="0">
                <a:solidFill>
                  <a:srgbClr val="0F3D6E"/>
                </a:solidFill>
                <a:latin typeface="Calibri" pitchFamily="34" charset="0"/>
                <a:ea typeface="Calibri" pitchFamily="34" charset="-122"/>
                <a:cs typeface="Calibri" pitchFamily="34" charset="-120"/>
              </a:rPr>
              <a:t>customer_360</a:t>
            </a:r>
            <a:endParaRPr lang="en-US" sz="1300" dirty="0"/>
          </a:p>
          <a:p>
            <a:pPr marL="0" indent="0" algn="ctr">
              <a:lnSpc>
                <a:spcPct val="100000"/>
              </a:lnSpc>
              <a:buNone/>
            </a:pPr>
            <a:r>
              <a:rPr lang="en-US" sz="1100" dirty="0">
                <a:solidFill>
                  <a:srgbClr val="5B6578"/>
                </a:solidFill>
                <a:latin typeface="Calibri" pitchFamily="34" charset="0"/>
                <a:ea typeface="Calibri" pitchFamily="34" charset="-122"/>
                <a:cs typeface="Calibri" pitchFamily="34" charset="-120"/>
              </a:rPr>
              <a:t>one row per customer</a:t>
            </a:r>
            <a:endParaRPr lang="en-US" sz="1300" dirty="0"/>
          </a:p>
        </p:txBody>
      </p:sp>
      <p:sp>
        <p:nvSpPr>
          <p:cNvPr id="36" name="s8-34"/>
          <p:cNvSpPr txBox="1"/>
          <p:nvPr/>
        </p:nvSpPr>
        <p:spPr>
          <a:xfrm>
            <a:off x="548640" y="5623560"/>
            <a:ext cx="3657600" cy="731520"/>
          </a:xfrm>
          <a:prstGeom prst="rect">
            <a:avLst/>
          </a:prstGeom>
          <a:noFill/>
          <a:ln/>
        </p:spPr>
        <p:txBody>
          <a:bodyPr wrap="square" lIns="0" tIns="0" rIns="0" bIns="0" rtlCol="0" anchor="t"/>
          <a:lstStyle/>
          <a:p>
            <a:pPr marL="0" indent="0" algn="l">
              <a:lnSpc>
                <a:spcPct val="100000"/>
              </a:lnSpc>
              <a:buNone/>
            </a:pPr>
            <a:r>
              <a:rPr lang="en-US" sz="1500" b="1" dirty="0">
                <a:solidFill>
                  <a:srgbClr val="0F3D6E"/>
                </a:solidFill>
                <a:latin typeface="Calibri" pitchFamily="34" charset="0"/>
                <a:ea typeface="Calibri" pitchFamily="34" charset="-122"/>
                <a:cs typeface="Calibri" pitchFamily="34" charset="-120"/>
              </a:rPr>
              <a:t>Local lake</a:t>
            </a:r>
            <a:endParaRPr lang="en-US" sz="1500" dirty="0"/>
          </a:p>
          <a:p>
            <a:pPr marL="0" indent="0" algn="l">
              <a:lnSpc>
                <a:spcPct val="100000"/>
              </a:lnSpc>
              <a:buNone/>
            </a:pPr>
            <a:r>
              <a:rPr lang="en-US" sz="1300" dirty="0">
                <a:solidFill>
                  <a:srgbClr val="121212"/>
                </a:solidFill>
                <a:latin typeface="Calibri" pitchFamily="34" charset="0"/>
                <a:ea typeface="Calibri" pitchFamily="34" charset="-122"/>
                <a:cs typeface="Calibri" pitchFamily="34" charset="-120"/>
              </a:rPr>
              <a:t>Bronze and Silver: Delta folders on disk, rebuildable</a:t>
            </a:r>
            <a:endParaRPr lang="en-US" sz="1500" dirty="0"/>
          </a:p>
        </p:txBody>
      </p:sp>
      <p:sp>
        <p:nvSpPr>
          <p:cNvPr id="37" name="s8-35"/>
          <p:cNvSpPr txBox="1"/>
          <p:nvPr/>
        </p:nvSpPr>
        <p:spPr>
          <a:xfrm>
            <a:off x="4297680" y="5623560"/>
            <a:ext cx="3749040" cy="731520"/>
          </a:xfrm>
          <a:prstGeom prst="rect">
            <a:avLst/>
          </a:prstGeom>
          <a:noFill/>
          <a:ln/>
        </p:spPr>
        <p:txBody>
          <a:bodyPr wrap="square" lIns="0" tIns="0" rIns="0" bIns="0" rtlCol="0" anchor="t"/>
          <a:lstStyle/>
          <a:p>
            <a:pPr marL="0" indent="0" algn="l">
              <a:lnSpc>
                <a:spcPct val="100000"/>
              </a:lnSpc>
              <a:buNone/>
            </a:pPr>
            <a:r>
              <a:rPr lang="en-US" sz="1500" b="1" dirty="0">
                <a:solidFill>
                  <a:srgbClr val="0F3D6E"/>
                </a:solidFill>
                <a:latin typeface="Calibri" pitchFamily="34" charset="0"/>
                <a:ea typeface="Calibri" pitchFamily="34" charset="-122"/>
                <a:cs typeface="Calibri" pitchFamily="34" charset="-120"/>
              </a:rPr>
              <a:t>Databricks, Unity Catalog</a:t>
            </a:r>
            <a:endParaRPr lang="en-US" sz="1500" dirty="0"/>
          </a:p>
          <a:p>
            <a:pPr marL="0" indent="0" algn="l">
              <a:lnSpc>
                <a:spcPct val="100000"/>
              </a:lnSpc>
              <a:buNone/>
            </a:pPr>
            <a:r>
              <a:rPr lang="en-US" sz="1300" dirty="0">
                <a:solidFill>
                  <a:srgbClr val="121212"/>
                </a:solidFill>
                <a:latin typeface="Calibri" pitchFamily="34" charset="0"/>
                <a:ea typeface="Calibri" pitchFamily="34" charset="-122"/>
                <a:cs typeface="Calibri" pitchFamily="34" charset="-120"/>
              </a:rPr>
              <a:t>Silver mirror and 12 Gold tables</a:t>
            </a:r>
            <a:endParaRPr lang="en-US" sz="1500" dirty="0"/>
          </a:p>
        </p:txBody>
      </p:sp>
      <p:sp>
        <p:nvSpPr>
          <p:cNvPr id="38" name="s8-36"/>
          <p:cNvSpPr txBox="1"/>
          <p:nvPr/>
        </p:nvSpPr>
        <p:spPr>
          <a:xfrm>
            <a:off x="8138160" y="5623560"/>
            <a:ext cx="3474720" cy="731520"/>
          </a:xfrm>
          <a:prstGeom prst="rect">
            <a:avLst/>
          </a:prstGeom>
          <a:noFill/>
          <a:ln/>
        </p:spPr>
        <p:txBody>
          <a:bodyPr wrap="square" lIns="0" tIns="0" rIns="0" bIns="0" rtlCol="0" anchor="t"/>
          <a:lstStyle/>
          <a:p>
            <a:pPr marL="0" indent="0" algn="l">
              <a:lnSpc>
                <a:spcPct val="100000"/>
              </a:lnSpc>
              <a:buNone/>
            </a:pPr>
            <a:r>
              <a:rPr lang="en-US" sz="1500" b="1" dirty="0">
                <a:solidFill>
                  <a:srgbClr val="0F3D6E"/>
                </a:solidFill>
                <a:latin typeface="Calibri" pitchFamily="34" charset="0"/>
                <a:ea typeface="Calibri" pitchFamily="34" charset="-122"/>
                <a:cs typeface="Calibri" pitchFamily="34" charset="-120"/>
              </a:rPr>
              <a:t>Postgres 16</a:t>
            </a:r>
            <a:endParaRPr lang="en-US" sz="1500" dirty="0"/>
          </a:p>
          <a:p>
            <a:pPr marL="0" indent="0" algn="l">
              <a:lnSpc>
                <a:spcPct val="100000"/>
              </a:lnSpc>
              <a:buNone/>
            </a:pPr>
            <a:r>
              <a:rPr lang="en-US" sz="1300" dirty="0">
                <a:solidFill>
                  <a:srgbClr val="121212"/>
                </a:solidFill>
                <a:latin typeface="Calibri" pitchFamily="34" charset="0"/>
                <a:ea typeface="Calibri" pitchFamily="34" charset="-122"/>
                <a:cs typeface="Calibri" pitchFamily="34" charset="-120"/>
              </a:rPr>
              <a:t>16 live and serving tables, daily marts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9-0"/>
          <p:cNvSpPr txBox="1"/>
          <p:nvPr/>
        </p:nvSpPr>
        <p:spPr>
          <a:xfrm>
            <a:off x="548640" y="274320"/>
            <a:ext cx="8229600" cy="274320"/>
          </a:xfrm>
          <a:prstGeom prst="rect">
            <a:avLst/>
          </a:prstGeom>
          <a:noFill/>
          <a:ln/>
        </p:spPr>
        <p:txBody>
          <a:bodyPr wrap="square" lIns="0" tIns="0" rIns="0" bIns="0" rtlCol="0" anchor="t"/>
          <a:lstStyle/>
          <a:p>
            <a:pPr marL="0" indent="0" algn="l">
              <a:lnSpc>
                <a:spcPct val="100000"/>
              </a:lnSpc>
              <a:buNone/>
            </a:pPr>
            <a:r>
              <a:rPr lang="en-US" sz="1200" b="1" dirty="0">
                <a:solidFill>
                  <a:srgbClr val="5B6578"/>
                </a:solidFill>
                <a:latin typeface="Calibri" pitchFamily="34" charset="0"/>
                <a:ea typeface="Calibri" pitchFamily="34" charset="-122"/>
                <a:cs typeface="Calibri" pitchFamily="34" charset="-120"/>
              </a:rPr>
              <a:t>2  ARCHITECTURE AND DATA ENGINEERING</a:t>
            </a:r>
            <a:endParaRPr lang="en-US" sz="1200" dirty="0"/>
          </a:p>
        </p:txBody>
      </p:sp>
      <p:sp>
        <p:nvSpPr>
          <p:cNvPr id="3" name="s9-1"/>
          <p:cNvSpPr txBox="1"/>
          <p:nvPr/>
        </p:nvSpPr>
        <p:spPr>
          <a:xfrm>
            <a:off x="548640" y="530352"/>
            <a:ext cx="11064240" cy="685800"/>
          </a:xfrm>
          <a:prstGeom prst="rect">
            <a:avLst/>
          </a:prstGeom>
          <a:noFill/>
          <a:ln/>
        </p:spPr>
        <p:txBody>
          <a:bodyPr wrap="square" lIns="0" tIns="0" rIns="0" bIns="0" rtlCol="0" anchor="ctr"/>
          <a:lstStyle/>
          <a:p>
            <a:pPr marL="0" indent="0" algn="l">
              <a:lnSpc>
                <a:spcPct val="100000"/>
              </a:lnSpc>
              <a:buNone/>
            </a:pPr>
            <a:r>
              <a:rPr lang="en-US" sz="3000" b="1" dirty="0">
                <a:solidFill>
                  <a:srgbClr val="0F3D6E"/>
                </a:solidFill>
                <a:latin typeface="Calibri" pitchFamily="34" charset="0"/>
                <a:ea typeface="Calibri" pitchFamily="34" charset="-122"/>
                <a:cs typeface="Calibri" pitchFamily="34" charset="-120"/>
              </a:rPr>
              <a:t>Reliability: crash, duplicates, late and bad data</a:t>
            </a:r>
            <a:endParaRPr lang="en-US" sz="3000" dirty="0"/>
          </a:p>
        </p:txBody>
      </p:sp>
      <p:sp>
        <p:nvSpPr>
          <p:cNvPr id="4" name="s9-2"/>
          <p:cNvSpPr txBox="1"/>
          <p:nvPr/>
        </p:nvSpPr>
        <p:spPr>
          <a:xfrm>
            <a:off x="548640" y="6437376"/>
            <a:ext cx="5486400" cy="274320"/>
          </a:xfrm>
          <a:prstGeom prst="rect">
            <a:avLst/>
          </a:prstGeom>
          <a:noFill/>
          <a:ln/>
        </p:spPr>
        <p:txBody>
          <a:bodyPr wrap="square" lIns="0" tIns="0" rIns="0" bIns="0" rtlCol="0" anchor="t"/>
          <a:lstStyle/>
          <a:p>
            <a:pPr marL="0" indent="0" algn="l">
              <a:lnSpc>
                <a:spcPct val="100000"/>
              </a:lnSpc>
              <a:buNone/>
            </a:pPr>
            <a:r>
              <a:rPr lang="en-US" sz="1000" dirty="0">
                <a:solidFill>
                  <a:srgbClr val="5B6578"/>
                </a:solidFill>
                <a:latin typeface="Calibri" pitchFamily="34" charset="0"/>
                <a:ea typeface="Calibri" pitchFamily="34" charset="-122"/>
                <a:cs typeface="Calibri" pitchFamily="34" charset="-120"/>
              </a:rPr>
              <a:t>FunnelStream</a:t>
            </a:r>
            <a:endParaRPr lang="en-US" sz="1000" dirty="0"/>
          </a:p>
        </p:txBody>
      </p:sp>
      <p:sp>
        <p:nvSpPr>
          <p:cNvPr id="5" name="s9-3"/>
          <p:cNvSpPr txBox="1"/>
          <p:nvPr/>
        </p:nvSpPr>
        <p:spPr>
          <a:xfrm>
            <a:off x="10881360" y="6437376"/>
            <a:ext cx="758952" cy="274320"/>
          </a:xfrm>
          <a:prstGeom prst="rect">
            <a:avLst/>
          </a:prstGeom>
          <a:noFill/>
          <a:ln/>
        </p:spPr>
        <p:txBody>
          <a:bodyPr wrap="square" lIns="0" tIns="0" rIns="0" bIns="0" rtlCol="0" anchor="t"/>
          <a:lstStyle/>
          <a:p>
            <a:pPr marL="0" indent="0" algn="r">
              <a:lnSpc>
                <a:spcPct val="100000"/>
              </a:lnSpc>
              <a:buNone/>
            </a:pPr>
            <a:r>
              <a:rPr lang="en-US" sz="1000" dirty="0">
                <a:solidFill>
                  <a:srgbClr val="5B6578"/>
                </a:solidFill>
                <a:latin typeface="Calibri" pitchFamily="34" charset="0"/>
                <a:ea typeface="Calibri" pitchFamily="34" charset="-122"/>
                <a:cs typeface="Calibri" pitchFamily="34" charset="-120"/>
              </a:rPr>
              <a:t>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766560" cy="3621024"/>
        </p:xfrm>
        <a:graphic>
          <a:graphicData uri="http://schemas.openxmlformats.org/drawingml/2006/table">
            <a:tbl>
              <a:tblPr/>
              <a:tblGrid>
                <a:gridCol w="246888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603504">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When this happens</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0F3D6E"/>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this protects the data</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0F3D6E"/>
                    </a:solidFill>
                  </a:tcPr>
                </a:tc>
                <a:extLst>
                  <a:ext uri="{0D108BD9-81ED-4DB2-BD59-A6C34878D82A}">
                    <a16:rowId xmlns:a16="http://schemas.microsoft.com/office/drawing/2014/main" val="10000"/>
                  </a:ext>
                </a:extLst>
              </a:tr>
              <a:tr h="603504">
                <a:tc>
                  <a:txBody>
                    <a:bodyPr/>
                    <a:lstStyle/>
                    <a:p>
                      <a:pPr marL="0" indent="0">
                        <a:buNone/>
                      </a:pPr>
                      <a:r>
                        <a:rPr lang="en-US" sz="1400" dirty="0">
                          <a:solidFill>
                            <a:srgbClr val="121212"/>
                          </a:solidFill>
                          <a:latin typeface="Calibri" pitchFamily="34" charset="0"/>
                          <a:ea typeface="Calibri" pitchFamily="34" charset="-122"/>
                          <a:cs typeface="Calibri" pitchFamily="34" charset="-120"/>
                        </a:rPr>
                        <a:t>The Spark job is killed</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FFFFFF"/>
                    </a:solidFill>
                  </a:tcPr>
                </a:tc>
                <a:tc>
                  <a:txBody>
                    <a:bodyPr/>
                    <a:lstStyle/>
                    <a:p>
                      <a:pPr marL="0" indent="0">
                        <a:buNone/>
                      </a:pPr>
                      <a:r>
                        <a:rPr lang="en-US" sz="1400" dirty="0">
                          <a:solidFill>
                            <a:srgbClr val="121212"/>
                          </a:solidFill>
                          <a:latin typeface="Calibri" pitchFamily="34" charset="0"/>
                          <a:ea typeface="Calibri" pitchFamily="34" charset="-122"/>
                          <a:cs typeface="Calibri" pitchFamily="34" charset="-120"/>
                        </a:rPr>
                        <a:t>Checkpoints hold the Kafka offsets. The restart resumes from them.</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3504">
                <a:tc>
                  <a:txBody>
                    <a:bodyPr/>
                    <a:lstStyle/>
                    <a:p>
                      <a:pPr marL="0" indent="0">
                        <a:buNone/>
                      </a:pPr>
                      <a:r>
                        <a:rPr lang="en-US" sz="1400" dirty="0">
                          <a:solidFill>
                            <a:srgbClr val="121212"/>
                          </a:solidFill>
                          <a:latin typeface="Calibri" pitchFamily="34" charset="0"/>
                          <a:ea typeface="Calibri" pitchFamily="34" charset="-122"/>
                          <a:cs typeface="Calibri" pitchFamily="34" charset="-120"/>
                        </a:rPr>
                        <a:t>A message arrives twice</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EEF2F7"/>
                    </a:solidFill>
                  </a:tcPr>
                </a:tc>
                <a:tc>
                  <a:txBody>
                    <a:bodyPr/>
                    <a:lstStyle/>
                    <a:p>
                      <a:pPr marL="0" indent="0">
                        <a:buNone/>
                      </a:pPr>
                      <a:r>
                        <a:rPr lang="en-US" sz="1400" dirty="0">
                          <a:solidFill>
                            <a:srgbClr val="121212"/>
                          </a:solidFill>
                          <a:latin typeface="Calibri" pitchFamily="34" charset="0"/>
                          <a:ea typeface="Calibri" pitchFamily="34" charset="-122"/>
                          <a:cs typeface="Calibri" pitchFamily="34" charset="-120"/>
                        </a:rPr>
                        <a:t>Silver MERGE on the key inserts nothing the second time.</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603504">
                <a:tc>
                  <a:txBody>
                    <a:bodyPr/>
                    <a:lstStyle/>
                    <a:p>
                      <a:pPr marL="0" indent="0">
                        <a:buNone/>
                      </a:pPr>
                      <a:r>
                        <a:rPr lang="en-US" sz="1400" dirty="0">
                          <a:solidFill>
                            <a:srgbClr val="121212"/>
                          </a:solidFill>
                          <a:latin typeface="Calibri" pitchFamily="34" charset="0"/>
                          <a:ea typeface="Calibri" pitchFamily="34" charset="-122"/>
                          <a:cs typeface="Calibri" pitchFamily="34" charset="-120"/>
                        </a:rPr>
                        <a:t>An event arrives late</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FFFFFF"/>
                    </a:solidFill>
                  </a:tcPr>
                </a:tc>
                <a:tc>
                  <a:txBody>
                    <a:bodyPr/>
                    <a:lstStyle/>
                    <a:p>
                      <a:pPr marL="0" indent="0">
                        <a:buNone/>
                      </a:pPr>
                      <a:r>
                        <a:rPr lang="en-US" sz="1400" dirty="0">
                          <a:solidFill>
                            <a:srgbClr val="121212"/>
                          </a:solidFill>
                          <a:latin typeface="Calibri" pitchFamily="34" charset="0"/>
                          <a:ea typeface="Calibri" pitchFamily="34" charset="-122"/>
                          <a:cs typeface="Calibri" pitchFamily="34" charset="-120"/>
                        </a:rPr>
                        <a:t>Flagged is_late. Left out of live metrics, corrected by the batch.</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03504">
                <a:tc>
                  <a:txBody>
                    <a:bodyPr/>
                    <a:lstStyle/>
                    <a:p>
                      <a:pPr marL="0" indent="0">
                        <a:buNone/>
                      </a:pPr>
                      <a:r>
                        <a:rPr lang="en-US" sz="1400" dirty="0">
                          <a:solidFill>
                            <a:srgbClr val="121212"/>
                          </a:solidFill>
                          <a:latin typeface="Calibri" pitchFamily="34" charset="0"/>
                          <a:ea typeface="Calibri" pitchFamily="34" charset="-122"/>
                          <a:cs typeface="Calibri" pitchFamily="34" charset="-120"/>
                        </a:rPr>
                        <a:t>A row is bad</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EEF2F7"/>
                    </a:solidFill>
                  </a:tcPr>
                </a:tc>
                <a:tc>
                  <a:txBody>
                    <a:bodyPr/>
                    <a:lstStyle/>
                    <a:p>
                      <a:pPr marL="0" indent="0">
                        <a:buNone/>
                      </a:pPr>
                      <a:r>
                        <a:rPr lang="en-US" sz="1400" dirty="0">
                          <a:solidFill>
                            <a:srgbClr val="121212"/>
                          </a:solidFill>
                          <a:latin typeface="Calibri" pitchFamily="34" charset="0"/>
                          <a:ea typeface="Calibri" pitchFamily="34" charset="-122"/>
                          <a:cs typeface="Calibri" pitchFamily="34" charset="-120"/>
                        </a:rPr>
                        <a:t>Quarantined with a reason. Never in the numbers.</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603504">
                <a:tc>
                  <a:txBody>
                    <a:bodyPr/>
                    <a:lstStyle/>
                    <a:p>
                      <a:pPr marL="0" indent="0">
                        <a:buNone/>
                      </a:pPr>
                      <a:r>
                        <a:rPr lang="en-US" sz="1400" dirty="0">
                          <a:solidFill>
                            <a:srgbClr val="121212"/>
                          </a:solidFill>
                          <a:latin typeface="Calibri" pitchFamily="34" charset="0"/>
                          <a:ea typeface="Calibri" pitchFamily="34" charset="-122"/>
                          <a:cs typeface="Calibri" pitchFamily="34" charset="-120"/>
                        </a:rPr>
                        <a:t>Databricks is unavailable</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FFFFFF"/>
                    </a:solidFill>
                  </a:tcPr>
                </a:tc>
                <a:tc>
                  <a:txBody>
                    <a:bodyPr/>
                    <a:lstStyle/>
                    <a:p>
                      <a:pPr marL="0" indent="0">
                        <a:buNone/>
                      </a:pPr>
                      <a:r>
                        <a:rPr lang="en-US" sz="1400" dirty="0">
                          <a:solidFill>
                            <a:srgbClr val="121212"/>
                          </a:solidFill>
                          <a:latin typeface="Calibri" pitchFamily="34" charset="0"/>
                          <a:ea typeface="Calibri" pitchFamily="34" charset="-122"/>
                          <a:cs typeface="Calibri" pitchFamily="34" charset="-120"/>
                        </a:rPr>
                        <a:t>A second Gold store backend loads the tables into Postgres.</a:t>
                      </a:r>
                      <a:endParaRPr lang="en-US" sz="1400" dirty="0">
                        <a:latin typeface="Calibri" charset="0"/>
                        <a:ea typeface="Calibri" charset="0"/>
                        <a:cs typeface="Calibri" charset="0"/>
                      </a:endParaRPr>
                    </a:p>
                  </a:txBody>
                  <a:tcPr marT="27432" marB="27432" anchor="ctr">
                    <a:lnL w="6350" cap="flat" cmpd="sng" algn="ctr">
                      <a:solidFill>
                        <a:srgbClr val="C6D0DE"/>
                      </a:solidFill>
                      <a:prstDash val="solid"/>
                      <a:round/>
                      <a:headEnd type="none" w="med" len="med"/>
                      <a:tailEnd type="none" w="med" len="med"/>
                    </a:lnL>
                    <a:lnR w="6350" cap="flat" cmpd="sng" algn="ctr">
                      <a:solidFill>
                        <a:srgbClr val="C6D0DE"/>
                      </a:solidFill>
                      <a:prstDash val="solid"/>
                      <a:round/>
                      <a:headEnd type="none" w="med" len="med"/>
                      <a:tailEnd type="none" w="med" len="med"/>
                    </a:lnR>
                    <a:lnT w="6350" cap="flat" cmpd="sng" algn="ctr">
                      <a:solidFill>
                        <a:srgbClr val="C6D0DE"/>
                      </a:solidFill>
                      <a:prstDash val="solid"/>
                      <a:round/>
                      <a:headEnd type="none" w="med" len="med"/>
                      <a:tailEnd type="none" w="med" len="med"/>
                    </a:lnT>
                    <a:lnB w="6350" cap="flat" cmpd="sng" algn="ctr">
                      <a:solidFill>
                        <a:srgbClr val="C6D0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9-5"/>
          <p:cNvSpPr/>
          <p:nvPr/>
        </p:nvSpPr>
        <p:spPr>
          <a:xfrm>
            <a:off x="7955280" y="1600200"/>
            <a:ext cx="3657600" cy="2011680"/>
          </a:xfrm>
          <a:prstGeom prst="roundRect">
            <a:avLst>
              <a:gd name="adj" fmla="val 5455"/>
            </a:avLst>
          </a:prstGeom>
          <a:solidFill>
            <a:srgbClr val="EEF2F7"/>
          </a:solidFill>
          <a:ln w="12700">
            <a:solidFill>
              <a:srgbClr val="EEF2F7"/>
            </a:solidFill>
            <a:prstDash val="solid"/>
          </a:ln>
        </p:spPr>
        <p:txBody>
          <a:bodyPr/>
          <a:lstStyle/>
          <a:p>
            <a:endParaRPr lang="en-US"/>
          </a:p>
        </p:txBody>
      </p:sp>
      <p:sp>
        <p:nvSpPr>
          <p:cNvPr id="8" name="s9-6"/>
          <p:cNvSpPr txBox="1"/>
          <p:nvPr/>
        </p:nvSpPr>
        <p:spPr>
          <a:xfrm>
            <a:off x="8119872" y="1731874"/>
            <a:ext cx="3328416" cy="1748333"/>
          </a:xfrm>
          <a:prstGeom prst="rect">
            <a:avLst/>
          </a:prstGeom>
          <a:noFill/>
          <a:ln/>
        </p:spPr>
        <p:txBody>
          <a:bodyPr wrap="square" lIns="0" tIns="0" rIns="0" bIns="0" rtlCol="0" anchor="t"/>
          <a:lstStyle/>
          <a:p>
            <a:pPr marL="0" indent="0" algn="l">
              <a:lnSpc>
                <a:spcPct val="100000"/>
              </a:lnSpc>
              <a:spcAft>
                <a:spcPts val="400"/>
              </a:spcAft>
              <a:buNone/>
            </a:pPr>
            <a:r>
              <a:rPr lang="en-US" sz="1600" b="1" dirty="0">
                <a:solidFill>
                  <a:srgbClr val="0F3D6E"/>
                </a:solidFill>
                <a:latin typeface="Calibri" pitchFamily="34" charset="0"/>
                <a:ea typeface="Calibri" pitchFamily="34" charset="-122"/>
                <a:cs typeface="Calibri" pitchFamily="34" charset="-120"/>
              </a:rPr>
              <a:t>Airflow: ads_yesterday_report</a:t>
            </a:r>
            <a:endParaRPr lang="en-US" sz="1600" dirty="0"/>
          </a:p>
          <a:p>
            <a:pPr marL="0" indent="0" algn="l">
              <a:lnSpc>
                <a:spcPct val="100000"/>
              </a:lnSpc>
              <a:spcAft>
                <a:spcPts val="300"/>
              </a:spcAft>
              <a:buNone/>
            </a:pPr>
            <a:r>
              <a:rPr lang="en-US" sz="1400" dirty="0">
                <a:solidFill>
                  <a:srgbClr val="121212"/>
                </a:solidFill>
                <a:latin typeface="Calibri" pitchFamily="34" charset="0"/>
                <a:ea typeface="Calibri" pitchFamily="34" charset="-122"/>
                <a:cs typeface="Calibri" pitchFamily="34" charset="-120"/>
              </a:rPr>
              <a:t>Runs at 03:00 UTC. Pulls the ad API once for yesterday and stores a snapshot. Retries on HTTP 503. A rerun returns the stored report without calling the API.</a:t>
            </a:r>
            <a:endParaRPr lang="en-US" sz="1600" dirty="0"/>
          </a:p>
        </p:txBody>
      </p:sp>
      <p:sp>
        <p:nvSpPr>
          <p:cNvPr id="9" name="s9-7"/>
          <p:cNvSpPr/>
          <p:nvPr/>
        </p:nvSpPr>
        <p:spPr>
          <a:xfrm>
            <a:off x="7955280" y="3794760"/>
            <a:ext cx="3657600" cy="2423160"/>
          </a:xfrm>
          <a:prstGeom prst="roundRect">
            <a:avLst>
              <a:gd name="adj" fmla="val 4528"/>
            </a:avLst>
          </a:prstGeom>
          <a:solidFill>
            <a:srgbClr val="0F3D6E"/>
          </a:solidFill>
          <a:ln w="12700">
            <a:solidFill>
              <a:srgbClr val="0F3D6E"/>
            </a:solidFill>
            <a:prstDash val="solid"/>
          </a:ln>
        </p:spPr>
        <p:txBody>
          <a:bodyPr/>
          <a:lstStyle/>
          <a:p>
            <a:endParaRPr lang="en-US"/>
          </a:p>
        </p:txBody>
      </p:sp>
      <p:sp>
        <p:nvSpPr>
          <p:cNvPr id="6" name="s9-8"/>
          <p:cNvSpPr txBox="1"/>
          <p:nvPr/>
        </p:nvSpPr>
        <p:spPr>
          <a:xfrm>
            <a:off x="8138160" y="3886200"/>
            <a:ext cx="3291840" cy="2286000"/>
          </a:xfrm>
          <a:prstGeom prst="rect">
            <a:avLst/>
          </a:prstGeom>
          <a:noFill/>
          <a:ln/>
        </p:spPr>
        <p:txBody>
          <a:bodyPr wrap="square" lIns="0" tIns="0" rIns="0" bIns="0" rtlCol="0" anchor="t"/>
          <a:lstStyle/>
          <a:p>
            <a:pPr marL="0" indent="0" algn="l">
              <a:lnSpc>
                <a:spcPct val="100000"/>
              </a:lnSpc>
              <a:spcAft>
                <a:spcPts val="400"/>
              </a:spcAft>
              <a:buNone/>
            </a:pPr>
            <a:r>
              <a:rPr lang="en-US" sz="1500" b="1" dirty="0">
                <a:solidFill>
                  <a:srgbClr val="FFFFFF"/>
                </a:solidFill>
                <a:latin typeface="Calibri" pitchFamily="34" charset="0"/>
                <a:ea typeface="Calibri" pitchFamily="34" charset="-122"/>
                <a:cs typeface="Calibri" pitchFamily="34" charset="-120"/>
              </a:rPr>
              <a:t>Failure demo, measured twice</a:t>
            </a:r>
            <a:endParaRPr lang="en-US" sz="1500" dirty="0"/>
          </a:p>
          <a:p>
            <a:pPr marL="0" indent="0" algn="l">
              <a:lnSpc>
                <a:spcPct val="100000"/>
              </a:lnSpc>
              <a:spcAft>
                <a:spcPts val="400"/>
              </a:spcAft>
              <a:buNone/>
            </a:pPr>
            <a:r>
              <a:rPr lang="en-US" sz="2600" b="1" dirty="0">
                <a:solidFill>
                  <a:srgbClr val="8EE0A6"/>
                </a:solidFill>
                <a:latin typeface="Calibri" pitchFamily="34" charset="0"/>
                <a:ea typeface="Calibri" pitchFamily="34" charset="-122"/>
                <a:cs typeface="Calibri" pitchFamily="34" charset="-120"/>
              </a:rPr>
              <a:t>NO DUPLICATES</a:t>
            </a:r>
            <a:endParaRPr lang="en-US" sz="1500" dirty="0"/>
          </a:p>
          <a:p>
            <a:pPr marL="0" indent="0" algn="l">
              <a:lnSpc>
                <a:spcPct val="100000"/>
              </a:lnSpc>
              <a:spcAft>
                <a:spcPts val="300"/>
              </a:spcAft>
              <a:buNone/>
            </a:pPr>
            <a:r>
              <a:rPr lang="en-US" sz="1300" dirty="0">
                <a:solidFill>
                  <a:srgbClr val="DCE6F2"/>
                </a:solidFill>
                <a:latin typeface="Calibri" pitchFamily="34" charset="0"/>
                <a:ea typeface="Calibri" pitchFamily="34" charset="-122"/>
                <a:cs typeface="Calibri" pitchFamily="34" charset="-120"/>
              </a:rPr>
              <a:t>Alert "Silver job silent" fired 2 min 12 s and 2 min 54 s after the kill. The promise is within 3 minutes.</a:t>
            </a:r>
            <a:endParaRPr lang="en-US" sz="1500" dirty="0"/>
          </a:p>
          <a:p>
            <a:pPr marL="0" indent="0" algn="l">
              <a:lnSpc>
                <a:spcPct val="100000"/>
              </a:lnSpc>
              <a:buNone/>
            </a:pPr>
            <a:r>
              <a:rPr lang="en-US" sz="1200" i="1" dirty="0">
                <a:solidFill>
                  <a:srgbClr val="A9CFFB"/>
                </a:solidFill>
                <a:latin typeface="Calibri" pitchFamily="34" charset="0"/>
                <a:ea typeface="Calibri" pitchFamily="34" charset="-122"/>
                <a:cs typeface="Calibri" pitchFamily="34" charset="-120"/>
              </a:rPr>
              <a:t>The check covers Silver only.</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10-0"/>
          <p:cNvSpPr txBox="1"/>
          <p:nvPr/>
        </p:nvSpPr>
        <p:spPr>
          <a:xfrm>
            <a:off x="548640" y="274320"/>
            <a:ext cx="8229600" cy="274320"/>
          </a:xfrm>
          <a:prstGeom prst="rect">
            <a:avLst/>
          </a:prstGeom>
          <a:noFill/>
          <a:ln/>
        </p:spPr>
        <p:txBody>
          <a:bodyPr wrap="square" lIns="0" tIns="0" rIns="0" bIns="0" rtlCol="0" anchor="t"/>
          <a:lstStyle/>
          <a:p>
            <a:pPr marL="0" indent="0" algn="l">
              <a:lnSpc>
                <a:spcPct val="100000"/>
              </a:lnSpc>
              <a:buNone/>
            </a:pPr>
            <a:r>
              <a:rPr lang="en-US" sz="1200" b="1" dirty="0">
                <a:solidFill>
                  <a:srgbClr val="5B6578"/>
                </a:solidFill>
                <a:latin typeface="Calibri" pitchFamily="34" charset="0"/>
                <a:ea typeface="Calibri" pitchFamily="34" charset="-122"/>
                <a:cs typeface="Calibri" pitchFamily="34" charset="-120"/>
              </a:rPr>
              <a:t>3  OBSERVABILITY AND BUSINESS INTELLIGENCE</a:t>
            </a:r>
            <a:endParaRPr lang="en-US" sz="1200" dirty="0"/>
          </a:p>
        </p:txBody>
      </p:sp>
      <p:sp>
        <p:nvSpPr>
          <p:cNvPr id="3" name="s10-1"/>
          <p:cNvSpPr txBox="1"/>
          <p:nvPr/>
        </p:nvSpPr>
        <p:spPr>
          <a:xfrm>
            <a:off x="548640" y="530352"/>
            <a:ext cx="11064240" cy="685800"/>
          </a:xfrm>
          <a:prstGeom prst="rect">
            <a:avLst/>
          </a:prstGeom>
          <a:noFill/>
          <a:ln/>
        </p:spPr>
        <p:txBody>
          <a:bodyPr wrap="square" lIns="0" tIns="0" rIns="0" bIns="0" rtlCol="0" anchor="ctr"/>
          <a:lstStyle/>
          <a:p>
            <a:pPr marL="0" indent="0" algn="l">
              <a:lnSpc>
                <a:spcPct val="100000"/>
              </a:lnSpc>
              <a:buNone/>
            </a:pPr>
            <a:r>
              <a:rPr lang="en-US" sz="3000" b="1" dirty="0">
                <a:solidFill>
                  <a:srgbClr val="0F3D6E"/>
                </a:solidFill>
                <a:latin typeface="Calibri" pitchFamily="34" charset="0"/>
                <a:ea typeface="Calibri" pitchFamily="34" charset="-122"/>
                <a:cs typeface="Calibri" pitchFamily="34" charset="-120"/>
              </a:rPr>
              <a:t>Grafana: is the pipeline alive and clean?</a:t>
            </a:r>
            <a:endParaRPr lang="en-US" sz="3000" dirty="0"/>
          </a:p>
        </p:txBody>
      </p:sp>
      <p:sp>
        <p:nvSpPr>
          <p:cNvPr id="4" name="s10-2"/>
          <p:cNvSpPr txBox="1"/>
          <p:nvPr/>
        </p:nvSpPr>
        <p:spPr>
          <a:xfrm>
            <a:off x="548640" y="6437376"/>
            <a:ext cx="5486400" cy="274320"/>
          </a:xfrm>
          <a:prstGeom prst="rect">
            <a:avLst/>
          </a:prstGeom>
          <a:noFill/>
          <a:ln/>
        </p:spPr>
        <p:txBody>
          <a:bodyPr wrap="square" lIns="0" tIns="0" rIns="0" bIns="0" rtlCol="0" anchor="t"/>
          <a:lstStyle/>
          <a:p>
            <a:pPr marL="0" indent="0" algn="l">
              <a:lnSpc>
                <a:spcPct val="100000"/>
              </a:lnSpc>
              <a:buNone/>
            </a:pPr>
            <a:r>
              <a:rPr lang="en-US" sz="1000" dirty="0">
                <a:solidFill>
                  <a:srgbClr val="5B6578"/>
                </a:solidFill>
                <a:latin typeface="Calibri" pitchFamily="34" charset="0"/>
                <a:ea typeface="Calibri" pitchFamily="34" charset="-122"/>
                <a:cs typeface="Calibri" pitchFamily="34" charset="-120"/>
              </a:rPr>
              <a:t>FunnelStream</a:t>
            </a:r>
            <a:endParaRPr lang="en-US" sz="1000" dirty="0"/>
          </a:p>
        </p:txBody>
      </p:sp>
      <p:sp>
        <p:nvSpPr>
          <p:cNvPr id="5" name="s10-3"/>
          <p:cNvSpPr txBox="1"/>
          <p:nvPr/>
        </p:nvSpPr>
        <p:spPr>
          <a:xfrm>
            <a:off x="10881360" y="6437376"/>
            <a:ext cx="758952" cy="274320"/>
          </a:xfrm>
          <a:prstGeom prst="rect">
            <a:avLst/>
          </a:prstGeom>
          <a:noFill/>
          <a:ln/>
        </p:spPr>
        <p:txBody>
          <a:bodyPr wrap="square" lIns="0" tIns="0" rIns="0" bIns="0" rtlCol="0" anchor="t"/>
          <a:lstStyle/>
          <a:p>
            <a:pPr marL="0" indent="0" algn="r">
              <a:lnSpc>
                <a:spcPct val="100000"/>
              </a:lnSpc>
              <a:buNone/>
            </a:pPr>
            <a:r>
              <a:rPr lang="en-US" sz="1000" dirty="0">
                <a:solidFill>
                  <a:srgbClr val="5B6578"/>
                </a:solidFill>
                <a:latin typeface="Calibri" pitchFamily="34" charset="0"/>
                <a:ea typeface="Calibri" pitchFamily="34" charset="-122"/>
                <a:cs typeface="Calibri" pitchFamily="34" charset="-120"/>
              </a:rPr>
              <a:t>10</a:t>
            </a:r>
            <a:endParaRPr lang="en-US" sz="1000" dirty="0"/>
          </a:p>
        </p:txBody>
      </p:sp>
      <p:sp>
        <p:nvSpPr>
          <p:cNvPr id="6" name="Shape 4"/>
          <p:cNvSpPr/>
          <p:nvPr/>
        </p:nvSpPr>
        <p:spPr>
          <a:xfrm>
            <a:off x="586193" y="1335024"/>
            <a:ext cx="5868495" cy="4736592"/>
          </a:xfrm>
          <a:prstGeom prst="rect">
            <a:avLst/>
          </a:prstGeom>
          <a:solidFill>
            <a:srgbClr val="FFFFFF"/>
          </a:solidFill>
          <a:ln w="12700">
            <a:solidFill>
              <a:srgbClr val="C6D0DE"/>
            </a:solidFill>
            <a:prstDash val="solid"/>
          </a:ln>
          <a:effectLst>
            <a:outerShdw blurRad="76200" dist="25400" dir="5400000" algn="bl" rotWithShape="0">
              <a:srgbClr val="000000">
                <a:alpha val="18000"/>
              </a:srgbClr>
            </a:outerShdw>
          </a:effectLst>
        </p:spPr>
        <p:txBody>
          <a:bodyPr/>
          <a:lstStyle/>
          <a:p>
            <a:endParaRPr lang="en-US"/>
          </a:p>
        </p:txBody>
      </p:sp>
      <p:pic>
        <p:nvPicPr>
          <p:cNvPr id="7" name="Image 0" descr="pipeline live screenshot"/>
          <p:cNvPicPr>
            <a:picLocks noChangeAspect="1"/>
          </p:cNvPicPr>
          <p:nvPr/>
        </p:nvPicPr>
        <p:blipFill>
          <a:blip r:embed="rId3"/>
          <a:stretch>
            <a:fillRect/>
          </a:stretch>
        </p:blipFill>
        <p:spPr>
          <a:xfrm>
            <a:off x="622769" y="1371600"/>
            <a:ext cx="5795343" cy="4663440"/>
          </a:xfrm>
          <a:prstGeom prst="rect">
            <a:avLst/>
          </a:prstGeom>
        </p:spPr>
      </p:pic>
      <p:sp>
        <p:nvSpPr>
          <p:cNvPr id="8" name="s10-5"/>
          <p:cNvSpPr txBox="1"/>
          <p:nvPr/>
        </p:nvSpPr>
        <p:spPr>
          <a:xfrm>
            <a:off x="6812280" y="1371600"/>
            <a:ext cx="4830775" cy="4754880"/>
          </a:xfrm>
          <a:prstGeom prst="rect">
            <a:avLst/>
          </a:prstGeom>
          <a:noFill/>
          <a:ln/>
        </p:spPr>
        <p:txBody>
          <a:bodyPr wrap="square" lIns="0" tIns="0" rIns="0" bIns="0" rtlCol="0" anchor="t"/>
          <a:lstStyle/>
          <a:p>
            <a:pPr marL="0" indent="0" algn="l">
              <a:lnSpc>
                <a:spcPct val="100000"/>
              </a:lnSpc>
              <a:spcAft>
                <a:spcPts val="800"/>
              </a:spcAft>
              <a:buNone/>
            </a:pPr>
            <a:r>
              <a:rPr lang="en-US" sz="1800" b="1" dirty="0">
                <a:solidFill>
                  <a:srgbClr val="0F3D6E"/>
                </a:solidFill>
                <a:latin typeface="Calibri" pitchFamily="34" charset="0"/>
                <a:ea typeface="Calibri" pitchFamily="34" charset="-122"/>
                <a:cs typeface="Calibri" pitchFamily="34" charset="-120"/>
              </a:rPr>
              <a:t>What the engineer reads</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Traffic. </a:t>
            </a:r>
            <a:r>
              <a:rPr lang="en-US" sz="1500" dirty="0">
                <a:solidFill>
                  <a:srgbClr val="121212"/>
                </a:solidFill>
                <a:latin typeface="Calibri" pitchFamily="34" charset="0"/>
                <a:ea typeface="Calibri" pitchFamily="34" charset="-122"/>
                <a:cs typeface="Calibri" pitchFamily="34" charset="-120"/>
              </a:rPr>
              <a:t>Events, active sessions and orders per minute show whether the stream is alive.</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Quality. </a:t>
            </a:r>
            <a:r>
              <a:rPr lang="en-US" sz="1500" dirty="0">
                <a:solidFill>
                  <a:srgbClr val="121212"/>
                </a:solidFill>
                <a:latin typeface="Calibri" pitchFamily="34" charset="0"/>
                <a:ea typeface="Calibri" pitchFamily="34" charset="-122"/>
                <a:cs typeface="Calibri" pitchFamily="34" charset="-120"/>
              </a:rPr>
              <a:t>Late-event rate 2.5% and quarantine share 1.4% sit under the alert limits of 5% and 2%.</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Liveness. </a:t>
            </a:r>
            <a:r>
              <a:rPr lang="en-US" sz="1500" dirty="0">
                <a:solidFill>
                  <a:srgbClr val="121212"/>
                </a:solidFill>
                <a:latin typeface="Calibri" pitchFamily="34" charset="0"/>
                <a:ea typeface="Calibri" pitchFamily="34" charset="-122"/>
                <a:cs typeface="Calibri" pitchFamily="34" charset="-120"/>
              </a:rPr>
              <a:t>The Silver job reported 7 seconds ago. No report for 2 minutes fires an alert.</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Batch lane. </a:t>
            </a:r>
            <a:r>
              <a:rPr lang="en-US" sz="1500" dirty="0">
                <a:solidFill>
                  <a:srgbClr val="121212"/>
                </a:solidFill>
                <a:latin typeface="Calibri" pitchFamily="34" charset="0"/>
                <a:ea typeface="Calibri" pitchFamily="34" charset="-122"/>
                <a:cs typeface="Calibri" pitchFamily="34" charset="-120"/>
              </a:rPr>
              <a:t>Gold update and publish age show 1 day in this capture, because the batch runs on demand.</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Alert table. </a:t>
            </a:r>
            <a:r>
              <a:rPr lang="en-US" sz="1500" dirty="0">
                <a:solidFill>
                  <a:srgbClr val="121212"/>
                </a:solidFill>
                <a:latin typeface="Calibri" pitchFamily="34" charset="0"/>
                <a:ea typeface="Calibri" pitchFamily="34" charset="-122"/>
                <a:cs typeface="Calibri" pitchFamily="34" charset="-120"/>
              </a:rPr>
              <a:t>Each rule says when it fires and what to do.</a:t>
            </a:r>
            <a:endParaRPr lang="en-US" sz="1800" dirty="0"/>
          </a:p>
        </p:txBody>
      </p:sp>
      <p:sp>
        <p:nvSpPr>
          <p:cNvPr id="9" name="s10-6"/>
          <p:cNvSpPr txBox="1"/>
          <p:nvPr/>
        </p:nvSpPr>
        <p:spPr>
          <a:xfrm>
            <a:off x="548640" y="6053328"/>
            <a:ext cx="5943600" cy="365760"/>
          </a:xfrm>
          <a:prstGeom prst="rect">
            <a:avLst/>
          </a:prstGeom>
          <a:noFill/>
          <a:ln/>
        </p:spPr>
        <p:txBody>
          <a:bodyPr wrap="square" lIns="0" tIns="0" rIns="0" bIns="0" rtlCol="0" anchor="t"/>
          <a:lstStyle/>
          <a:p>
            <a:pPr marL="0" indent="0" algn="ctr">
              <a:lnSpc>
                <a:spcPct val="100000"/>
              </a:lnSpc>
              <a:buNone/>
            </a:pPr>
            <a:r>
              <a:rPr lang="en-US" sz="1100" i="1" dirty="0">
                <a:solidFill>
                  <a:srgbClr val="5B6578"/>
                </a:solidFill>
                <a:latin typeface="Calibri" pitchFamily="34" charset="0"/>
                <a:ea typeface="Calibri" pitchFamily="34" charset="-122"/>
                <a:cs typeface="Calibri" pitchFamily="34" charset="-120"/>
              </a:rPr>
              <a:t>Grafana, Pipeline live, captured at the end of the 13 October 2026 rehearsal. The generator had just stopped, so events per minute is 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11-0"/>
          <p:cNvSpPr txBox="1"/>
          <p:nvPr/>
        </p:nvSpPr>
        <p:spPr>
          <a:xfrm>
            <a:off x="548640" y="274320"/>
            <a:ext cx="8229600" cy="274320"/>
          </a:xfrm>
          <a:prstGeom prst="rect">
            <a:avLst/>
          </a:prstGeom>
          <a:noFill/>
          <a:ln/>
        </p:spPr>
        <p:txBody>
          <a:bodyPr wrap="square" lIns="0" tIns="0" rIns="0" bIns="0" rtlCol="0" anchor="t"/>
          <a:lstStyle/>
          <a:p>
            <a:pPr marL="0" indent="0" algn="l">
              <a:lnSpc>
                <a:spcPct val="100000"/>
              </a:lnSpc>
              <a:buNone/>
            </a:pPr>
            <a:r>
              <a:rPr lang="en-US" sz="1200" b="1" dirty="0">
                <a:solidFill>
                  <a:srgbClr val="5B6578"/>
                </a:solidFill>
                <a:latin typeface="Calibri" pitchFamily="34" charset="0"/>
                <a:ea typeface="Calibri" pitchFamily="34" charset="-122"/>
                <a:cs typeface="Calibri" pitchFamily="34" charset="-120"/>
              </a:rPr>
              <a:t>3  OBSERVABILITY AND BUSINESS INTELLIGENCE</a:t>
            </a:r>
            <a:endParaRPr lang="en-US" sz="1200" dirty="0"/>
          </a:p>
        </p:txBody>
      </p:sp>
      <p:sp>
        <p:nvSpPr>
          <p:cNvPr id="3" name="s11-1"/>
          <p:cNvSpPr txBox="1"/>
          <p:nvPr/>
        </p:nvSpPr>
        <p:spPr>
          <a:xfrm>
            <a:off x="548640" y="530352"/>
            <a:ext cx="11064240" cy="685800"/>
          </a:xfrm>
          <a:prstGeom prst="rect">
            <a:avLst/>
          </a:prstGeom>
          <a:noFill/>
          <a:ln/>
        </p:spPr>
        <p:txBody>
          <a:bodyPr wrap="square" lIns="0" tIns="0" rIns="0" bIns="0" rtlCol="0" anchor="ctr"/>
          <a:lstStyle/>
          <a:p>
            <a:pPr marL="0" indent="0" algn="l">
              <a:lnSpc>
                <a:spcPct val="100000"/>
              </a:lnSpc>
              <a:buNone/>
            </a:pPr>
            <a:r>
              <a:rPr lang="en-US" sz="3000" b="1" dirty="0">
                <a:solidFill>
                  <a:srgbClr val="0F3D6E"/>
                </a:solidFill>
                <a:latin typeface="Calibri" pitchFamily="34" charset="0"/>
                <a:ea typeface="Calibri" pitchFamily="34" charset="-122"/>
                <a:cs typeface="Calibri" pitchFamily="34" charset="-120"/>
              </a:rPr>
              <a:t>Grafana: is the 20-minute express promise holding?</a:t>
            </a:r>
            <a:endParaRPr lang="en-US" sz="3000" dirty="0"/>
          </a:p>
        </p:txBody>
      </p:sp>
      <p:sp>
        <p:nvSpPr>
          <p:cNvPr id="4" name="s11-2"/>
          <p:cNvSpPr txBox="1"/>
          <p:nvPr/>
        </p:nvSpPr>
        <p:spPr>
          <a:xfrm>
            <a:off x="548640" y="6437376"/>
            <a:ext cx="5486400" cy="274320"/>
          </a:xfrm>
          <a:prstGeom prst="rect">
            <a:avLst/>
          </a:prstGeom>
          <a:noFill/>
          <a:ln/>
        </p:spPr>
        <p:txBody>
          <a:bodyPr wrap="square" lIns="0" tIns="0" rIns="0" bIns="0" rtlCol="0" anchor="t"/>
          <a:lstStyle/>
          <a:p>
            <a:pPr marL="0" indent="0" algn="l">
              <a:lnSpc>
                <a:spcPct val="100000"/>
              </a:lnSpc>
              <a:buNone/>
            </a:pPr>
            <a:r>
              <a:rPr lang="en-US" sz="1000" dirty="0">
                <a:solidFill>
                  <a:srgbClr val="5B6578"/>
                </a:solidFill>
                <a:latin typeface="Calibri" pitchFamily="34" charset="0"/>
                <a:ea typeface="Calibri" pitchFamily="34" charset="-122"/>
                <a:cs typeface="Calibri" pitchFamily="34" charset="-120"/>
              </a:rPr>
              <a:t>FunnelStream</a:t>
            </a:r>
            <a:endParaRPr lang="en-US" sz="1000" dirty="0"/>
          </a:p>
        </p:txBody>
      </p:sp>
      <p:sp>
        <p:nvSpPr>
          <p:cNvPr id="5" name="s11-3"/>
          <p:cNvSpPr txBox="1"/>
          <p:nvPr/>
        </p:nvSpPr>
        <p:spPr>
          <a:xfrm>
            <a:off x="10881360" y="6437376"/>
            <a:ext cx="758952" cy="274320"/>
          </a:xfrm>
          <a:prstGeom prst="rect">
            <a:avLst/>
          </a:prstGeom>
          <a:noFill/>
          <a:ln/>
        </p:spPr>
        <p:txBody>
          <a:bodyPr wrap="square" lIns="0" tIns="0" rIns="0" bIns="0" rtlCol="0" anchor="t"/>
          <a:lstStyle/>
          <a:p>
            <a:pPr marL="0" indent="0" algn="r">
              <a:lnSpc>
                <a:spcPct val="100000"/>
              </a:lnSpc>
              <a:buNone/>
            </a:pPr>
            <a:r>
              <a:rPr lang="en-US" sz="1000" dirty="0">
                <a:solidFill>
                  <a:srgbClr val="5B6578"/>
                </a:solidFill>
                <a:latin typeface="Calibri" pitchFamily="34" charset="0"/>
                <a:ea typeface="Calibri" pitchFamily="34" charset="-122"/>
                <a:cs typeface="Calibri" pitchFamily="34" charset="-120"/>
              </a:rPr>
              <a:t>11</a:t>
            </a:r>
            <a:endParaRPr lang="en-US" sz="1000" dirty="0"/>
          </a:p>
        </p:txBody>
      </p:sp>
      <p:sp>
        <p:nvSpPr>
          <p:cNvPr id="6" name="Shape 4"/>
          <p:cNvSpPr/>
          <p:nvPr/>
        </p:nvSpPr>
        <p:spPr>
          <a:xfrm>
            <a:off x="512064" y="1497901"/>
            <a:ext cx="6382512" cy="4410837"/>
          </a:xfrm>
          <a:prstGeom prst="rect">
            <a:avLst/>
          </a:prstGeom>
          <a:solidFill>
            <a:srgbClr val="FFFFFF"/>
          </a:solidFill>
          <a:ln w="12700">
            <a:solidFill>
              <a:srgbClr val="C6D0DE"/>
            </a:solidFill>
            <a:prstDash val="solid"/>
          </a:ln>
          <a:effectLst>
            <a:outerShdw blurRad="76200" dist="25400" dir="5400000" algn="bl" rotWithShape="0">
              <a:srgbClr val="000000">
                <a:alpha val="18000"/>
              </a:srgbClr>
            </a:outerShdw>
          </a:effectLst>
        </p:spPr>
        <p:txBody>
          <a:bodyPr/>
          <a:lstStyle/>
          <a:p>
            <a:endParaRPr lang="en-US"/>
          </a:p>
        </p:txBody>
      </p:sp>
      <p:pic>
        <p:nvPicPr>
          <p:cNvPr id="7" name="Image 0" descr="express sla screenshot"/>
          <p:cNvPicPr>
            <a:picLocks noChangeAspect="1"/>
          </p:cNvPicPr>
          <p:nvPr/>
        </p:nvPicPr>
        <p:blipFill>
          <a:blip r:embed="rId3"/>
          <a:stretch>
            <a:fillRect/>
          </a:stretch>
        </p:blipFill>
        <p:spPr>
          <a:xfrm>
            <a:off x="548640" y="1534477"/>
            <a:ext cx="6309360" cy="4337685"/>
          </a:xfrm>
          <a:prstGeom prst="rect">
            <a:avLst/>
          </a:prstGeom>
        </p:spPr>
      </p:pic>
      <p:sp>
        <p:nvSpPr>
          <p:cNvPr id="8" name="s11-5"/>
          <p:cNvSpPr txBox="1"/>
          <p:nvPr/>
        </p:nvSpPr>
        <p:spPr>
          <a:xfrm>
            <a:off x="7178040" y="1371600"/>
            <a:ext cx="4465015" cy="4754880"/>
          </a:xfrm>
          <a:prstGeom prst="rect">
            <a:avLst/>
          </a:prstGeom>
          <a:noFill/>
          <a:ln/>
        </p:spPr>
        <p:txBody>
          <a:bodyPr wrap="square" lIns="0" tIns="0" rIns="0" bIns="0" rtlCol="0" anchor="t"/>
          <a:lstStyle/>
          <a:p>
            <a:pPr marL="0" indent="0" algn="l">
              <a:lnSpc>
                <a:spcPct val="100000"/>
              </a:lnSpc>
              <a:spcAft>
                <a:spcPts val="800"/>
              </a:spcAft>
              <a:buNone/>
            </a:pPr>
            <a:r>
              <a:rPr lang="en-US" sz="1800" b="1" dirty="0">
                <a:solidFill>
                  <a:srgbClr val="0F3D6E"/>
                </a:solidFill>
                <a:latin typeface="Calibri" pitchFamily="34" charset="0"/>
                <a:ea typeface="Calibri" pitchFamily="34" charset="-122"/>
                <a:cs typeface="Calibri" pitchFamily="34" charset="-120"/>
              </a:rPr>
              <a:t>What operations reads</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On-time rate 94.0% </a:t>
            </a:r>
            <a:r>
              <a:rPr lang="en-US" sz="1500" dirty="0">
                <a:solidFill>
                  <a:srgbClr val="121212"/>
                </a:solidFill>
                <a:latin typeface="Calibri" pitchFamily="34" charset="0"/>
                <a:ea typeface="Calibri" pitchFamily="34" charset="-122"/>
                <a:cs typeface="Calibri" pitchFamily="34" charset="-120"/>
              </a:rPr>
              <a:t>against the 95% target, so the tile is orange.</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6 breaches in the last hour, </a:t>
            </a:r>
            <a:r>
              <a:rPr lang="en-US" sz="1500" dirty="0">
                <a:solidFill>
                  <a:srgbClr val="121212"/>
                </a:solidFill>
                <a:latin typeface="Calibri" pitchFamily="34" charset="0"/>
                <a:ea typeface="Calibri" pitchFamily="34" charset="-122"/>
                <a:cs typeface="Calibri" pitchFamily="34" charset="-120"/>
              </a:rPr>
              <a:t>0 orders at risk now, 2 open express orders.</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By store and by order. </a:t>
            </a:r>
            <a:r>
              <a:rPr lang="en-US" sz="1500" dirty="0">
                <a:solidFill>
                  <a:srgbClr val="121212"/>
                </a:solidFill>
                <a:latin typeface="Calibri" pitchFamily="34" charset="0"/>
                <a:ea typeface="Calibri" pitchFamily="34" charset="-122"/>
                <a:cs typeface="Calibri" pitchFamily="34" charset="-120"/>
              </a:rPr>
              <a:t>The table names the store, the open orders closest to their promise and the minutes left.</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Rehearsal setting. </a:t>
            </a:r>
            <a:r>
              <a:rPr lang="en-US" sz="1500" dirty="0">
                <a:solidFill>
                  <a:srgbClr val="121212"/>
                </a:solidFill>
                <a:latin typeface="Calibri" pitchFamily="34" charset="0"/>
                <a:ea typeface="Calibri" pitchFamily="34" charset="-122"/>
                <a:cs typeface="Calibri" pitchFamily="34" charset="-120"/>
              </a:rPr>
              <a:t>The promise was 2</a:t>
            </a:r>
            <a:r>
              <a:rPr lang="ar-EG" sz="1500" dirty="0">
                <a:solidFill>
                  <a:srgbClr val="121212"/>
                </a:solidFill>
                <a:latin typeface="Calibri" pitchFamily="34" charset="0"/>
                <a:ea typeface="Calibri" pitchFamily="34" charset="-122"/>
                <a:cs typeface="Calibri" pitchFamily="34" charset="-120"/>
              </a:rPr>
              <a:t>0</a:t>
            </a:r>
            <a:r>
              <a:rPr lang="en-US" sz="1500" dirty="0">
                <a:solidFill>
                  <a:srgbClr val="121212"/>
                </a:solidFill>
                <a:latin typeface="Calibri" pitchFamily="34" charset="0"/>
                <a:ea typeface="Calibri" pitchFamily="34" charset="-122"/>
                <a:cs typeface="Calibri" pitchFamily="34" charset="-120"/>
              </a:rPr>
              <a:t> minutes and some express orders were forced late, so that a breach and its alert can be shown live.</a:t>
            </a:r>
            <a:endParaRPr lang="en-US" sz="1800" dirty="0"/>
          </a:p>
        </p:txBody>
      </p:sp>
      <p:sp>
        <p:nvSpPr>
          <p:cNvPr id="9" name="s11-6"/>
          <p:cNvSpPr txBox="1"/>
          <p:nvPr/>
        </p:nvSpPr>
        <p:spPr>
          <a:xfrm>
            <a:off x="548640" y="6053328"/>
            <a:ext cx="6309360" cy="365760"/>
          </a:xfrm>
          <a:prstGeom prst="rect">
            <a:avLst/>
          </a:prstGeom>
          <a:noFill/>
          <a:ln/>
        </p:spPr>
        <p:txBody>
          <a:bodyPr wrap="square" lIns="0" tIns="0" rIns="0" bIns="0" rtlCol="0" anchor="t"/>
          <a:lstStyle/>
          <a:p>
            <a:pPr marL="0" indent="0" algn="ctr">
              <a:lnSpc>
                <a:spcPct val="100000"/>
              </a:lnSpc>
              <a:buNone/>
            </a:pPr>
            <a:r>
              <a:rPr lang="en-US" sz="1100" i="1" dirty="0">
                <a:solidFill>
                  <a:srgbClr val="5B6578"/>
                </a:solidFill>
                <a:latin typeface="Calibri" pitchFamily="34" charset="0"/>
                <a:ea typeface="Calibri" pitchFamily="34" charset="-122"/>
                <a:cs typeface="Calibri" pitchFamily="34" charset="-120"/>
              </a:rPr>
              <a:t>Grafana, Express SLA, rehearsal of 13 October 2026 with the promise shortened to 2</a:t>
            </a:r>
            <a:r>
              <a:rPr lang="ar-EG" sz="1100" i="1" dirty="0">
                <a:solidFill>
                  <a:srgbClr val="5B6578"/>
                </a:solidFill>
                <a:latin typeface="Calibri" pitchFamily="34" charset="0"/>
                <a:ea typeface="Calibri" pitchFamily="34" charset="-122"/>
                <a:cs typeface="Calibri" pitchFamily="34" charset="-120"/>
              </a:rPr>
              <a:t>0</a:t>
            </a:r>
            <a:r>
              <a:rPr lang="en-US" sz="1100" i="1" dirty="0">
                <a:solidFill>
                  <a:srgbClr val="5B6578"/>
                </a:solidFill>
                <a:latin typeface="Calibri" pitchFamily="34" charset="0"/>
                <a:ea typeface="Calibri" pitchFamily="34" charset="-122"/>
                <a:cs typeface="Calibri" pitchFamily="34" charset="-120"/>
              </a:rPr>
              <a:t> minutes.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12-0"/>
          <p:cNvSpPr txBox="1"/>
          <p:nvPr/>
        </p:nvSpPr>
        <p:spPr>
          <a:xfrm>
            <a:off x="548640" y="274320"/>
            <a:ext cx="8229600" cy="274320"/>
          </a:xfrm>
          <a:prstGeom prst="rect">
            <a:avLst/>
          </a:prstGeom>
          <a:noFill/>
          <a:ln/>
        </p:spPr>
        <p:txBody>
          <a:bodyPr wrap="square" lIns="0" tIns="0" rIns="0" bIns="0" rtlCol="0" anchor="t"/>
          <a:lstStyle/>
          <a:p>
            <a:pPr marL="0" indent="0" algn="l">
              <a:lnSpc>
                <a:spcPct val="100000"/>
              </a:lnSpc>
              <a:buNone/>
            </a:pPr>
            <a:r>
              <a:rPr lang="en-US" sz="1200" b="1" dirty="0">
                <a:solidFill>
                  <a:srgbClr val="5B6578"/>
                </a:solidFill>
                <a:latin typeface="Calibri" pitchFamily="34" charset="0"/>
                <a:ea typeface="Calibri" pitchFamily="34" charset="-122"/>
                <a:cs typeface="Calibri" pitchFamily="34" charset="-120"/>
              </a:rPr>
              <a:t>3  OBSERVABILITY AND BUSINESS INTELLIGENCE</a:t>
            </a:r>
            <a:endParaRPr lang="en-US" sz="1200" dirty="0"/>
          </a:p>
        </p:txBody>
      </p:sp>
      <p:sp>
        <p:nvSpPr>
          <p:cNvPr id="3" name="s12-1"/>
          <p:cNvSpPr txBox="1"/>
          <p:nvPr/>
        </p:nvSpPr>
        <p:spPr>
          <a:xfrm>
            <a:off x="548640" y="530352"/>
            <a:ext cx="11064240" cy="685800"/>
          </a:xfrm>
          <a:prstGeom prst="rect">
            <a:avLst/>
          </a:prstGeom>
          <a:noFill/>
          <a:ln/>
        </p:spPr>
        <p:txBody>
          <a:bodyPr wrap="square" lIns="0" tIns="0" rIns="0" bIns="0" rtlCol="0" anchor="ctr"/>
          <a:lstStyle/>
          <a:p>
            <a:pPr marL="0" indent="0" algn="l">
              <a:lnSpc>
                <a:spcPct val="100000"/>
              </a:lnSpc>
              <a:buNone/>
            </a:pPr>
            <a:r>
              <a:rPr lang="en-US" sz="3000" b="1" dirty="0">
                <a:solidFill>
                  <a:srgbClr val="0F3D6E"/>
                </a:solidFill>
                <a:latin typeface="Calibri" pitchFamily="34" charset="0"/>
                <a:ea typeface="Calibri" pitchFamily="34" charset="-122"/>
                <a:cs typeface="Calibri" pitchFamily="34" charset="-120"/>
              </a:rPr>
              <a:t>Power BI: where should the next budget go?</a:t>
            </a:r>
            <a:endParaRPr lang="en-US" sz="3000" dirty="0"/>
          </a:p>
        </p:txBody>
      </p:sp>
      <p:sp>
        <p:nvSpPr>
          <p:cNvPr id="4" name="s12-2"/>
          <p:cNvSpPr txBox="1"/>
          <p:nvPr/>
        </p:nvSpPr>
        <p:spPr>
          <a:xfrm>
            <a:off x="548640" y="6437376"/>
            <a:ext cx="5486400" cy="274320"/>
          </a:xfrm>
          <a:prstGeom prst="rect">
            <a:avLst/>
          </a:prstGeom>
          <a:noFill/>
          <a:ln/>
        </p:spPr>
        <p:txBody>
          <a:bodyPr wrap="square" lIns="0" tIns="0" rIns="0" bIns="0" rtlCol="0" anchor="t"/>
          <a:lstStyle/>
          <a:p>
            <a:pPr marL="0" indent="0" algn="l">
              <a:lnSpc>
                <a:spcPct val="100000"/>
              </a:lnSpc>
              <a:buNone/>
            </a:pPr>
            <a:r>
              <a:rPr lang="en-US" sz="1000" dirty="0">
                <a:solidFill>
                  <a:srgbClr val="5B6578"/>
                </a:solidFill>
                <a:latin typeface="Calibri" pitchFamily="34" charset="0"/>
                <a:ea typeface="Calibri" pitchFamily="34" charset="-122"/>
                <a:cs typeface="Calibri" pitchFamily="34" charset="-120"/>
              </a:rPr>
              <a:t>FunnelStream</a:t>
            </a:r>
            <a:endParaRPr lang="en-US" sz="1000" dirty="0"/>
          </a:p>
        </p:txBody>
      </p:sp>
      <p:sp>
        <p:nvSpPr>
          <p:cNvPr id="5" name="s12-3"/>
          <p:cNvSpPr txBox="1"/>
          <p:nvPr/>
        </p:nvSpPr>
        <p:spPr>
          <a:xfrm>
            <a:off x="10881360" y="6437376"/>
            <a:ext cx="758952" cy="274320"/>
          </a:xfrm>
          <a:prstGeom prst="rect">
            <a:avLst/>
          </a:prstGeom>
          <a:noFill/>
          <a:ln/>
        </p:spPr>
        <p:txBody>
          <a:bodyPr wrap="square" lIns="0" tIns="0" rIns="0" bIns="0" rtlCol="0" anchor="t"/>
          <a:lstStyle/>
          <a:p>
            <a:pPr marL="0" indent="0" algn="r">
              <a:lnSpc>
                <a:spcPct val="100000"/>
              </a:lnSpc>
              <a:buNone/>
            </a:pPr>
            <a:r>
              <a:rPr lang="en-US" sz="1000" dirty="0">
                <a:solidFill>
                  <a:srgbClr val="5B6578"/>
                </a:solidFill>
                <a:latin typeface="Calibri" pitchFamily="34" charset="0"/>
                <a:ea typeface="Calibri" pitchFamily="34" charset="-122"/>
                <a:cs typeface="Calibri" pitchFamily="34" charset="-120"/>
              </a:rPr>
              <a:t>12</a:t>
            </a:r>
            <a:endParaRPr lang="en-US" sz="1000" dirty="0"/>
          </a:p>
        </p:txBody>
      </p:sp>
      <p:sp>
        <p:nvSpPr>
          <p:cNvPr id="6" name="Shape 4"/>
          <p:cNvSpPr/>
          <p:nvPr/>
        </p:nvSpPr>
        <p:spPr>
          <a:xfrm>
            <a:off x="512064" y="1500454"/>
            <a:ext cx="7571232" cy="4405731"/>
          </a:xfrm>
          <a:prstGeom prst="rect">
            <a:avLst/>
          </a:prstGeom>
          <a:solidFill>
            <a:srgbClr val="FFFFFF"/>
          </a:solidFill>
          <a:ln w="12700">
            <a:solidFill>
              <a:srgbClr val="C6D0DE"/>
            </a:solidFill>
            <a:prstDash val="solid"/>
          </a:ln>
          <a:effectLst>
            <a:outerShdw blurRad="76200" dist="25400" dir="5400000" algn="bl" rotWithShape="0">
              <a:srgbClr val="000000">
                <a:alpha val="18000"/>
              </a:srgbClr>
            </a:outerShdw>
          </a:effectLst>
        </p:spPr>
        <p:txBody>
          <a:bodyPr/>
          <a:lstStyle/>
          <a:p>
            <a:endParaRPr lang="en-US"/>
          </a:p>
        </p:txBody>
      </p:sp>
      <p:pic>
        <p:nvPicPr>
          <p:cNvPr id="7" name="Image 0" descr="pbi campaigns screenshot"/>
          <p:cNvPicPr>
            <a:picLocks noChangeAspect="1"/>
          </p:cNvPicPr>
          <p:nvPr/>
        </p:nvPicPr>
        <p:blipFill>
          <a:blip r:embed="rId3"/>
          <a:stretch>
            <a:fillRect/>
          </a:stretch>
        </p:blipFill>
        <p:spPr>
          <a:xfrm>
            <a:off x="548640" y="1537030"/>
            <a:ext cx="7498080" cy="4332579"/>
          </a:xfrm>
          <a:prstGeom prst="rect">
            <a:avLst/>
          </a:prstGeom>
        </p:spPr>
      </p:pic>
      <p:sp>
        <p:nvSpPr>
          <p:cNvPr id="8" name="s12-5"/>
          <p:cNvSpPr txBox="1"/>
          <p:nvPr/>
        </p:nvSpPr>
        <p:spPr>
          <a:xfrm>
            <a:off x="8366760" y="1371600"/>
            <a:ext cx="3276295" cy="4754880"/>
          </a:xfrm>
          <a:prstGeom prst="rect">
            <a:avLst/>
          </a:prstGeom>
          <a:noFill/>
          <a:ln/>
        </p:spPr>
        <p:txBody>
          <a:bodyPr wrap="square" lIns="0" tIns="0" rIns="0" bIns="0" rtlCol="0" anchor="t"/>
          <a:lstStyle/>
          <a:p>
            <a:pPr marL="0" indent="0" algn="l">
              <a:lnSpc>
                <a:spcPct val="100000"/>
              </a:lnSpc>
              <a:spcAft>
                <a:spcPts val="800"/>
              </a:spcAft>
              <a:buNone/>
            </a:pPr>
            <a:r>
              <a:rPr lang="en-US" sz="1800" b="1" dirty="0">
                <a:solidFill>
                  <a:srgbClr val="0F3D6E"/>
                </a:solidFill>
                <a:latin typeface="Calibri" pitchFamily="34" charset="0"/>
                <a:ea typeface="Calibri" pitchFamily="34" charset="-122"/>
                <a:cs typeface="Calibri" pitchFamily="34" charset="-120"/>
              </a:rPr>
              <a:t>What marketing reads</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Headline ROAS is on delivered orders: 8.39. </a:t>
            </a:r>
            <a:r>
              <a:rPr lang="en-US" sz="1500" dirty="0">
                <a:solidFill>
                  <a:srgbClr val="121212"/>
                </a:solidFill>
                <a:latin typeface="Calibri" pitchFamily="34" charset="0"/>
                <a:ea typeface="Calibri" pitchFamily="34" charset="-122"/>
                <a:cs typeface="Calibri" pitchFamily="34" charset="-120"/>
              </a:rPr>
              <a:t>On placed orders it is higher everywhere (eid_sale_1: 21.55 placed, 11.67 delivered), because cash-on-delivery orders cancel or fail.</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Cost per delivered order: </a:t>
            </a:r>
            <a:r>
              <a:rPr lang="en-US" sz="1500" dirty="0">
                <a:solidFill>
                  <a:srgbClr val="121212"/>
                </a:solidFill>
                <a:latin typeface="Calibri" pitchFamily="34" charset="0"/>
                <a:ea typeface="Calibri" pitchFamily="34" charset="-122"/>
                <a:cs typeface="Calibri" pitchFamily="34" charset="-120"/>
              </a:rPr>
              <a:t>377 for ramadan_offer_1, 184 for retarget_cart_1, 119 for eid_sale_1.</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A possible decision: </a:t>
            </a:r>
            <a:r>
              <a:rPr lang="en-US" sz="1500" dirty="0">
                <a:solidFill>
                  <a:srgbClr val="121212"/>
                </a:solidFill>
                <a:latin typeface="Calibri" pitchFamily="34" charset="0"/>
                <a:ea typeface="Calibri" pitchFamily="34" charset="-122"/>
                <a:cs typeface="Calibri" pitchFamily="34" charset="-120"/>
              </a:rPr>
              <a:t>move budget toward eid_sale_1 and question ramadan_offer_1. Attribution is last touch, so it is a lead, not proof.</a:t>
            </a:r>
            <a:endParaRPr lang="en-US" sz="1800" dirty="0"/>
          </a:p>
        </p:txBody>
      </p:sp>
      <p:sp>
        <p:nvSpPr>
          <p:cNvPr id="9" name="s12-6"/>
          <p:cNvSpPr txBox="1"/>
          <p:nvPr/>
        </p:nvSpPr>
        <p:spPr>
          <a:xfrm>
            <a:off x="548640" y="6053328"/>
            <a:ext cx="7498080" cy="365760"/>
          </a:xfrm>
          <a:prstGeom prst="rect">
            <a:avLst/>
          </a:prstGeom>
          <a:noFill/>
          <a:ln/>
        </p:spPr>
        <p:txBody>
          <a:bodyPr wrap="square" lIns="0" tIns="0" rIns="0" bIns="0" rtlCol="0" anchor="t"/>
          <a:lstStyle/>
          <a:p>
            <a:pPr marL="0" indent="0" algn="ctr">
              <a:lnSpc>
                <a:spcPct val="100000"/>
              </a:lnSpc>
              <a:buNone/>
            </a:pPr>
            <a:r>
              <a:rPr lang="en-US" sz="1100" i="1" dirty="0">
                <a:solidFill>
                  <a:srgbClr val="5B6578"/>
                </a:solidFill>
                <a:latin typeface="Calibri" pitchFamily="34" charset="0"/>
                <a:ea typeface="Calibri" pitchFamily="34" charset="-122"/>
                <a:cs typeface="Calibri" pitchFamily="34" charset="-120"/>
              </a:rPr>
              <a:t>Power BI, Campaigns page. Simulated data. Ad numbers use the ad API's UTC day.</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13-0"/>
          <p:cNvSpPr txBox="1"/>
          <p:nvPr/>
        </p:nvSpPr>
        <p:spPr>
          <a:xfrm>
            <a:off x="548640" y="274320"/>
            <a:ext cx="8229600" cy="274320"/>
          </a:xfrm>
          <a:prstGeom prst="rect">
            <a:avLst/>
          </a:prstGeom>
          <a:noFill/>
          <a:ln/>
        </p:spPr>
        <p:txBody>
          <a:bodyPr wrap="square" lIns="0" tIns="0" rIns="0" bIns="0" rtlCol="0" anchor="t"/>
          <a:lstStyle/>
          <a:p>
            <a:pPr marL="0" indent="0" algn="l">
              <a:lnSpc>
                <a:spcPct val="100000"/>
              </a:lnSpc>
              <a:buNone/>
            </a:pPr>
            <a:r>
              <a:rPr lang="en-US" sz="1200" b="1" dirty="0">
                <a:solidFill>
                  <a:srgbClr val="5B6578"/>
                </a:solidFill>
                <a:latin typeface="Calibri" pitchFamily="34" charset="0"/>
                <a:ea typeface="Calibri" pitchFamily="34" charset="-122"/>
                <a:cs typeface="Calibri" pitchFamily="34" charset="-120"/>
              </a:rPr>
              <a:t>3  OBSERVABILITY AND BUSINESS INTELLIGENCE</a:t>
            </a:r>
            <a:endParaRPr lang="en-US" sz="1200" dirty="0"/>
          </a:p>
        </p:txBody>
      </p:sp>
      <p:sp>
        <p:nvSpPr>
          <p:cNvPr id="3" name="s13-1"/>
          <p:cNvSpPr txBox="1"/>
          <p:nvPr/>
        </p:nvSpPr>
        <p:spPr>
          <a:xfrm>
            <a:off x="548640" y="530352"/>
            <a:ext cx="11064240" cy="685800"/>
          </a:xfrm>
          <a:prstGeom prst="rect">
            <a:avLst/>
          </a:prstGeom>
          <a:noFill/>
          <a:ln/>
        </p:spPr>
        <p:txBody>
          <a:bodyPr wrap="square" lIns="0" tIns="0" rIns="0" bIns="0" rtlCol="0" anchor="ctr"/>
          <a:lstStyle/>
          <a:p>
            <a:pPr marL="0" indent="0" algn="l">
              <a:lnSpc>
                <a:spcPct val="100000"/>
              </a:lnSpc>
              <a:buNone/>
            </a:pPr>
            <a:r>
              <a:rPr lang="en-US" sz="3000" b="1" dirty="0">
                <a:solidFill>
                  <a:srgbClr val="0F3D6E"/>
                </a:solidFill>
                <a:latin typeface="Calibri" pitchFamily="34" charset="0"/>
                <a:ea typeface="Calibri" pitchFamily="34" charset="-122"/>
                <a:cs typeface="Calibri" pitchFamily="34" charset="-120"/>
              </a:rPr>
              <a:t>Power BI: the bridge, ad spend sent to empty shelves</a:t>
            </a:r>
            <a:endParaRPr lang="en-US" sz="3000" dirty="0"/>
          </a:p>
        </p:txBody>
      </p:sp>
      <p:sp>
        <p:nvSpPr>
          <p:cNvPr id="4" name="s13-2"/>
          <p:cNvSpPr txBox="1"/>
          <p:nvPr/>
        </p:nvSpPr>
        <p:spPr>
          <a:xfrm>
            <a:off x="548640" y="6437376"/>
            <a:ext cx="5486400" cy="274320"/>
          </a:xfrm>
          <a:prstGeom prst="rect">
            <a:avLst/>
          </a:prstGeom>
          <a:noFill/>
          <a:ln/>
        </p:spPr>
        <p:txBody>
          <a:bodyPr wrap="square" lIns="0" tIns="0" rIns="0" bIns="0" rtlCol="0" anchor="t"/>
          <a:lstStyle/>
          <a:p>
            <a:pPr marL="0" indent="0" algn="l">
              <a:lnSpc>
                <a:spcPct val="100000"/>
              </a:lnSpc>
              <a:buNone/>
            </a:pPr>
            <a:r>
              <a:rPr lang="en-US" sz="1000" dirty="0">
                <a:solidFill>
                  <a:srgbClr val="5B6578"/>
                </a:solidFill>
                <a:latin typeface="Calibri" pitchFamily="34" charset="0"/>
                <a:ea typeface="Calibri" pitchFamily="34" charset="-122"/>
                <a:cs typeface="Calibri" pitchFamily="34" charset="-120"/>
              </a:rPr>
              <a:t>FunnelStream</a:t>
            </a:r>
            <a:endParaRPr lang="en-US" sz="1000" dirty="0"/>
          </a:p>
        </p:txBody>
      </p:sp>
      <p:sp>
        <p:nvSpPr>
          <p:cNvPr id="5" name="s13-3"/>
          <p:cNvSpPr txBox="1"/>
          <p:nvPr/>
        </p:nvSpPr>
        <p:spPr>
          <a:xfrm>
            <a:off x="10881360" y="6437376"/>
            <a:ext cx="758952" cy="274320"/>
          </a:xfrm>
          <a:prstGeom prst="rect">
            <a:avLst/>
          </a:prstGeom>
          <a:noFill/>
          <a:ln/>
        </p:spPr>
        <p:txBody>
          <a:bodyPr wrap="square" lIns="0" tIns="0" rIns="0" bIns="0" rtlCol="0" anchor="t"/>
          <a:lstStyle/>
          <a:p>
            <a:pPr marL="0" indent="0" algn="r">
              <a:lnSpc>
                <a:spcPct val="100000"/>
              </a:lnSpc>
              <a:buNone/>
            </a:pPr>
            <a:r>
              <a:rPr lang="en-US" sz="1000" dirty="0">
                <a:solidFill>
                  <a:srgbClr val="5B6578"/>
                </a:solidFill>
                <a:latin typeface="Calibri" pitchFamily="34" charset="0"/>
                <a:ea typeface="Calibri" pitchFamily="34" charset="-122"/>
                <a:cs typeface="Calibri" pitchFamily="34" charset="-120"/>
              </a:rPr>
              <a:t>13</a:t>
            </a:r>
            <a:endParaRPr lang="en-US" sz="1000" dirty="0"/>
          </a:p>
        </p:txBody>
      </p:sp>
      <p:sp>
        <p:nvSpPr>
          <p:cNvPr id="6" name="Shape 4"/>
          <p:cNvSpPr/>
          <p:nvPr/>
        </p:nvSpPr>
        <p:spPr>
          <a:xfrm>
            <a:off x="512064" y="1504040"/>
            <a:ext cx="7571232" cy="4398561"/>
          </a:xfrm>
          <a:prstGeom prst="rect">
            <a:avLst/>
          </a:prstGeom>
          <a:solidFill>
            <a:srgbClr val="FFFFFF"/>
          </a:solidFill>
          <a:ln w="12700">
            <a:solidFill>
              <a:srgbClr val="C6D0DE"/>
            </a:solidFill>
            <a:prstDash val="solid"/>
          </a:ln>
          <a:effectLst>
            <a:outerShdw blurRad="76200" dist="25400" dir="5400000" algn="bl" rotWithShape="0">
              <a:srgbClr val="000000">
                <a:alpha val="18000"/>
              </a:srgbClr>
            </a:outerShdw>
          </a:effectLst>
        </p:spPr>
        <p:txBody>
          <a:bodyPr/>
          <a:lstStyle/>
          <a:p>
            <a:endParaRPr lang="en-US"/>
          </a:p>
        </p:txBody>
      </p:sp>
      <p:pic>
        <p:nvPicPr>
          <p:cNvPr id="7" name="Image 0" descr="pbi marketing screenshot"/>
          <p:cNvPicPr>
            <a:picLocks noChangeAspect="1"/>
          </p:cNvPicPr>
          <p:nvPr/>
        </p:nvPicPr>
        <p:blipFill>
          <a:blip r:embed="rId3"/>
          <a:stretch>
            <a:fillRect/>
          </a:stretch>
        </p:blipFill>
        <p:spPr>
          <a:xfrm>
            <a:off x="548640" y="1540616"/>
            <a:ext cx="7498080" cy="4325409"/>
          </a:xfrm>
          <a:prstGeom prst="rect">
            <a:avLst/>
          </a:prstGeom>
        </p:spPr>
      </p:pic>
      <p:sp>
        <p:nvSpPr>
          <p:cNvPr id="8" name="s13-5"/>
          <p:cNvSpPr txBox="1"/>
          <p:nvPr/>
        </p:nvSpPr>
        <p:spPr>
          <a:xfrm>
            <a:off x="8366760" y="1371600"/>
            <a:ext cx="3276295" cy="4754880"/>
          </a:xfrm>
          <a:prstGeom prst="rect">
            <a:avLst/>
          </a:prstGeom>
          <a:noFill/>
          <a:ln/>
        </p:spPr>
        <p:txBody>
          <a:bodyPr wrap="square" lIns="0" tIns="0" rIns="0" bIns="0" rtlCol="0" anchor="t"/>
          <a:lstStyle/>
          <a:p>
            <a:pPr marL="0" indent="0" algn="l">
              <a:lnSpc>
                <a:spcPct val="100000"/>
              </a:lnSpc>
              <a:spcAft>
                <a:spcPts val="800"/>
              </a:spcAft>
              <a:buNone/>
            </a:pPr>
            <a:r>
              <a:rPr lang="en-US" sz="1800" b="1" dirty="0">
                <a:solidFill>
                  <a:srgbClr val="0F3D6E"/>
                </a:solidFill>
                <a:latin typeface="Calibri" pitchFamily="34" charset="0"/>
                <a:ea typeface="Calibri" pitchFamily="34" charset="-122"/>
                <a:cs typeface="Calibri" pitchFamily="34" charset="-120"/>
              </a:rPr>
              <a:t>What the bridge shows</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Exposed spend 378, </a:t>
            </a:r>
            <a:r>
              <a:rPr lang="en-US" sz="1500" dirty="0">
                <a:solidFill>
                  <a:srgbClr val="121212"/>
                </a:solidFill>
                <a:latin typeface="Calibri" pitchFamily="34" charset="0"/>
                <a:ea typeface="Calibri" pitchFamily="34" charset="-122"/>
                <a:cs typeface="Calibri" pitchFamily="34" charset="-120"/>
              </a:rPr>
              <a:t>10.1% of spend: estimated spend that landed on products out of stock.</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10.2% of landing clicks </a:t>
            </a:r>
            <a:r>
              <a:rPr lang="en-US" sz="1500" dirty="0">
                <a:solidFill>
                  <a:srgbClr val="121212"/>
                </a:solidFill>
                <a:latin typeface="Calibri" pitchFamily="34" charset="0"/>
                <a:ea typeface="Calibri" pitchFamily="34" charset="-122"/>
                <a:cs typeface="Calibri" pitchFamily="34" charset="-120"/>
              </a:rPr>
              <a:t>went to out-of-stock products. Revenue at risk: 71,653.</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All three at-risk products </a:t>
            </a:r>
            <a:r>
              <a:rPr lang="en-US" sz="1500" dirty="0">
                <a:solidFill>
                  <a:srgbClr val="121212"/>
                </a:solidFill>
                <a:latin typeface="Calibri" pitchFamily="34" charset="0"/>
                <a:ea typeface="Calibri" pitchFamily="34" charset="-122"/>
                <a:cs typeface="Calibri" pitchFamily="34" charset="-120"/>
              </a:rPr>
              <a:t>are in one store: Nasr City dark store (Hijab set 33, Towel set 40, Abaya 53).</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Label it honestly: </a:t>
            </a:r>
            <a:r>
              <a:rPr lang="en-US" sz="1500" dirty="0">
                <a:solidFill>
                  <a:srgbClr val="121212"/>
                </a:solidFill>
                <a:latin typeface="Calibri" pitchFamily="34" charset="0"/>
                <a:ea typeface="Calibri" pitchFamily="34" charset="-122"/>
                <a:cs typeface="Calibri" pitchFamily="34" charset="-120"/>
              </a:rPr>
              <a:t>a shopper may buy a substitute, so this is exposure, not loss.</a:t>
            </a:r>
            <a:endParaRPr lang="en-US" sz="1800" dirty="0"/>
          </a:p>
        </p:txBody>
      </p:sp>
      <p:sp>
        <p:nvSpPr>
          <p:cNvPr id="9" name="s13-6"/>
          <p:cNvSpPr txBox="1"/>
          <p:nvPr/>
        </p:nvSpPr>
        <p:spPr>
          <a:xfrm>
            <a:off x="548640" y="6053328"/>
            <a:ext cx="7498080" cy="365760"/>
          </a:xfrm>
          <a:prstGeom prst="rect">
            <a:avLst/>
          </a:prstGeom>
          <a:noFill/>
          <a:ln/>
        </p:spPr>
        <p:txBody>
          <a:bodyPr wrap="square" lIns="0" tIns="0" rIns="0" bIns="0" rtlCol="0" anchor="t"/>
          <a:lstStyle/>
          <a:p>
            <a:pPr marL="0" indent="0" algn="ctr">
              <a:lnSpc>
                <a:spcPct val="100000"/>
              </a:lnSpc>
              <a:buNone/>
            </a:pPr>
            <a:r>
              <a:rPr lang="en-US" sz="1100" i="1" dirty="0">
                <a:solidFill>
                  <a:srgbClr val="5B6578"/>
                </a:solidFill>
                <a:latin typeface="Calibri" pitchFamily="34" charset="0"/>
                <a:ea typeface="Calibri" pitchFamily="34" charset="-122"/>
                <a:cs typeface="Calibri" pitchFamily="34" charset="-120"/>
              </a:rPr>
              <a:t>Power BI, Marketing and stock page, day minus one. Simulated data. An estimate, not a measured loss.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14-0"/>
          <p:cNvSpPr txBox="1"/>
          <p:nvPr/>
        </p:nvSpPr>
        <p:spPr>
          <a:xfrm>
            <a:off x="548640" y="274320"/>
            <a:ext cx="8229600" cy="274320"/>
          </a:xfrm>
          <a:prstGeom prst="rect">
            <a:avLst/>
          </a:prstGeom>
          <a:noFill/>
          <a:ln/>
        </p:spPr>
        <p:txBody>
          <a:bodyPr wrap="square" lIns="0" tIns="0" rIns="0" bIns="0" rtlCol="0" anchor="t"/>
          <a:lstStyle/>
          <a:p>
            <a:pPr marL="0" indent="0" algn="l">
              <a:lnSpc>
                <a:spcPct val="100000"/>
              </a:lnSpc>
              <a:buNone/>
            </a:pPr>
            <a:r>
              <a:rPr lang="en-US" sz="1200" b="1" dirty="0">
                <a:solidFill>
                  <a:srgbClr val="5B6578"/>
                </a:solidFill>
                <a:latin typeface="Calibri" pitchFamily="34" charset="0"/>
                <a:ea typeface="Calibri" pitchFamily="34" charset="-122"/>
                <a:cs typeface="Calibri" pitchFamily="34" charset="-120"/>
              </a:rPr>
              <a:t>3  OBSERVABILITY AND BUSINESS INTELLIGENCE</a:t>
            </a:r>
            <a:endParaRPr lang="en-US" sz="1200" dirty="0"/>
          </a:p>
        </p:txBody>
      </p:sp>
      <p:sp>
        <p:nvSpPr>
          <p:cNvPr id="3" name="s14-1"/>
          <p:cNvSpPr txBox="1"/>
          <p:nvPr/>
        </p:nvSpPr>
        <p:spPr>
          <a:xfrm>
            <a:off x="548640" y="530352"/>
            <a:ext cx="11064240" cy="685800"/>
          </a:xfrm>
          <a:prstGeom prst="rect">
            <a:avLst/>
          </a:prstGeom>
          <a:noFill/>
          <a:ln/>
        </p:spPr>
        <p:txBody>
          <a:bodyPr wrap="square" lIns="0" tIns="0" rIns="0" bIns="0" rtlCol="0" anchor="ctr"/>
          <a:lstStyle/>
          <a:p>
            <a:pPr marL="0" indent="0" algn="l">
              <a:lnSpc>
                <a:spcPct val="100000"/>
              </a:lnSpc>
              <a:buNone/>
            </a:pPr>
            <a:r>
              <a:rPr lang="en-US" sz="3000" b="1" dirty="0">
                <a:solidFill>
                  <a:srgbClr val="0F3D6E"/>
                </a:solidFill>
                <a:latin typeface="Calibri" pitchFamily="34" charset="0"/>
                <a:ea typeface="Calibri" pitchFamily="34" charset="-122"/>
                <a:cs typeface="Calibri" pitchFamily="34" charset="-120"/>
              </a:rPr>
              <a:t>From a stock-out to next morning's report</a:t>
            </a:r>
            <a:endParaRPr lang="en-US" sz="3000" dirty="0"/>
          </a:p>
        </p:txBody>
      </p:sp>
      <p:sp>
        <p:nvSpPr>
          <p:cNvPr id="4" name="s14-2"/>
          <p:cNvSpPr txBox="1"/>
          <p:nvPr/>
        </p:nvSpPr>
        <p:spPr>
          <a:xfrm>
            <a:off x="548640" y="6437376"/>
            <a:ext cx="5486400" cy="274320"/>
          </a:xfrm>
          <a:prstGeom prst="rect">
            <a:avLst/>
          </a:prstGeom>
          <a:noFill/>
          <a:ln/>
        </p:spPr>
        <p:txBody>
          <a:bodyPr wrap="square" lIns="0" tIns="0" rIns="0" bIns="0" rtlCol="0" anchor="t"/>
          <a:lstStyle/>
          <a:p>
            <a:pPr marL="0" indent="0" algn="l">
              <a:lnSpc>
                <a:spcPct val="100000"/>
              </a:lnSpc>
              <a:buNone/>
            </a:pPr>
            <a:r>
              <a:rPr lang="en-US" sz="1000" dirty="0">
                <a:solidFill>
                  <a:srgbClr val="5B6578"/>
                </a:solidFill>
                <a:latin typeface="Calibri" pitchFamily="34" charset="0"/>
                <a:ea typeface="Calibri" pitchFamily="34" charset="-122"/>
                <a:cs typeface="Calibri" pitchFamily="34" charset="-120"/>
              </a:rPr>
              <a:t>FunnelStream</a:t>
            </a:r>
            <a:endParaRPr lang="en-US" sz="1000" dirty="0"/>
          </a:p>
        </p:txBody>
      </p:sp>
      <p:sp>
        <p:nvSpPr>
          <p:cNvPr id="5" name="s14-3"/>
          <p:cNvSpPr txBox="1"/>
          <p:nvPr/>
        </p:nvSpPr>
        <p:spPr>
          <a:xfrm>
            <a:off x="10881360" y="6437376"/>
            <a:ext cx="758952" cy="274320"/>
          </a:xfrm>
          <a:prstGeom prst="rect">
            <a:avLst/>
          </a:prstGeom>
          <a:noFill/>
          <a:ln/>
        </p:spPr>
        <p:txBody>
          <a:bodyPr wrap="square" lIns="0" tIns="0" rIns="0" bIns="0" rtlCol="0" anchor="t"/>
          <a:lstStyle/>
          <a:p>
            <a:pPr marL="0" indent="0" algn="r">
              <a:lnSpc>
                <a:spcPct val="100000"/>
              </a:lnSpc>
              <a:buNone/>
            </a:pPr>
            <a:r>
              <a:rPr lang="en-US" sz="1000" dirty="0">
                <a:solidFill>
                  <a:srgbClr val="5B6578"/>
                </a:solidFill>
                <a:latin typeface="Calibri" pitchFamily="34" charset="0"/>
                <a:ea typeface="Calibri" pitchFamily="34" charset="-122"/>
                <a:cs typeface="Calibri" pitchFamily="34" charset="-120"/>
              </a:rPr>
              <a:t>14</a:t>
            </a:r>
            <a:endParaRPr lang="en-US" sz="1000" dirty="0"/>
          </a:p>
        </p:txBody>
      </p:sp>
      <p:sp>
        <p:nvSpPr>
          <p:cNvPr id="6" name="s14-4"/>
          <p:cNvSpPr/>
          <p:nvPr/>
        </p:nvSpPr>
        <p:spPr>
          <a:xfrm>
            <a:off x="548640" y="1600200"/>
            <a:ext cx="1783080" cy="2697480"/>
          </a:xfrm>
          <a:prstGeom prst="roundRect">
            <a:avLst>
              <a:gd name="adj" fmla="val 6154"/>
            </a:avLst>
          </a:prstGeom>
          <a:solidFill>
            <a:srgbClr val="EEF2F7"/>
          </a:solidFill>
          <a:ln w="12700">
            <a:solidFill>
              <a:srgbClr val="EEF2F7"/>
            </a:solidFill>
            <a:prstDash val="solid"/>
          </a:ln>
        </p:spPr>
        <p:txBody>
          <a:bodyPr/>
          <a:lstStyle/>
          <a:p>
            <a:endParaRPr lang="en-US"/>
          </a:p>
        </p:txBody>
      </p:sp>
      <p:sp>
        <p:nvSpPr>
          <p:cNvPr id="7" name="s14-5"/>
          <p:cNvSpPr/>
          <p:nvPr/>
        </p:nvSpPr>
        <p:spPr>
          <a:xfrm>
            <a:off x="685800" y="1737360"/>
            <a:ext cx="420624" cy="420624"/>
          </a:xfrm>
          <a:prstGeom prst="roundRect">
            <a:avLst>
              <a:gd name="adj" fmla="val 50000"/>
            </a:avLst>
          </a:prstGeom>
          <a:solidFill>
            <a:srgbClr val="59A472"/>
          </a:solidFill>
          <a:ln w="12700">
            <a:solidFill>
              <a:srgbClr val="59A472"/>
            </a:solidFill>
            <a:prstDash val="solid"/>
          </a:ln>
        </p:spPr>
        <p:txBody>
          <a:bodyPr/>
          <a:lstStyle/>
          <a:p>
            <a:endParaRPr lang="en-US"/>
          </a:p>
        </p:txBody>
      </p:sp>
      <p:sp>
        <p:nvSpPr>
          <p:cNvPr id="8" name="s14-6"/>
          <p:cNvSpPr txBox="1"/>
          <p:nvPr/>
        </p:nvSpPr>
        <p:spPr>
          <a:xfrm>
            <a:off x="685800" y="1737360"/>
            <a:ext cx="420624" cy="420624"/>
          </a:xfrm>
          <a:prstGeom prst="rect">
            <a:avLst/>
          </a:prstGeom>
          <a:noFill/>
          <a:ln/>
        </p:spPr>
        <p:txBody>
          <a:bodyPr wrap="square" lIns="0" tIns="0" rIns="0" bIns="0" rtlCol="0" anchor="ctr"/>
          <a:lstStyle/>
          <a:p>
            <a:pPr marL="0" indent="0" algn="ctr">
              <a:lnSpc>
                <a:spcPct val="100000"/>
              </a:lnSpc>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s14-7"/>
          <p:cNvSpPr txBox="1"/>
          <p:nvPr/>
        </p:nvSpPr>
        <p:spPr>
          <a:xfrm>
            <a:off x="685800" y="2240280"/>
            <a:ext cx="1508760" cy="2011680"/>
          </a:xfrm>
          <a:prstGeom prst="rect">
            <a:avLst/>
          </a:prstGeom>
          <a:noFill/>
          <a:ln/>
        </p:spPr>
        <p:txBody>
          <a:bodyPr wrap="square" lIns="0" tIns="0" rIns="0" bIns="0" rtlCol="0" anchor="t"/>
          <a:lstStyle/>
          <a:p>
            <a:pPr marL="0" indent="0" algn="l">
              <a:lnSpc>
                <a:spcPct val="100000"/>
              </a:lnSpc>
              <a:spcAft>
                <a:spcPts val="300"/>
              </a:spcAft>
              <a:buNone/>
            </a:pPr>
            <a:r>
              <a:rPr lang="en-US" sz="1600" b="1" dirty="0">
                <a:solidFill>
                  <a:srgbClr val="0F3D6E"/>
                </a:solidFill>
                <a:latin typeface="Calibri" pitchFamily="34" charset="0"/>
                <a:ea typeface="Calibri" pitchFamily="34" charset="-122"/>
                <a:cs typeface="Calibri" pitchFamily="34" charset="-120"/>
              </a:rPr>
              <a:t>Stock runs out</a:t>
            </a:r>
            <a:endParaRPr lang="en-US" sz="1600" dirty="0"/>
          </a:p>
          <a:p>
            <a:pPr marL="0" indent="0" algn="l">
              <a:lnSpc>
                <a:spcPct val="100000"/>
              </a:lnSpc>
              <a:buNone/>
            </a:pPr>
            <a:r>
              <a:rPr lang="en-US" sz="1300" dirty="0">
                <a:solidFill>
                  <a:srgbClr val="121212"/>
                </a:solidFill>
                <a:latin typeface="Calibri" pitchFamily="34" charset="0"/>
                <a:ea typeface="Calibri" pitchFamily="34" charset="-122"/>
                <a:cs typeface="Calibri" pitchFamily="34" charset="-120"/>
              </a:rPr>
              <a:t>A hero product at Nasr City reaches available = 0, about 4 minutes into the demo run.</a:t>
            </a:r>
            <a:endParaRPr lang="en-US" sz="1600" dirty="0"/>
          </a:p>
        </p:txBody>
      </p:sp>
      <p:sp>
        <p:nvSpPr>
          <p:cNvPr id="10" name="s14-8"/>
          <p:cNvSpPr/>
          <p:nvPr/>
        </p:nvSpPr>
        <p:spPr>
          <a:xfrm>
            <a:off x="2404872" y="1600200"/>
            <a:ext cx="1783080" cy="2697480"/>
          </a:xfrm>
          <a:prstGeom prst="roundRect">
            <a:avLst>
              <a:gd name="adj" fmla="val 6154"/>
            </a:avLst>
          </a:prstGeom>
          <a:solidFill>
            <a:srgbClr val="EEF2F7"/>
          </a:solidFill>
          <a:ln w="12700">
            <a:solidFill>
              <a:srgbClr val="EEF2F7"/>
            </a:solidFill>
            <a:prstDash val="solid"/>
          </a:ln>
        </p:spPr>
        <p:txBody>
          <a:bodyPr/>
          <a:lstStyle/>
          <a:p>
            <a:endParaRPr lang="en-US"/>
          </a:p>
        </p:txBody>
      </p:sp>
      <p:sp>
        <p:nvSpPr>
          <p:cNvPr id="11" name="s14-9"/>
          <p:cNvSpPr/>
          <p:nvPr/>
        </p:nvSpPr>
        <p:spPr>
          <a:xfrm>
            <a:off x="2542032" y="1737360"/>
            <a:ext cx="420624" cy="420624"/>
          </a:xfrm>
          <a:prstGeom prst="roundRect">
            <a:avLst>
              <a:gd name="adj" fmla="val 50000"/>
            </a:avLst>
          </a:prstGeom>
          <a:solidFill>
            <a:srgbClr val="59A472"/>
          </a:solidFill>
          <a:ln w="12700">
            <a:solidFill>
              <a:srgbClr val="59A472"/>
            </a:solidFill>
            <a:prstDash val="solid"/>
          </a:ln>
        </p:spPr>
        <p:txBody>
          <a:bodyPr/>
          <a:lstStyle/>
          <a:p>
            <a:endParaRPr lang="en-US"/>
          </a:p>
        </p:txBody>
      </p:sp>
      <p:sp>
        <p:nvSpPr>
          <p:cNvPr id="12" name="s14-10"/>
          <p:cNvSpPr txBox="1"/>
          <p:nvPr/>
        </p:nvSpPr>
        <p:spPr>
          <a:xfrm>
            <a:off x="2542032" y="1737360"/>
            <a:ext cx="420624" cy="420624"/>
          </a:xfrm>
          <a:prstGeom prst="rect">
            <a:avLst/>
          </a:prstGeom>
          <a:noFill/>
          <a:ln/>
        </p:spPr>
        <p:txBody>
          <a:bodyPr wrap="square" lIns="0" tIns="0" rIns="0" bIns="0" rtlCol="0" anchor="ctr"/>
          <a:lstStyle/>
          <a:p>
            <a:pPr marL="0" indent="0" algn="ctr">
              <a:lnSpc>
                <a:spcPct val="100000"/>
              </a:lnSpc>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s14-11"/>
          <p:cNvSpPr txBox="1"/>
          <p:nvPr/>
        </p:nvSpPr>
        <p:spPr>
          <a:xfrm>
            <a:off x="2542032" y="2240280"/>
            <a:ext cx="1508760" cy="2011680"/>
          </a:xfrm>
          <a:prstGeom prst="rect">
            <a:avLst/>
          </a:prstGeom>
          <a:noFill/>
          <a:ln/>
        </p:spPr>
        <p:txBody>
          <a:bodyPr wrap="square" lIns="0" tIns="0" rIns="0" bIns="0" rtlCol="0" anchor="t"/>
          <a:lstStyle/>
          <a:p>
            <a:pPr marL="0" indent="0" algn="l">
              <a:lnSpc>
                <a:spcPct val="100000"/>
              </a:lnSpc>
              <a:spcAft>
                <a:spcPts val="300"/>
              </a:spcAft>
              <a:buNone/>
            </a:pPr>
            <a:r>
              <a:rPr lang="en-US" sz="1600" b="1" dirty="0">
                <a:solidFill>
                  <a:srgbClr val="0F3D6E"/>
                </a:solidFill>
                <a:latin typeface="Calibri" pitchFamily="34" charset="0"/>
                <a:ea typeface="Calibri" pitchFamily="34" charset="-122"/>
                <a:cs typeface="Calibri" pitchFamily="34" charset="-120"/>
              </a:rPr>
              <a:t>Demand continues</a:t>
            </a:r>
            <a:endParaRPr lang="en-US" sz="1600" dirty="0"/>
          </a:p>
          <a:p>
            <a:pPr marL="0" indent="0" algn="l">
              <a:lnSpc>
                <a:spcPct val="100000"/>
              </a:lnSpc>
              <a:buNone/>
            </a:pPr>
            <a:r>
              <a:rPr lang="en-US" sz="1300" dirty="0">
                <a:solidFill>
                  <a:srgbClr val="121212"/>
                </a:solidFill>
                <a:latin typeface="Calibri" pitchFamily="34" charset="0"/>
                <a:ea typeface="Calibri" pitchFamily="34" charset="-122"/>
                <a:cs typeface="Calibri" pitchFamily="34" charset="-120"/>
              </a:rPr>
              <a:t>Shoppers still view it and add it to the cart. Empty stock does not stop demand.</a:t>
            </a:r>
            <a:endParaRPr lang="en-US" sz="1600" dirty="0"/>
          </a:p>
        </p:txBody>
      </p:sp>
      <p:sp>
        <p:nvSpPr>
          <p:cNvPr id="14" name="s14-12"/>
          <p:cNvSpPr/>
          <p:nvPr/>
        </p:nvSpPr>
        <p:spPr>
          <a:xfrm>
            <a:off x="4261104" y="1600200"/>
            <a:ext cx="1783080" cy="2697480"/>
          </a:xfrm>
          <a:prstGeom prst="roundRect">
            <a:avLst>
              <a:gd name="adj" fmla="val 6154"/>
            </a:avLst>
          </a:prstGeom>
          <a:solidFill>
            <a:srgbClr val="EEF2F7"/>
          </a:solidFill>
          <a:ln w="12700">
            <a:solidFill>
              <a:srgbClr val="EEF2F7"/>
            </a:solidFill>
            <a:prstDash val="solid"/>
          </a:ln>
        </p:spPr>
        <p:txBody>
          <a:bodyPr/>
          <a:lstStyle/>
          <a:p>
            <a:endParaRPr lang="en-US"/>
          </a:p>
        </p:txBody>
      </p:sp>
      <p:sp>
        <p:nvSpPr>
          <p:cNvPr id="15" name="s14-13"/>
          <p:cNvSpPr/>
          <p:nvPr/>
        </p:nvSpPr>
        <p:spPr>
          <a:xfrm>
            <a:off x="4398264" y="1737360"/>
            <a:ext cx="420624" cy="420624"/>
          </a:xfrm>
          <a:prstGeom prst="roundRect">
            <a:avLst>
              <a:gd name="adj" fmla="val 50000"/>
            </a:avLst>
          </a:prstGeom>
          <a:solidFill>
            <a:srgbClr val="59A472"/>
          </a:solidFill>
          <a:ln w="12700">
            <a:solidFill>
              <a:srgbClr val="59A472"/>
            </a:solidFill>
            <a:prstDash val="solid"/>
          </a:ln>
        </p:spPr>
        <p:txBody>
          <a:bodyPr/>
          <a:lstStyle/>
          <a:p>
            <a:endParaRPr lang="en-US"/>
          </a:p>
        </p:txBody>
      </p:sp>
      <p:sp>
        <p:nvSpPr>
          <p:cNvPr id="16" name="s14-14"/>
          <p:cNvSpPr txBox="1"/>
          <p:nvPr/>
        </p:nvSpPr>
        <p:spPr>
          <a:xfrm>
            <a:off x="4398264" y="1737360"/>
            <a:ext cx="420624" cy="420624"/>
          </a:xfrm>
          <a:prstGeom prst="rect">
            <a:avLst/>
          </a:prstGeom>
          <a:noFill/>
          <a:ln/>
        </p:spPr>
        <p:txBody>
          <a:bodyPr wrap="square" lIns="0" tIns="0" rIns="0" bIns="0" rtlCol="0" anchor="ctr"/>
          <a:lstStyle/>
          <a:p>
            <a:pPr marL="0" indent="0" algn="ctr">
              <a:lnSpc>
                <a:spcPct val="100000"/>
              </a:lnSpc>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s14-15"/>
          <p:cNvSpPr txBox="1"/>
          <p:nvPr/>
        </p:nvSpPr>
        <p:spPr>
          <a:xfrm>
            <a:off x="4398264" y="2240280"/>
            <a:ext cx="1508760" cy="2011680"/>
          </a:xfrm>
          <a:prstGeom prst="rect">
            <a:avLst/>
          </a:prstGeom>
          <a:noFill/>
          <a:ln/>
        </p:spPr>
        <p:txBody>
          <a:bodyPr wrap="square" lIns="0" tIns="0" rIns="0" bIns="0" rtlCol="0" anchor="t"/>
          <a:lstStyle/>
          <a:p>
            <a:pPr marL="0" indent="0" algn="l">
              <a:lnSpc>
                <a:spcPct val="100000"/>
              </a:lnSpc>
              <a:spcAft>
                <a:spcPts val="300"/>
              </a:spcAft>
              <a:buNone/>
            </a:pPr>
            <a:r>
              <a:rPr lang="en-US" sz="1600" b="1" dirty="0">
                <a:solidFill>
                  <a:srgbClr val="0F3D6E"/>
                </a:solidFill>
                <a:latin typeface="Calibri" pitchFamily="34" charset="0"/>
                <a:ea typeface="Calibri" pitchFamily="34" charset="-122"/>
                <a:cs typeface="Calibri" pitchFamily="34" charset="-120"/>
              </a:rPr>
              <a:t>Live sink flags it</a:t>
            </a:r>
            <a:endParaRPr lang="en-US" sz="1600" dirty="0"/>
          </a:p>
          <a:p>
            <a:pPr marL="0" indent="0" algn="l">
              <a:lnSpc>
                <a:spcPct val="100000"/>
              </a:lnSpc>
              <a:buNone/>
            </a:pPr>
            <a:r>
              <a:rPr lang="en-US" sz="1300" dirty="0">
                <a:solidFill>
                  <a:srgbClr val="121212"/>
                </a:solidFill>
                <a:latin typeface="Calibri" pitchFamily="34" charset="0"/>
                <a:ea typeface="Calibri" pitchFamily="34" charset="-122"/>
                <a:cs typeface="Calibri" pitchFamily="34" charset="-120"/>
              </a:rPr>
              <a:t>Each demand minute is marked: out of stock when the minute was written.</a:t>
            </a:r>
            <a:endParaRPr lang="en-US" sz="1600" dirty="0"/>
          </a:p>
        </p:txBody>
      </p:sp>
      <p:sp>
        <p:nvSpPr>
          <p:cNvPr id="18" name="s14-16"/>
          <p:cNvSpPr/>
          <p:nvPr/>
        </p:nvSpPr>
        <p:spPr>
          <a:xfrm>
            <a:off x="6117336" y="1600200"/>
            <a:ext cx="1783080" cy="2697480"/>
          </a:xfrm>
          <a:prstGeom prst="roundRect">
            <a:avLst>
              <a:gd name="adj" fmla="val 6154"/>
            </a:avLst>
          </a:prstGeom>
          <a:solidFill>
            <a:srgbClr val="E3F1E8"/>
          </a:solidFill>
          <a:ln w="12700">
            <a:solidFill>
              <a:srgbClr val="E3F1E8"/>
            </a:solidFill>
            <a:prstDash val="solid"/>
          </a:ln>
        </p:spPr>
        <p:txBody>
          <a:bodyPr/>
          <a:lstStyle/>
          <a:p>
            <a:endParaRPr lang="en-US"/>
          </a:p>
        </p:txBody>
      </p:sp>
      <p:sp>
        <p:nvSpPr>
          <p:cNvPr id="19" name="s14-17"/>
          <p:cNvSpPr/>
          <p:nvPr/>
        </p:nvSpPr>
        <p:spPr>
          <a:xfrm>
            <a:off x="6254496" y="1737360"/>
            <a:ext cx="420624" cy="420624"/>
          </a:xfrm>
          <a:prstGeom prst="roundRect">
            <a:avLst>
              <a:gd name="adj" fmla="val 50000"/>
            </a:avLst>
          </a:prstGeom>
          <a:solidFill>
            <a:srgbClr val="59A472"/>
          </a:solidFill>
          <a:ln w="12700">
            <a:solidFill>
              <a:srgbClr val="59A472"/>
            </a:solidFill>
            <a:prstDash val="solid"/>
          </a:ln>
        </p:spPr>
        <p:txBody>
          <a:bodyPr/>
          <a:lstStyle/>
          <a:p>
            <a:endParaRPr lang="en-US"/>
          </a:p>
        </p:txBody>
      </p:sp>
      <p:sp>
        <p:nvSpPr>
          <p:cNvPr id="20" name="s14-18"/>
          <p:cNvSpPr txBox="1"/>
          <p:nvPr/>
        </p:nvSpPr>
        <p:spPr>
          <a:xfrm>
            <a:off x="6254496" y="1737360"/>
            <a:ext cx="420624" cy="420624"/>
          </a:xfrm>
          <a:prstGeom prst="rect">
            <a:avLst/>
          </a:prstGeom>
          <a:noFill/>
          <a:ln/>
        </p:spPr>
        <p:txBody>
          <a:bodyPr wrap="square" lIns="0" tIns="0" rIns="0" bIns="0" rtlCol="0" anchor="ctr"/>
          <a:lstStyle/>
          <a:p>
            <a:pPr marL="0" indent="0" algn="ctr">
              <a:lnSpc>
                <a:spcPct val="100000"/>
              </a:lnSpc>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s14-19"/>
          <p:cNvSpPr txBox="1"/>
          <p:nvPr/>
        </p:nvSpPr>
        <p:spPr>
          <a:xfrm>
            <a:off x="6254496" y="2240280"/>
            <a:ext cx="1508760" cy="2011680"/>
          </a:xfrm>
          <a:prstGeom prst="rect">
            <a:avLst/>
          </a:prstGeom>
          <a:noFill/>
          <a:ln/>
        </p:spPr>
        <p:txBody>
          <a:bodyPr wrap="square" lIns="0" tIns="0" rIns="0" bIns="0" rtlCol="0" anchor="t"/>
          <a:lstStyle/>
          <a:p>
            <a:pPr marL="0" indent="0" algn="l">
              <a:lnSpc>
                <a:spcPct val="100000"/>
              </a:lnSpc>
              <a:spcAft>
                <a:spcPts val="300"/>
              </a:spcAft>
              <a:buNone/>
            </a:pPr>
            <a:r>
              <a:rPr lang="en-US" sz="1600" b="1" dirty="0">
                <a:solidFill>
                  <a:srgbClr val="0F3D6E"/>
                </a:solidFill>
                <a:latin typeface="Calibri" pitchFamily="34" charset="0"/>
                <a:ea typeface="Calibri" pitchFamily="34" charset="-122"/>
                <a:cs typeface="Calibri" pitchFamily="34" charset="-120"/>
              </a:rPr>
              <a:t>Alert fires</a:t>
            </a:r>
            <a:endParaRPr lang="en-US" sz="1600" dirty="0"/>
          </a:p>
          <a:p>
            <a:pPr marL="0" indent="0" algn="l">
              <a:lnSpc>
                <a:spcPct val="100000"/>
              </a:lnSpc>
              <a:buNone/>
            </a:pPr>
            <a:r>
              <a:rPr lang="en-US" sz="1300" dirty="0">
                <a:solidFill>
                  <a:srgbClr val="121212"/>
                </a:solidFill>
                <a:latin typeface="Calibri" pitchFamily="34" charset="0"/>
                <a:ea typeface="Calibri" pitchFamily="34" charset="-122"/>
                <a:cs typeface="Calibri" pitchFamily="34" charset="-120"/>
              </a:rPr>
              <a:t>Grafana alert on demand for out-of-stock products fires 1 minute after the stock-out.</a:t>
            </a:r>
            <a:endParaRPr lang="en-US" sz="1600" dirty="0"/>
          </a:p>
        </p:txBody>
      </p:sp>
      <p:sp>
        <p:nvSpPr>
          <p:cNvPr id="22" name="s14-20"/>
          <p:cNvSpPr/>
          <p:nvPr/>
        </p:nvSpPr>
        <p:spPr>
          <a:xfrm>
            <a:off x="7973568" y="1600200"/>
            <a:ext cx="1783080" cy="2697480"/>
          </a:xfrm>
          <a:prstGeom prst="roundRect">
            <a:avLst>
              <a:gd name="adj" fmla="val 6154"/>
            </a:avLst>
          </a:prstGeom>
          <a:solidFill>
            <a:srgbClr val="E3F1E8"/>
          </a:solidFill>
          <a:ln w="12700">
            <a:solidFill>
              <a:srgbClr val="E3F1E8"/>
            </a:solidFill>
            <a:prstDash val="solid"/>
          </a:ln>
        </p:spPr>
        <p:txBody>
          <a:bodyPr/>
          <a:lstStyle/>
          <a:p>
            <a:endParaRPr lang="en-US"/>
          </a:p>
        </p:txBody>
      </p:sp>
      <p:sp>
        <p:nvSpPr>
          <p:cNvPr id="23" name="s14-21"/>
          <p:cNvSpPr/>
          <p:nvPr/>
        </p:nvSpPr>
        <p:spPr>
          <a:xfrm>
            <a:off x="8110728" y="1737360"/>
            <a:ext cx="420624" cy="420624"/>
          </a:xfrm>
          <a:prstGeom prst="roundRect">
            <a:avLst>
              <a:gd name="adj" fmla="val 50000"/>
            </a:avLst>
          </a:prstGeom>
          <a:solidFill>
            <a:srgbClr val="59A472"/>
          </a:solidFill>
          <a:ln w="12700">
            <a:solidFill>
              <a:srgbClr val="59A472"/>
            </a:solidFill>
            <a:prstDash val="solid"/>
          </a:ln>
        </p:spPr>
        <p:txBody>
          <a:bodyPr/>
          <a:lstStyle/>
          <a:p>
            <a:endParaRPr lang="en-US"/>
          </a:p>
        </p:txBody>
      </p:sp>
      <p:sp>
        <p:nvSpPr>
          <p:cNvPr id="24" name="s14-22"/>
          <p:cNvSpPr txBox="1"/>
          <p:nvPr/>
        </p:nvSpPr>
        <p:spPr>
          <a:xfrm>
            <a:off x="8110728" y="1737360"/>
            <a:ext cx="420624" cy="420624"/>
          </a:xfrm>
          <a:prstGeom prst="rect">
            <a:avLst/>
          </a:prstGeom>
          <a:noFill/>
          <a:ln/>
        </p:spPr>
        <p:txBody>
          <a:bodyPr wrap="square" lIns="0" tIns="0" rIns="0" bIns="0" rtlCol="0" anchor="ctr"/>
          <a:lstStyle/>
          <a:p>
            <a:pPr marL="0" indent="0" algn="ctr">
              <a:lnSpc>
                <a:spcPct val="100000"/>
              </a:lnSpc>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5" name="s14-23"/>
          <p:cNvSpPr txBox="1"/>
          <p:nvPr/>
        </p:nvSpPr>
        <p:spPr>
          <a:xfrm>
            <a:off x="8110728" y="2240280"/>
            <a:ext cx="1508760" cy="2011680"/>
          </a:xfrm>
          <a:prstGeom prst="rect">
            <a:avLst/>
          </a:prstGeom>
          <a:noFill/>
          <a:ln/>
        </p:spPr>
        <p:txBody>
          <a:bodyPr wrap="square" lIns="0" tIns="0" rIns="0" bIns="0" rtlCol="0" anchor="t"/>
          <a:lstStyle/>
          <a:p>
            <a:pPr marL="0" indent="0" algn="l">
              <a:lnSpc>
                <a:spcPct val="100000"/>
              </a:lnSpc>
              <a:spcAft>
                <a:spcPts val="300"/>
              </a:spcAft>
              <a:buNone/>
            </a:pPr>
            <a:r>
              <a:rPr lang="en-US" sz="1600" b="1" dirty="0">
                <a:solidFill>
                  <a:srgbClr val="0F3D6E"/>
                </a:solidFill>
                <a:latin typeface="Calibri" pitchFamily="34" charset="0"/>
                <a:ea typeface="Calibri" pitchFamily="34" charset="-122"/>
                <a:cs typeface="Calibri" pitchFamily="34" charset="-120"/>
              </a:rPr>
              <a:t>Restock</a:t>
            </a:r>
            <a:endParaRPr lang="en-US" sz="1600" dirty="0"/>
          </a:p>
          <a:p>
            <a:pPr marL="0" indent="0" algn="l">
              <a:lnSpc>
                <a:spcPct val="100000"/>
              </a:lnSpc>
              <a:buNone/>
            </a:pPr>
            <a:r>
              <a:rPr lang="en-US" sz="1300" dirty="0">
                <a:solidFill>
                  <a:srgbClr val="121212"/>
                </a:solidFill>
                <a:latin typeface="Calibri" pitchFamily="34" charset="0"/>
                <a:ea typeface="Calibri" pitchFamily="34" charset="-122"/>
                <a:cs typeface="Calibri" pitchFamily="34" charset="-120"/>
              </a:rPr>
              <a:t>About 2 minutes after the stock-out. The out-of-stock count falls to 0.</a:t>
            </a:r>
            <a:endParaRPr lang="en-US" sz="1600" dirty="0"/>
          </a:p>
        </p:txBody>
      </p:sp>
      <p:sp>
        <p:nvSpPr>
          <p:cNvPr id="26" name="s14-24"/>
          <p:cNvSpPr/>
          <p:nvPr/>
        </p:nvSpPr>
        <p:spPr>
          <a:xfrm>
            <a:off x="9829800" y="1600200"/>
            <a:ext cx="1783080" cy="2697480"/>
          </a:xfrm>
          <a:prstGeom prst="roundRect">
            <a:avLst>
              <a:gd name="adj" fmla="val 6154"/>
            </a:avLst>
          </a:prstGeom>
          <a:solidFill>
            <a:srgbClr val="E1ECFB"/>
          </a:solidFill>
          <a:ln w="12700">
            <a:solidFill>
              <a:srgbClr val="E1ECFB"/>
            </a:solidFill>
            <a:prstDash val="solid"/>
          </a:ln>
        </p:spPr>
        <p:txBody>
          <a:bodyPr/>
          <a:lstStyle/>
          <a:p>
            <a:endParaRPr lang="en-US"/>
          </a:p>
        </p:txBody>
      </p:sp>
      <p:sp>
        <p:nvSpPr>
          <p:cNvPr id="27" name="s14-25"/>
          <p:cNvSpPr/>
          <p:nvPr/>
        </p:nvSpPr>
        <p:spPr>
          <a:xfrm>
            <a:off x="9966960" y="1737360"/>
            <a:ext cx="420624" cy="420624"/>
          </a:xfrm>
          <a:prstGeom prst="roundRect">
            <a:avLst>
              <a:gd name="adj" fmla="val 50000"/>
            </a:avLst>
          </a:prstGeom>
          <a:solidFill>
            <a:srgbClr val="0F3D6E"/>
          </a:solidFill>
          <a:ln w="12700">
            <a:solidFill>
              <a:srgbClr val="0F3D6E"/>
            </a:solidFill>
            <a:prstDash val="solid"/>
          </a:ln>
        </p:spPr>
        <p:txBody>
          <a:bodyPr/>
          <a:lstStyle/>
          <a:p>
            <a:endParaRPr lang="en-US"/>
          </a:p>
        </p:txBody>
      </p:sp>
      <p:sp>
        <p:nvSpPr>
          <p:cNvPr id="28" name="s14-26"/>
          <p:cNvSpPr txBox="1"/>
          <p:nvPr/>
        </p:nvSpPr>
        <p:spPr>
          <a:xfrm>
            <a:off x="9966960" y="1737360"/>
            <a:ext cx="420624" cy="420624"/>
          </a:xfrm>
          <a:prstGeom prst="rect">
            <a:avLst/>
          </a:prstGeom>
          <a:noFill/>
          <a:ln/>
        </p:spPr>
        <p:txBody>
          <a:bodyPr wrap="square" lIns="0" tIns="0" rIns="0" bIns="0" rtlCol="0" anchor="ctr"/>
          <a:lstStyle/>
          <a:p>
            <a:pPr marL="0" indent="0" algn="ctr">
              <a:lnSpc>
                <a:spcPct val="100000"/>
              </a:lnSpc>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9" name="s14-27"/>
          <p:cNvSpPr txBox="1"/>
          <p:nvPr/>
        </p:nvSpPr>
        <p:spPr>
          <a:xfrm>
            <a:off x="9966960" y="2240280"/>
            <a:ext cx="1508760" cy="2011680"/>
          </a:xfrm>
          <a:prstGeom prst="rect">
            <a:avLst/>
          </a:prstGeom>
          <a:noFill/>
          <a:ln/>
        </p:spPr>
        <p:txBody>
          <a:bodyPr wrap="square" lIns="0" tIns="0" rIns="0" bIns="0" rtlCol="0" anchor="t"/>
          <a:lstStyle/>
          <a:p>
            <a:pPr marL="0" indent="0" algn="l">
              <a:lnSpc>
                <a:spcPct val="100000"/>
              </a:lnSpc>
              <a:spcAft>
                <a:spcPts val="300"/>
              </a:spcAft>
              <a:buNone/>
            </a:pPr>
            <a:r>
              <a:rPr lang="en-US" sz="1600" b="1" dirty="0">
                <a:solidFill>
                  <a:srgbClr val="0F3D6E"/>
                </a:solidFill>
                <a:latin typeface="Calibri" pitchFamily="34" charset="0"/>
                <a:ea typeface="Calibri" pitchFamily="34" charset="-122"/>
                <a:cs typeface="Calibri" pitchFamily="34" charset="-120"/>
              </a:rPr>
              <a:t>Next morning</a:t>
            </a:r>
            <a:endParaRPr lang="en-US" sz="1600" dirty="0"/>
          </a:p>
          <a:p>
            <a:pPr marL="0" indent="0" algn="l">
              <a:lnSpc>
                <a:spcPct val="100000"/>
              </a:lnSpc>
              <a:buNone/>
            </a:pPr>
            <a:r>
              <a:rPr lang="en-US" sz="1300" dirty="0">
                <a:solidFill>
                  <a:srgbClr val="121212"/>
                </a:solidFill>
                <a:latin typeface="Calibri" pitchFamily="34" charset="0"/>
                <a:ea typeface="Calibri" pitchFamily="34" charset="-122"/>
                <a:cs typeface="Calibri" pitchFamily="34" charset="-120"/>
              </a:rPr>
              <a:t>The D-1 mart prices the exposure. Power BI shows exposed spend and revenue at risk.</a:t>
            </a:r>
            <a:endParaRPr lang="en-US" sz="1600" dirty="0"/>
          </a:p>
        </p:txBody>
      </p:sp>
      <p:sp>
        <p:nvSpPr>
          <p:cNvPr id="30" name="s14-28"/>
          <p:cNvSpPr txBox="1"/>
          <p:nvPr/>
        </p:nvSpPr>
        <p:spPr>
          <a:xfrm>
            <a:off x="548640" y="4480560"/>
            <a:ext cx="11064240" cy="274320"/>
          </a:xfrm>
          <a:prstGeom prst="rect">
            <a:avLst/>
          </a:prstGeom>
          <a:noFill/>
          <a:ln/>
        </p:spPr>
        <p:txBody>
          <a:bodyPr wrap="square" lIns="0" tIns="0" rIns="0" bIns="0" rtlCol="0" anchor="t"/>
          <a:lstStyle/>
          <a:p>
            <a:pPr marL="0" indent="0" algn="l">
              <a:lnSpc>
                <a:spcPct val="100000"/>
              </a:lnSpc>
              <a:buNone/>
            </a:pPr>
            <a:r>
              <a:rPr lang="en-US" sz="1400" b="1" dirty="0">
                <a:solidFill>
                  <a:srgbClr val="0F3D6E"/>
                </a:solidFill>
                <a:latin typeface="Calibri" pitchFamily="34" charset="0"/>
                <a:ea typeface="Calibri" pitchFamily="34" charset="-122"/>
                <a:cs typeface="Calibri" pitchFamily="34" charset="-120"/>
              </a:rPr>
              <a:t>How the next morning's number is computed</a:t>
            </a:r>
            <a:endParaRPr lang="en-US" sz="1400" dirty="0"/>
          </a:p>
        </p:txBody>
      </p:sp>
      <p:sp>
        <p:nvSpPr>
          <p:cNvPr id="31" name="s14-29"/>
          <p:cNvSpPr/>
          <p:nvPr/>
        </p:nvSpPr>
        <p:spPr>
          <a:xfrm>
            <a:off x="548640" y="4846320"/>
            <a:ext cx="3593592" cy="868680"/>
          </a:xfrm>
          <a:prstGeom prst="roundRect">
            <a:avLst>
              <a:gd name="adj" fmla="val 10526"/>
            </a:avLst>
          </a:prstGeom>
          <a:solidFill>
            <a:srgbClr val="0C1220"/>
          </a:solidFill>
          <a:ln w="12700">
            <a:solidFill>
              <a:srgbClr val="0C1220"/>
            </a:solidFill>
            <a:prstDash val="solid"/>
          </a:ln>
        </p:spPr>
        <p:txBody>
          <a:bodyPr/>
          <a:lstStyle/>
          <a:p>
            <a:endParaRPr lang="en-US"/>
          </a:p>
        </p:txBody>
      </p:sp>
      <p:sp>
        <p:nvSpPr>
          <p:cNvPr id="32" name="s14-30"/>
          <p:cNvSpPr txBox="1"/>
          <p:nvPr/>
        </p:nvSpPr>
        <p:spPr>
          <a:xfrm>
            <a:off x="685800" y="4846320"/>
            <a:ext cx="3319272" cy="868680"/>
          </a:xfrm>
          <a:prstGeom prst="rect">
            <a:avLst/>
          </a:prstGeom>
          <a:noFill/>
          <a:ln/>
        </p:spPr>
        <p:txBody>
          <a:bodyPr wrap="square" lIns="0" tIns="0" rIns="0" bIns="0" rtlCol="0" anchor="ctr"/>
          <a:lstStyle/>
          <a:p>
            <a:pPr marL="0" indent="0" algn="l">
              <a:lnSpc>
                <a:spcPct val="100000"/>
              </a:lnSpc>
              <a:buNone/>
            </a:pPr>
            <a:r>
              <a:rPr lang="en-US" sz="1400" b="1" dirty="0">
                <a:solidFill>
                  <a:srgbClr val="8EE0A6"/>
                </a:solidFill>
                <a:latin typeface="Consolas" pitchFamily="34" charset="0"/>
                <a:ea typeface="Consolas" pitchFamily="34" charset="-122"/>
                <a:cs typeface="Consolas" pitchFamily="34" charset="-120"/>
              </a:rPr>
              <a:t>oos_click_share</a:t>
            </a:r>
            <a:endParaRPr lang="en-US" sz="1400" dirty="0"/>
          </a:p>
          <a:p>
            <a:pPr marL="0" indent="0" algn="l">
              <a:lnSpc>
                <a:spcPct val="100000"/>
              </a:lnSpc>
              <a:buNone/>
            </a:pPr>
            <a:r>
              <a:rPr lang="en-US" sz="1200" dirty="0">
                <a:solidFill>
                  <a:srgbClr val="DCE6F2"/>
                </a:solidFill>
                <a:latin typeface="Consolas" pitchFamily="34" charset="0"/>
                <a:ea typeface="Consolas" pitchFamily="34" charset="-122"/>
                <a:cs typeface="Consolas" pitchFamily="34" charset="-120"/>
              </a:rPr>
              <a:t>= out-of-stock landing clicks / served landing clicks</a:t>
            </a:r>
            <a:endParaRPr lang="en-US" sz="1400" dirty="0"/>
          </a:p>
        </p:txBody>
      </p:sp>
      <p:sp>
        <p:nvSpPr>
          <p:cNvPr id="33" name="s14-31"/>
          <p:cNvSpPr/>
          <p:nvPr/>
        </p:nvSpPr>
        <p:spPr>
          <a:xfrm>
            <a:off x="4283964" y="4846320"/>
            <a:ext cx="3593592" cy="868680"/>
          </a:xfrm>
          <a:prstGeom prst="roundRect">
            <a:avLst>
              <a:gd name="adj" fmla="val 10526"/>
            </a:avLst>
          </a:prstGeom>
          <a:solidFill>
            <a:srgbClr val="0C1220"/>
          </a:solidFill>
          <a:ln w="12700">
            <a:solidFill>
              <a:srgbClr val="0C1220"/>
            </a:solidFill>
            <a:prstDash val="solid"/>
          </a:ln>
        </p:spPr>
        <p:txBody>
          <a:bodyPr/>
          <a:lstStyle/>
          <a:p>
            <a:endParaRPr lang="en-US"/>
          </a:p>
        </p:txBody>
      </p:sp>
      <p:sp>
        <p:nvSpPr>
          <p:cNvPr id="34" name="s14-32"/>
          <p:cNvSpPr txBox="1"/>
          <p:nvPr/>
        </p:nvSpPr>
        <p:spPr>
          <a:xfrm>
            <a:off x="4421124" y="4846320"/>
            <a:ext cx="3319272" cy="868680"/>
          </a:xfrm>
          <a:prstGeom prst="rect">
            <a:avLst/>
          </a:prstGeom>
          <a:noFill/>
          <a:ln/>
        </p:spPr>
        <p:txBody>
          <a:bodyPr wrap="square" lIns="0" tIns="0" rIns="0" bIns="0" rtlCol="0" anchor="ctr"/>
          <a:lstStyle/>
          <a:p>
            <a:pPr marL="0" indent="0" algn="l">
              <a:lnSpc>
                <a:spcPct val="100000"/>
              </a:lnSpc>
              <a:buNone/>
            </a:pPr>
            <a:r>
              <a:rPr lang="en-US" sz="1400" b="1" dirty="0">
                <a:solidFill>
                  <a:srgbClr val="8EE0A6"/>
                </a:solidFill>
                <a:latin typeface="Consolas" pitchFamily="34" charset="0"/>
                <a:ea typeface="Consolas" pitchFamily="34" charset="-122"/>
                <a:cs typeface="Consolas" pitchFamily="34" charset="-120"/>
              </a:rPr>
              <a:t>exposed_spend</a:t>
            </a:r>
            <a:endParaRPr lang="en-US" sz="1400" dirty="0"/>
          </a:p>
          <a:p>
            <a:pPr marL="0" indent="0" algn="l">
              <a:lnSpc>
                <a:spcPct val="100000"/>
              </a:lnSpc>
              <a:buNone/>
            </a:pPr>
            <a:r>
              <a:rPr lang="en-US" sz="1200" dirty="0">
                <a:solidFill>
                  <a:srgbClr val="DCE6F2"/>
                </a:solidFill>
                <a:latin typeface="Consolas" pitchFamily="34" charset="0"/>
                <a:ea typeface="Consolas" pitchFamily="34" charset="-122"/>
                <a:cs typeface="Consolas" pitchFamily="34" charset="-120"/>
              </a:rPr>
              <a:t>= spend x oos_click_share</a:t>
            </a:r>
            <a:endParaRPr lang="en-US" sz="1400" dirty="0"/>
          </a:p>
        </p:txBody>
      </p:sp>
      <p:sp>
        <p:nvSpPr>
          <p:cNvPr id="35" name="s14-33"/>
          <p:cNvSpPr/>
          <p:nvPr/>
        </p:nvSpPr>
        <p:spPr>
          <a:xfrm>
            <a:off x="8019288" y="4846320"/>
            <a:ext cx="3593592" cy="868680"/>
          </a:xfrm>
          <a:prstGeom prst="roundRect">
            <a:avLst>
              <a:gd name="adj" fmla="val 10526"/>
            </a:avLst>
          </a:prstGeom>
          <a:solidFill>
            <a:srgbClr val="0C1220"/>
          </a:solidFill>
          <a:ln w="12700">
            <a:solidFill>
              <a:srgbClr val="0C1220"/>
            </a:solidFill>
            <a:prstDash val="solid"/>
          </a:ln>
        </p:spPr>
        <p:txBody>
          <a:bodyPr/>
          <a:lstStyle/>
          <a:p>
            <a:endParaRPr lang="en-US"/>
          </a:p>
        </p:txBody>
      </p:sp>
      <p:sp>
        <p:nvSpPr>
          <p:cNvPr id="36" name="s14-34"/>
          <p:cNvSpPr txBox="1"/>
          <p:nvPr/>
        </p:nvSpPr>
        <p:spPr>
          <a:xfrm>
            <a:off x="8156448" y="4846320"/>
            <a:ext cx="3319272" cy="868680"/>
          </a:xfrm>
          <a:prstGeom prst="rect">
            <a:avLst/>
          </a:prstGeom>
          <a:noFill/>
          <a:ln/>
        </p:spPr>
        <p:txBody>
          <a:bodyPr wrap="square" lIns="0" tIns="0" rIns="0" bIns="0" rtlCol="0" anchor="ctr"/>
          <a:lstStyle/>
          <a:p>
            <a:pPr marL="0" indent="0" algn="l">
              <a:lnSpc>
                <a:spcPct val="100000"/>
              </a:lnSpc>
              <a:buNone/>
            </a:pPr>
            <a:r>
              <a:rPr lang="en-US" sz="1400" b="1" dirty="0">
                <a:solidFill>
                  <a:srgbClr val="8EE0A6"/>
                </a:solidFill>
                <a:latin typeface="Consolas" pitchFamily="34" charset="0"/>
                <a:ea typeface="Consolas" pitchFamily="34" charset="-122"/>
                <a:cs typeface="Consolas" pitchFamily="34" charset="-120"/>
              </a:rPr>
              <a:t>revenue_at_risk</a:t>
            </a:r>
            <a:endParaRPr lang="en-US" sz="1400" dirty="0"/>
          </a:p>
          <a:p>
            <a:pPr marL="0" indent="0" algn="l">
              <a:lnSpc>
                <a:spcPct val="100000"/>
              </a:lnSpc>
              <a:buNone/>
            </a:pPr>
            <a:r>
              <a:rPr lang="en-US" sz="1200" dirty="0">
                <a:solidFill>
                  <a:srgbClr val="DCE6F2"/>
                </a:solidFill>
                <a:latin typeface="Consolas" pitchFamily="34" charset="0"/>
                <a:ea typeface="Consolas" pitchFamily="34" charset="-122"/>
                <a:cs typeface="Consolas" pitchFamily="34" charset="-120"/>
              </a:rPr>
              <a:t>= add-to-carts on out-of-stock products x price</a:t>
            </a:r>
            <a:endParaRPr lang="en-US" sz="1400" dirty="0"/>
          </a:p>
        </p:txBody>
      </p:sp>
      <p:sp>
        <p:nvSpPr>
          <p:cNvPr id="37" name="s14-35"/>
          <p:cNvSpPr txBox="1"/>
          <p:nvPr/>
        </p:nvSpPr>
        <p:spPr>
          <a:xfrm>
            <a:off x="548640" y="5897880"/>
            <a:ext cx="11064240" cy="457200"/>
          </a:xfrm>
          <a:prstGeom prst="rect">
            <a:avLst/>
          </a:prstGeom>
          <a:noFill/>
          <a:ln/>
        </p:spPr>
        <p:txBody>
          <a:bodyPr wrap="square" lIns="0" tIns="0" rIns="0" bIns="0" rtlCol="0" anchor="t"/>
          <a:lstStyle/>
          <a:p>
            <a:pPr marL="0" indent="0" algn="l">
              <a:lnSpc>
                <a:spcPct val="100000"/>
              </a:lnSpc>
              <a:buNone/>
            </a:pPr>
            <a:r>
              <a:rPr lang="en-US" sz="1200" i="1" dirty="0">
                <a:solidFill>
                  <a:srgbClr val="5B6578"/>
                </a:solidFill>
                <a:latin typeface="Calibri" pitchFamily="34" charset="0"/>
                <a:ea typeface="Calibri" pitchFamily="34" charset="-122"/>
                <a:cs typeface="Calibri" pitchFamily="34" charset="-120"/>
              </a:rPr>
              <a:t>Measured on 12 October 2026 on the demo: Galabeya 61 at the Nasr City dark store, stock-out at 21:16:14 Cairo time, alert 1 minute later, restock about 2 minutes later. Simulated data.</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15-0"/>
          <p:cNvSpPr txBox="1"/>
          <p:nvPr/>
        </p:nvSpPr>
        <p:spPr>
          <a:xfrm>
            <a:off x="548640" y="274320"/>
            <a:ext cx="8229600" cy="274320"/>
          </a:xfrm>
          <a:prstGeom prst="rect">
            <a:avLst/>
          </a:prstGeom>
          <a:noFill/>
          <a:ln/>
        </p:spPr>
        <p:txBody>
          <a:bodyPr wrap="square" lIns="0" tIns="0" rIns="0" bIns="0" rtlCol="0" anchor="t"/>
          <a:lstStyle/>
          <a:p>
            <a:pPr marL="0" indent="0" algn="l">
              <a:lnSpc>
                <a:spcPct val="100000"/>
              </a:lnSpc>
              <a:buNone/>
            </a:pPr>
            <a:r>
              <a:rPr lang="en-US" sz="1200" b="1" dirty="0">
                <a:solidFill>
                  <a:srgbClr val="5B6578"/>
                </a:solidFill>
                <a:latin typeface="Calibri" pitchFamily="34" charset="0"/>
                <a:ea typeface="Calibri" pitchFamily="34" charset="-122"/>
                <a:cs typeface="Calibri" pitchFamily="34" charset="-120"/>
              </a:rPr>
              <a:t>4  QUALITY AND CLOSE</a:t>
            </a:r>
            <a:endParaRPr lang="en-US" sz="1200" dirty="0"/>
          </a:p>
        </p:txBody>
      </p:sp>
      <p:sp>
        <p:nvSpPr>
          <p:cNvPr id="3" name="s15-1"/>
          <p:cNvSpPr txBox="1"/>
          <p:nvPr/>
        </p:nvSpPr>
        <p:spPr>
          <a:xfrm>
            <a:off x="548640" y="530352"/>
            <a:ext cx="11064240" cy="685800"/>
          </a:xfrm>
          <a:prstGeom prst="rect">
            <a:avLst/>
          </a:prstGeom>
          <a:noFill/>
          <a:ln/>
        </p:spPr>
        <p:txBody>
          <a:bodyPr wrap="square" lIns="0" tIns="0" rIns="0" bIns="0" rtlCol="0" anchor="ctr"/>
          <a:lstStyle/>
          <a:p>
            <a:pPr marL="0" indent="0" algn="l">
              <a:lnSpc>
                <a:spcPct val="100000"/>
              </a:lnSpc>
              <a:buNone/>
            </a:pPr>
            <a:r>
              <a:rPr lang="en-US" sz="3000" b="1" dirty="0">
                <a:solidFill>
                  <a:srgbClr val="0F3D6E"/>
                </a:solidFill>
                <a:latin typeface="Calibri" pitchFamily="34" charset="0"/>
                <a:ea typeface="Calibri" pitchFamily="34" charset="-122"/>
                <a:cs typeface="Calibri" pitchFamily="34" charset="-120"/>
              </a:rPr>
              <a:t>Quality and measured results</a:t>
            </a:r>
            <a:endParaRPr lang="en-US" sz="3000" dirty="0"/>
          </a:p>
        </p:txBody>
      </p:sp>
      <p:sp>
        <p:nvSpPr>
          <p:cNvPr id="4" name="s15-2"/>
          <p:cNvSpPr txBox="1"/>
          <p:nvPr/>
        </p:nvSpPr>
        <p:spPr>
          <a:xfrm>
            <a:off x="548640" y="6437376"/>
            <a:ext cx="5486400" cy="274320"/>
          </a:xfrm>
          <a:prstGeom prst="rect">
            <a:avLst/>
          </a:prstGeom>
          <a:noFill/>
          <a:ln/>
        </p:spPr>
        <p:txBody>
          <a:bodyPr wrap="square" lIns="0" tIns="0" rIns="0" bIns="0" rtlCol="0" anchor="t"/>
          <a:lstStyle/>
          <a:p>
            <a:pPr marL="0" indent="0" algn="l">
              <a:lnSpc>
                <a:spcPct val="100000"/>
              </a:lnSpc>
              <a:buNone/>
            </a:pPr>
            <a:r>
              <a:rPr lang="en-US" sz="1000" dirty="0">
                <a:solidFill>
                  <a:srgbClr val="5B6578"/>
                </a:solidFill>
                <a:latin typeface="Calibri" pitchFamily="34" charset="0"/>
                <a:ea typeface="Calibri" pitchFamily="34" charset="-122"/>
                <a:cs typeface="Calibri" pitchFamily="34" charset="-120"/>
              </a:rPr>
              <a:t>FunnelStream</a:t>
            </a:r>
            <a:endParaRPr lang="en-US" sz="1000" dirty="0"/>
          </a:p>
        </p:txBody>
      </p:sp>
      <p:sp>
        <p:nvSpPr>
          <p:cNvPr id="5" name="s15-3"/>
          <p:cNvSpPr txBox="1"/>
          <p:nvPr/>
        </p:nvSpPr>
        <p:spPr>
          <a:xfrm>
            <a:off x="10881360" y="6437376"/>
            <a:ext cx="758952" cy="274320"/>
          </a:xfrm>
          <a:prstGeom prst="rect">
            <a:avLst/>
          </a:prstGeom>
          <a:noFill/>
          <a:ln/>
        </p:spPr>
        <p:txBody>
          <a:bodyPr wrap="square" lIns="0" tIns="0" rIns="0" bIns="0" rtlCol="0" anchor="t"/>
          <a:lstStyle/>
          <a:p>
            <a:pPr marL="0" indent="0" algn="r">
              <a:lnSpc>
                <a:spcPct val="100000"/>
              </a:lnSpc>
              <a:buNone/>
            </a:pPr>
            <a:r>
              <a:rPr lang="en-US" sz="1000" dirty="0">
                <a:solidFill>
                  <a:srgbClr val="5B6578"/>
                </a:solidFill>
                <a:latin typeface="Calibri" pitchFamily="34" charset="0"/>
                <a:ea typeface="Calibri" pitchFamily="34" charset="-122"/>
                <a:cs typeface="Calibri" pitchFamily="34" charset="-120"/>
              </a:rPr>
              <a:t>15</a:t>
            </a:r>
            <a:endParaRPr lang="en-US" sz="1000" dirty="0"/>
          </a:p>
        </p:txBody>
      </p:sp>
      <p:sp>
        <p:nvSpPr>
          <p:cNvPr id="6" name="s15-4"/>
          <p:cNvSpPr/>
          <p:nvPr/>
        </p:nvSpPr>
        <p:spPr>
          <a:xfrm>
            <a:off x="548640" y="1645920"/>
            <a:ext cx="2103120" cy="2697480"/>
          </a:xfrm>
          <a:prstGeom prst="roundRect">
            <a:avLst>
              <a:gd name="adj" fmla="val 5217"/>
            </a:avLst>
          </a:prstGeom>
          <a:solidFill>
            <a:srgbClr val="E1ECFB"/>
          </a:solidFill>
          <a:ln w="12700">
            <a:solidFill>
              <a:srgbClr val="E1ECFB"/>
            </a:solidFill>
            <a:prstDash val="solid"/>
          </a:ln>
        </p:spPr>
        <p:txBody>
          <a:bodyPr/>
          <a:lstStyle/>
          <a:p>
            <a:endParaRPr lang="en-US"/>
          </a:p>
        </p:txBody>
      </p:sp>
      <p:sp>
        <p:nvSpPr>
          <p:cNvPr id="7" name="s15-5"/>
          <p:cNvSpPr txBox="1"/>
          <p:nvPr/>
        </p:nvSpPr>
        <p:spPr>
          <a:xfrm>
            <a:off x="658368" y="1783080"/>
            <a:ext cx="1883664" cy="822960"/>
          </a:xfrm>
          <a:prstGeom prst="rect">
            <a:avLst/>
          </a:prstGeom>
          <a:noFill/>
          <a:ln/>
        </p:spPr>
        <p:txBody>
          <a:bodyPr wrap="square" lIns="0" tIns="0" rIns="0" bIns="0" rtlCol="0" anchor="ctr"/>
          <a:lstStyle/>
          <a:p>
            <a:pPr marL="0" indent="0" algn="ctr">
              <a:lnSpc>
                <a:spcPct val="100000"/>
              </a:lnSpc>
              <a:buNone/>
            </a:pPr>
            <a:r>
              <a:rPr lang="en-US" sz="3600" b="1" dirty="0">
                <a:solidFill>
                  <a:srgbClr val="0F3D6E"/>
                </a:solidFill>
                <a:latin typeface="Calibri" pitchFamily="34" charset="0"/>
                <a:ea typeface="Calibri" pitchFamily="34" charset="-122"/>
                <a:cs typeface="Calibri" pitchFamily="34" charset="-120"/>
              </a:rPr>
              <a:t>1,169</a:t>
            </a:r>
            <a:endParaRPr lang="en-US" sz="3600" dirty="0"/>
          </a:p>
        </p:txBody>
      </p:sp>
      <p:sp>
        <p:nvSpPr>
          <p:cNvPr id="8" name="s15-6"/>
          <p:cNvSpPr txBox="1"/>
          <p:nvPr/>
        </p:nvSpPr>
        <p:spPr>
          <a:xfrm>
            <a:off x="685800" y="2697480"/>
            <a:ext cx="1828800" cy="1097280"/>
          </a:xfrm>
          <a:prstGeom prst="rect">
            <a:avLst/>
          </a:prstGeom>
          <a:noFill/>
          <a:ln/>
        </p:spPr>
        <p:txBody>
          <a:bodyPr wrap="square" lIns="0" tIns="0" rIns="0" bIns="0" rtlCol="0" anchor="t"/>
          <a:lstStyle/>
          <a:p>
            <a:pPr marL="0" indent="0" algn="ctr">
              <a:lnSpc>
                <a:spcPct val="100000"/>
              </a:lnSpc>
              <a:buNone/>
            </a:pPr>
            <a:r>
              <a:rPr lang="en-US" sz="1400" dirty="0">
                <a:solidFill>
                  <a:srgbClr val="121212"/>
                </a:solidFill>
                <a:latin typeface="Calibri" pitchFamily="34" charset="0"/>
                <a:ea typeface="Calibri" pitchFamily="34" charset="-122"/>
                <a:cs typeface="Calibri" pitchFamily="34" charset="-120"/>
              </a:rPr>
              <a:t>host tests passed, 0 failed</a:t>
            </a:r>
            <a:endParaRPr lang="en-US" sz="1400" dirty="0"/>
          </a:p>
        </p:txBody>
      </p:sp>
      <p:sp>
        <p:nvSpPr>
          <p:cNvPr id="9" name="s15-7"/>
          <p:cNvSpPr txBox="1"/>
          <p:nvPr/>
        </p:nvSpPr>
        <p:spPr>
          <a:xfrm>
            <a:off x="685800" y="3840480"/>
            <a:ext cx="1828800" cy="365760"/>
          </a:xfrm>
          <a:prstGeom prst="rect">
            <a:avLst/>
          </a:prstGeom>
          <a:noFill/>
          <a:ln/>
        </p:spPr>
        <p:txBody>
          <a:bodyPr wrap="square" lIns="0" tIns="0" rIns="0" bIns="0" rtlCol="0" anchor="t"/>
          <a:lstStyle/>
          <a:p>
            <a:pPr marL="0" indent="0" algn="ctr">
              <a:lnSpc>
                <a:spcPct val="100000"/>
              </a:lnSpc>
              <a:buNone/>
            </a:pPr>
            <a:r>
              <a:rPr lang="en-US" sz="1100" i="1" dirty="0">
                <a:solidFill>
                  <a:srgbClr val="5B6578"/>
                </a:solidFill>
                <a:latin typeface="Calibri" pitchFamily="34" charset="0"/>
                <a:ea typeface="Calibri" pitchFamily="34" charset="-122"/>
                <a:cs typeface="Calibri" pitchFamily="34" charset="-120"/>
              </a:rPr>
              <a:t>13 Oct 2026</a:t>
            </a:r>
            <a:endParaRPr lang="en-US" sz="1100" dirty="0"/>
          </a:p>
        </p:txBody>
      </p:sp>
      <p:sp>
        <p:nvSpPr>
          <p:cNvPr id="10" name="s15-8"/>
          <p:cNvSpPr/>
          <p:nvPr/>
        </p:nvSpPr>
        <p:spPr>
          <a:xfrm>
            <a:off x="2788920" y="1645920"/>
            <a:ext cx="2103120" cy="2697480"/>
          </a:xfrm>
          <a:prstGeom prst="roundRect">
            <a:avLst>
              <a:gd name="adj" fmla="val 5217"/>
            </a:avLst>
          </a:prstGeom>
          <a:solidFill>
            <a:srgbClr val="EEF2F7"/>
          </a:solidFill>
          <a:ln w="12700">
            <a:solidFill>
              <a:srgbClr val="EEF2F7"/>
            </a:solidFill>
            <a:prstDash val="solid"/>
          </a:ln>
        </p:spPr>
        <p:txBody>
          <a:bodyPr/>
          <a:lstStyle/>
          <a:p>
            <a:endParaRPr lang="en-US"/>
          </a:p>
        </p:txBody>
      </p:sp>
      <p:sp>
        <p:nvSpPr>
          <p:cNvPr id="11" name="s15-9"/>
          <p:cNvSpPr txBox="1"/>
          <p:nvPr/>
        </p:nvSpPr>
        <p:spPr>
          <a:xfrm>
            <a:off x="2898648" y="1783080"/>
            <a:ext cx="1883664" cy="822960"/>
          </a:xfrm>
          <a:prstGeom prst="rect">
            <a:avLst/>
          </a:prstGeom>
          <a:noFill/>
          <a:ln/>
        </p:spPr>
        <p:txBody>
          <a:bodyPr wrap="square" lIns="0" tIns="0" rIns="0" bIns="0" rtlCol="0" anchor="ctr"/>
          <a:lstStyle/>
          <a:p>
            <a:pPr marL="0" indent="0" algn="ctr">
              <a:lnSpc>
                <a:spcPct val="100000"/>
              </a:lnSpc>
              <a:buNone/>
            </a:pPr>
            <a:r>
              <a:rPr lang="en-US" sz="3600" b="1" dirty="0">
                <a:solidFill>
                  <a:srgbClr val="0F3D6E"/>
                </a:solidFill>
                <a:latin typeface="Calibri" pitchFamily="34" charset="0"/>
                <a:ea typeface="Calibri" pitchFamily="34" charset="-122"/>
                <a:cs typeface="Calibri" pitchFamily="34" charset="-120"/>
              </a:rPr>
              <a:t>217</a:t>
            </a:r>
            <a:endParaRPr lang="en-US" sz="3600" dirty="0"/>
          </a:p>
        </p:txBody>
      </p:sp>
      <p:sp>
        <p:nvSpPr>
          <p:cNvPr id="12" name="s15-10"/>
          <p:cNvSpPr txBox="1"/>
          <p:nvPr/>
        </p:nvSpPr>
        <p:spPr>
          <a:xfrm>
            <a:off x="2926080" y="2697480"/>
            <a:ext cx="1828800" cy="1097280"/>
          </a:xfrm>
          <a:prstGeom prst="rect">
            <a:avLst/>
          </a:prstGeom>
          <a:noFill/>
          <a:ln/>
        </p:spPr>
        <p:txBody>
          <a:bodyPr wrap="square" lIns="0" tIns="0" rIns="0" bIns="0" rtlCol="0" anchor="t"/>
          <a:lstStyle/>
          <a:p>
            <a:pPr marL="0" indent="0" algn="ctr">
              <a:lnSpc>
                <a:spcPct val="100000"/>
              </a:lnSpc>
              <a:buNone/>
            </a:pPr>
            <a:r>
              <a:rPr lang="en-US" sz="1400" dirty="0">
                <a:solidFill>
                  <a:srgbClr val="121212"/>
                </a:solidFill>
                <a:latin typeface="Calibri" pitchFamily="34" charset="0"/>
                <a:ea typeface="Calibri" pitchFamily="34" charset="-122"/>
                <a:cs typeface="Calibri" pitchFamily="34" charset="-120"/>
              </a:rPr>
              <a:t>Spark tests passed in Docker, 22 files</a:t>
            </a:r>
            <a:endParaRPr lang="en-US" sz="1400" dirty="0"/>
          </a:p>
        </p:txBody>
      </p:sp>
      <p:sp>
        <p:nvSpPr>
          <p:cNvPr id="13" name="s15-11"/>
          <p:cNvSpPr txBox="1"/>
          <p:nvPr/>
        </p:nvSpPr>
        <p:spPr>
          <a:xfrm>
            <a:off x="2926080" y="3840480"/>
            <a:ext cx="1828800" cy="365760"/>
          </a:xfrm>
          <a:prstGeom prst="rect">
            <a:avLst/>
          </a:prstGeom>
          <a:noFill/>
          <a:ln/>
        </p:spPr>
        <p:txBody>
          <a:bodyPr wrap="square" lIns="0" tIns="0" rIns="0" bIns="0" rtlCol="0" anchor="t"/>
          <a:lstStyle/>
          <a:p>
            <a:pPr marL="0" indent="0" algn="ctr">
              <a:lnSpc>
                <a:spcPct val="100000"/>
              </a:lnSpc>
              <a:buNone/>
            </a:pPr>
            <a:r>
              <a:rPr lang="en-US" sz="1100" i="1" dirty="0">
                <a:solidFill>
                  <a:srgbClr val="5B6578"/>
                </a:solidFill>
                <a:latin typeface="Calibri" pitchFamily="34" charset="0"/>
                <a:ea typeface="Calibri" pitchFamily="34" charset="-122"/>
                <a:cs typeface="Calibri" pitchFamily="34" charset="-120"/>
              </a:rPr>
              <a:t>12 Oct 2026</a:t>
            </a:r>
            <a:endParaRPr lang="en-US" sz="1100" dirty="0"/>
          </a:p>
        </p:txBody>
      </p:sp>
      <p:sp>
        <p:nvSpPr>
          <p:cNvPr id="14" name="s15-12"/>
          <p:cNvSpPr/>
          <p:nvPr/>
        </p:nvSpPr>
        <p:spPr>
          <a:xfrm>
            <a:off x="5029200" y="1645920"/>
            <a:ext cx="2103120" cy="2697480"/>
          </a:xfrm>
          <a:prstGeom prst="roundRect">
            <a:avLst>
              <a:gd name="adj" fmla="val 5217"/>
            </a:avLst>
          </a:prstGeom>
          <a:solidFill>
            <a:srgbClr val="E1ECFB"/>
          </a:solidFill>
          <a:ln w="12700">
            <a:solidFill>
              <a:srgbClr val="E1ECFB"/>
            </a:solidFill>
            <a:prstDash val="solid"/>
          </a:ln>
        </p:spPr>
        <p:txBody>
          <a:bodyPr/>
          <a:lstStyle/>
          <a:p>
            <a:endParaRPr lang="en-US"/>
          </a:p>
        </p:txBody>
      </p:sp>
      <p:sp>
        <p:nvSpPr>
          <p:cNvPr id="15" name="s15-13"/>
          <p:cNvSpPr txBox="1"/>
          <p:nvPr/>
        </p:nvSpPr>
        <p:spPr>
          <a:xfrm>
            <a:off x="5138928" y="1783080"/>
            <a:ext cx="1883664" cy="822960"/>
          </a:xfrm>
          <a:prstGeom prst="rect">
            <a:avLst/>
          </a:prstGeom>
          <a:noFill/>
          <a:ln/>
        </p:spPr>
        <p:txBody>
          <a:bodyPr wrap="square" lIns="0" tIns="0" rIns="0" bIns="0" rtlCol="0" anchor="ctr"/>
          <a:lstStyle/>
          <a:p>
            <a:pPr marL="0" indent="0" algn="ctr">
              <a:lnSpc>
                <a:spcPct val="100000"/>
              </a:lnSpc>
              <a:buNone/>
            </a:pPr>
            <a:r>
              <a:rPr lang="en-US" sz="3600" b="1" dirty="0">
                <a:solidFill>
                  <a:srgbClr val="0F3D6E"/>
                </a:solidFill>
                <a:latin typeface="Calibri" pitchFamily="34" charset="0"/>
                <a:ea typeface="Calibri" pitchFamily="34" charset="-122"/>
                <a:cs typeface="Calibri" pitchFamily="34" charset="-120"/>
              </a:rPr>
              <a:t>66</a:t>
            </a:r>
            <a:endParaRPr lang="en-US" sz="3600" dirty="0"/>
          </a:p>
        </p:txBody>
      </p:sp>
      <p:sp>
        <p:nvSpPr>
          <p:cNvPr id="16" name="s15-14"/>
          <p:cNvSpPr txBox="1"/>
          <p:nvPr/>
        </p:nvSpPr>
        <p:spPr>
          <a:xfrm>
            <a:off x="5166360" y="2697480"/>
            <a:ext cx="1828800" cy="1097280"/>
          </a:xfrm>
          <a:prstGeom prst="rect">
            <a:avLst/>
          </a:prstGeom>
          <a:noFill/>
          <a:ln/>
        </p:spPr>
        <p:txBody>
          <a:bodyPr wrap="square" lIns="0" tIns="0" rIns="0" bIns="0" rtlCol="0" anchor="t"/>
          <a:lstStyle/>
          <a:p>
            <a:pPr marL="0" indent="0" algn="ctr">
              <a:lnSpc>
                <a:spcPct val="100000"/>
              </a:lnSpc>
              <a:buNone/>
            </a:pPr>
            <a:r>
              <a:rPr lang="en-US" sz="1400" dirty="0">
                <a:solidFill>
                  <a:srgbClr val="121212"/>
                </a:solidFill>
                <a:latin typeface="Calibri" pitchFamily="34" charset="0"/>
                <a:ea typeface="Calibri" pitchFamily="34" charset="-122"/>
                <a:cs typeface="Calibri" pitchFamily="34" charset="-120"/>
              </a:rPr>
              <a:t>data quality checks, 0 failed, on the Gold build</a:t>
            </a:r>
            <a:endParaRPr lang="en-US" sz="1400" dirty="0"/>
          </a:p>
        </p:txBody>
      </p:sp>
      <p:sp>
        <p:nvSpPr>
          <p:cNvPr id="17" name="s15-15"/>
          <p:cNvSpPr txBox="1"/>
          <p:nvPr/>
        </p:nvSpPr>
        <p:spPr>
          <a:xfrm>
            <a:off x="5166360" y="3840480"/>
            <a:ext cx="1828800" cy="365760"/>
          </a:xfrm>
          <a:prstGeom prst="rect">
            <a:avLst/>
          </a:prstGeom>
          <a:noFill/>
          <a:ln/>
        </p:spPr>
        <p:txBody>
          <a:bodyPr wrap="square" lIns="0" tIns="0" rIns="0" bIns="0" rtlCol="0" anchor="t"/>
          <a:lstStyle/>
          <a:p>
            <a:pPr marL="0" indent="0" algn="ctr">
              <a:lnSpc>
                <a:spcPct val="100000"/>
              </a:lnSpc>
              <a:buNone/>
            </a:pPr>
            <a:r>
              <a:rPr lang="en-US" sz="1100" i="1" dirty="0">
                <a:solidFill>
                  <a:srgbClr val="5B6578"/>
                </a:solidFill>
                <a:latin typeface="Calibri" pitchFamily="34" charset="0"/>
                <a:ea typeface="Calibri" pitchFamily="34" charset="-122"/>
                <a:cs typeface="Calibri" pitchFamily="34" charset="-120"/>
              </a:rPr>
              <a:t>scratch catalog, 13 Oct</a:t>
            </a:r>
            <a:endParaRPr lang="en-US" sz="1100" dirty="0"/>
          </a:p>
        </p:txBody>
      </p:sp>
      <p:sp>
        <p:nvSpPr>
          <p:cNvPr id="18" name="s15-16"/>
          <p:cNvSpPr/>
          <p:nvPr/>
        </p:nvSpPr>
        <p:spPr>
          <a:xfrm>
            <a:off x="7269480" y="1645920"/>
            <a:ext cx="2103120" cy="2697480"/>
          </a:xfrm>
          <a:prstGeom prst="roundRect">
            <a:avLst>
              <a:gd name="adj" fmla="val 5217"/>
            </a:avLst>
          </a:prstGeom>
          <a:solidFill>
            <a:srgbClr val="EEF2F7"/>
          </a:solidFill>
          <a:ln w="12700">
            <a:solidFill>
              <a:srgbClr val="EEF2F7"/>
            </a:solidFill>
            <a:prstDash val="solid"/>
          </a:ln>
        </p:spPr>
        <p:txBody>
          <a:bodyPr/>
          <a:lstStyle/>
          <a:p>
            <a:endParaRPr lang="en-US"/>
          </a:p>
        </p:txBody>
      </p:sp>
      <p:sp>
        <p:nvSpPr>
          <p:cNvPr id="19" name="s15-17"/>
          <p:cNvSpPr txBox="1"/>
          <p:nvPr/>
        </p:nvSpPr>
        <p:spPr>
          <a:xfrm>
            <a:off x="7379208" y="1783080"/>
            <a:ext cx="1883664" cy="822960"/>
          </a:xfrm>
          <a:prstGeom prst="rect">
            <a:avLst/>
          </a:prstGeom>
          <a:noFill/>
          <a:ln/>
        </p:spPr>
        <p:txBody>
          <a:bodyPr wrap="square" lIns="0" tIns="0" rIns="0" bIns="0" rtlCol="0" anchor="ctr"/>
          <a:lstStyle/>
          <a:p>
            <a:pPr marL="0" indent="0" algn="ctr">
              <a:lnSpc>
                <a:spcPct val="100000"/>
              </a:lnSpc>
              <a:buNone/>
            </a:pPr>
            <a:r>
              <a:rPr lang="en-US" sz="3000" b="1" dirty="0">
                <a:solidFill>
                  <a:srgbClr val="0F3D6E"/>
                </a:solidFill>
                <a:latin typeface="Calibri" pitchFamily="34" charset="0"/>
                <a:ea typeface="Calibri" pitchFamily="34" charset="-122"/>
                <a:cs typeface="Calibri" pitchFamily="34" charset="-120"/>
              </a:rPr>
              <a:t>654.73 s</a:t>
            </a:r>
            <a:endParaRPr lang="en-US" sz="3000" dirty="0"/>
          </a:p>
        </p:txBody>
      </p:sp>
      <p:sp>
        <p:nvSpPr>
          <p:cNvPr id="20" name="s15-18"/>
          <p:cNvSpPr txBox="1"/>
          <p:nvPr/>
        </p:nvSpPr>
        <p:spPr>
          <a:xfrm>
            <a:off x="7406640" y="2697480"/>
            <a:ext cx="1828800" cy="1097280"/>
          </a:xfrm>
          <a:prstGeom prst="rect">
            <a:avLst/>
          </a:prstGeom>
          <a:noFill/>
          <a:ln/>
        </p:spPr>
        <p:txBody>
          <a:bodyPr wrap="square" lIns="0" tIns="0" rIns="0" bIns="0" rtlCol="0" anchor="t"/>
          <a:lstStyle/>
          <a:p>
            <a:pPr marL="0" indent="0" algn="ctr">
              <a:lnSpc>
                <a:spcPct val="100000"/>
              </a:lnSpc>
              <a:buNone/>
            </a:pPr>
            <a:r>
              <a:rPr lang="en-US" sz="1400" dirty="0">
                <a:solidFill>
                  <a:srgbClr val="121212"/>
                </a:solidFill>
                <a:latin typeface="Calibri" pitchFamily="34" charset="0"/>
                <a:ea typeface="Calibri" pitchFamily="34" charset="-122"/>
                <a:cs typeface="Calibri" pitchFamily="34" charset="-120"/>
              </a:rPr>
              <a:t>for 1,000,000 simulated events through the whole pipeline</a:t>
            </a:r>
            <a:endParaRPr lang="en-US" sz="1400" dirty="0"/>
          </a:p>
        </p:txBody>
      </p:sp>
      <p:sp>
        <p:nvSpPr>
          <p:cNvPr id="21" name="s15-19"/>
          <p:cNvSpPr txBox="1"/>
          <p:nvPr/>
        </p:nvSpPr>
        <p:spPr>
          <a:xfrm>
            <a:off x="7406640" y="3840480"/>
            <a:ext cx="1828800" cy="365760"/>
          </a:xfrm>
          <a:prstGeom prst="rect">
            <a:avLst/>
          </a:prstGeom>
          <a:noFill/>
          <a:ln/>
        </p:spPr>
        <p:txBody>
          <a:bodyPr wrap="square" lIns="0" tIns="0" rIns="0" bIns="0" rtlCol="0" anchor="t"/>
          <a:lstStyle/>
          <a:p>
            <a:pPr marL="0" indent="0" algn="ctr">
              <a:lnSpc>
                <a:spcPct val="100000"/>
              </a:lnSpc>
              <a:buNone/>
            </a:pPr>
            <a:r>
              <a:rPr lang="en-US" sz="1100" i="1" dirty="0">
                <a:solidFill>
                  <a:srgbClr val="5B6578"/>
                </a:solidFill>
                <a:latin typeface="Calibri" pitchFamily="34" charset="0"/>
                <a:ea typeface="Calibri" pitchFamily="34" charset="-122"/>
                <a:cs typeface="Calibri" pitchFamily="34" charset="-120"/>
              </a:rPr>
              <a:t>one laptop, 12 Oct</a:t>
            </a:r>
            <a:endParaRPr lang="en-US" sz="1100" dirty="0"/>
          </a:p>
        </p:txBody>
      </p:sp>
      <p:sp>
        <p:nvSpPr>
          <p:cNvPr id="22" name="s15-20"/>
          <p:cNvSpPr/>
          <p:nvPr/>
        </p:nvSpPr>
        <p:spPr>
          <a:xfrm>
            <a:off x="9509760" y="1645920"/>
            <a:ext cx="2103120" cy="2697480"/>
          </a:xfrm>
          <a:prstGeom prst="roundRect">
            <a:avLst>
              <a:gd name="adj" fmla="val 5217"/>
            </a:avLst>
          </a:prstGeom>
          <a:solidFill>
            <a:srgbClr val="E1ECFB"/>
          </a:solidFill>
          <a:ln w="12700">
            <a:solidFill>
              <a:srgbClr val="E1ECFB"/>
            </a:solidFill>
            <a:prstDash val="solid"/>
          </a:ln>
        </p:spPr>
        <p:txBody>
          <a:bodyPr/>
          <a:lstStyle/>
          <a:p>
            <a:endParaRPr lang="en-US"/>
          </a:p>
        </p:txBody>
      </p:sp>
      <p:sp>
        <p:nvSpPr>
          <p:cNvPr id="23" name="s15-21"/>
          <p:cNvSpPr txBox="1"/>
          <p:nvPr/>
        </p:nvSpPr>
        <p:spPr>
          <a:xfrm>
            <a:off x="9619488" y="1783080"/>
            <a:ext cx="1883664" cy="822960"/>
          </a:xfrm>
          <a:prstGeom prst="rect">
            <a:avLst/>
          </a:prstGeom>
          <a:noFill/>
          <a:ln/>
        </p:spPr>
        <p:txBody>
          <a:bodyPr wrap="square" lIns="0" tIns="0" rIns="0" bIns="0" rtlCol="0" anchor="ctr"/>
          <a:lstStyle/>
          <a:p>
            <a:pPr marL="0" indent="0" algn="ctr">
              <a:lnSpc>
                <a:spcPct val="100000"/>
              </a:lnSpc>
              <a:buNone/>
            </a:pPr>
            <a:r>
              <a:rPr lang="en-US" sz="3600" b="1" dirty="0">
                <a:solidFill>
                  <a:srgbClr val="0F3D6E"/>
                </a:solidFill>
                <a:latin typeface="Calibri" pitchFamily="34" charset="0"/>
                <a:ea typeface="Calibri" pitchFamily="34" charset="-122"/>
                <a:cs typeface="Calibri" pitchFamily="34" charset="-120"/>
              </a:rPr>
              <a:t>2 of 2</a:t>
            </a:r>
            <a:endParaRPr lang="en-US" sz="3600" dirty="0"/>
          </a:p>
        </p:txBody>
      </p:sp>
      <p:sp>
        <p:nvSpPr>
          <p:cNvPr id="24" name="s15-22"/>
          <p:cNvSpPr txBox="1"/>
          <p:nvPr/>
        </p:nvSpPr>
        <p:spPr>
          <a:xfrm>
            <a:off x="9646920" y="2697480"/>
            <a:ext cx="1828800" cy="1097280"/>
          </a:xfrm>
          <a:prstGeom prst="rect">
            <a:avLst/>
          </a:prstGeom>
          <a:noFill/>
          <a:ln/>
        </p:spPr>
        <p:txBody>
          <a:bodyPr wrap="square" lIns="0" tIns="0" rIns="0" bIns="0" rtlCol="0" anchor="t"/>
          <a:lstStyle/>
          <a:p>
            <a:pPr marL="0" indent="0" algn="ctr">
              <a:lnSpc>
                <a:spcPct val="100000"/>
              </a:lnSpc>
              <a:buNone/>
            </a:pPr>
            <a:r>
              <a:rPr lang="en-US" sz="1400" dirty="0">
                <a:solidFill>
                  <a:srgbClr val="121212"/>
                </a:solidFill>
                <a:latin typeface="Calibri" pitchFamily="34" charset="0"/>
                <a:ea typeface="Calibri" pitchFamily="34" charset="-122"/>
                <a:cs typeface="Calibri" pitchFamily="34" charset="-120"/>
              </a:rPr>
              <a:t>kill and restart runs ended with NO DUPLICATES</a:t>
            </a:r>
            <a:endParaRPr lang="en-US" sz="1400" dirty="0"/>
          </a:p>
        </p:txBody>
      </p:sp>
      <p:sp>
        <p:nvSpPr>
          <p:cNvPr id="25" name="s15-23"/>
          <p:cNvSpPr txBox="1"/>
          <p:nvPr/>
        </p:nvSpPr>
        <p:spPr>
          <a:xfrm>
            <a:off x="9646920" y="3840480"/>
            <a:ext cx="1828800" cy="365760"/>
          </a:xfrm>
          <a:prstGeom prst="rect">
            <a:avLst/>
          </a:prstGeom>
          <a:noFill/>
          <a:ln/>
        </p:spPr>
        <p:txBody>
          <a:bodyPr wrap="square" lIns="0" tIns="0" rIns="0" bIns="0" rtlCol="0" anchor="t"/>
          <a:lstStyle/>
          <a:p>
            <a:pPr marL="0" indent="0" algn="ctr">
              <a:lnSpc>
                <a:spcPct val="100000"/>
              </a:lnSpc>
              <a:buNone/>
            </a:pPr>
            <a:r>
              <a:rPr lang="en-US" sz="1100" i="1" dirty="0">
                <a:solidFill>
                  <a:srgbClr val="5B6578"/>
                </a:solidFill>
                <a:latin typeface="Calibri" pitchFamily="34" charset="0"/>
                <a:ea typeface="Calibri" pitchFamily="34" charset="-122"/>
                <a:cs typeface="Calibri" pitchFamily="34" charset="-120"/>
              </a:rPr>
              <a:t>12 Oct 2026</a:t>
            </a:r>
            <a:endParaRPr lang="en-US" sz="1100" dirty="0"/>
          </a:p>
        </p:txBody>
      </p:sp>
      <p:sp>
        <p:nvSpPr>
          <p:cNvPr id="26" name="s15-24"/>
          <p:cNvSpPr/>
          <p:nvPr/>
        </p:nvSpPr>
        <p:spPr>
          <a:xfrm>
            <a:off x="548640" y="4572000"/>
            <a:ext cx="5440680" cy="1645920"/>
          </a:xfrm>
          <a:prstGeom prst="roundRect">
            <a:avLst>
              <a:gd name="adj" fmla="val 6667"/>
            </a:avLst>
          </a:prstGeom>
          <a:solidFill>
            <a:srgbClr val="FDF3D6"/>
          </a:solidFill>
          <a:ln w="12700">
            <a:solidFill>
              <a:srgbClr val="FDF3D6"/>
            </a:solidFill>
            <a:prstDash val="solid"/>
          </a:ln>
        </p:spPr>
        <p:txBody>
          <a:bodyPr/>
          <a:lstStyle/>
          <a:p>
            <a:endParaRPr lang="en-US"/>
          </a:p>
        </p:txBody>
      </p:sp>
      <p:sp>
        <p:nvSpPr>
          <p:cNvPr id="27" name="s15-25"/>
          <p:cNvSpPr txBox="1"/>
          <p:nvPr/>
        </p:nvSpPr>
        <p:spPr>
          <a:xfrm>
            <a:off x="713232" y="4703674"/>
            <a:ext cx="5111496" cy="1382573"/>
          </a:xfrm>
          <a:prstGeom prst="rect">
            <a:avLst/>
          </a:prstGeom>
          <a:noFill/>
          <a:ln/>
        </p:spPr>
        <p:txBody>
          <a:bodyPr wrap="square" lIns="0" tIns="0" rIns="0" bIns="0" rtlCol="0" anchor="t"/>
          <a:lstStyle/>
          <a:p>
            <a:pPr marL="0" indent="0" algn="l">
              <a:lnSpc>
                <a:spcPct val="100000"/>
              </a:lnSpc>
              <a:spcAft>
                <a:spcPts val="400"/>
              </a:spcAft>
              <a:buNone/>
            </a:pPr>
            <a:r>
              <a:rPr lang="en-US" sz="1600" b="1" dirty="0">
                <a:solidFill>
                  <a:srgbClr val="0F3D6E"/>
                </a:solidFill>
                <a:latin typeface="Calibri" pitchFamily="34" charset="0"/>
                <a:ea typeface="Calibri" pitchFamily="34" charset="-122"/>
                <a:cs typeface="Calibri" pitchFamily="34" charset="-120"/>
              </a:rPr>
              <a:t>How to read these numbers</a:t>
            </a:r>
            <a:endParaRPr lang="en-US" sz="1600" dirty="0"/>
          </a:p>
          <a:p>
            <a:pPr marL="0" indent="0" algn="l">
              <a:lnSpc>
                <a:spcPct val="100000"/>
              </a:lnSpc>
              <a:buNone/>
            </a:pPr>
            <a:r>
              <a:rPr lang="en-US" sz="1400" dirty="0">
                <a:solidFill>
                  <a:srgbClr val="121212"/>
                </a:solidFill>
                <a:latin typeface="Calibri" pitchFamily="34" charset="0"/>
                <a:ea typeface="Calibri" pitchFamily="34" charset="-122"/>
                <a:cs typeface="Calibri" pitchFamily="34" charset="-120"/>
              </a:rPr>
              <a:t>The benchmark measures one setup (Docker limited to about 8 GB, a Databricks Free Edition SQL warehouse). It is not a capacity claim.</a:t>
            </a:r>
            <a:endParaRPr lang="en-US" sz="1600" dirty="0"/>
          </a:p>
        </p:txBody>
      </p:sp>
      <p:sp>
        <p:nvSpPr>
          <p:cNvPr id="28" name="s15-26"/>
          <p:cNvSpPr/>
          <p:nvPr/>
        </p:nvSpPr>
        <p:spPr>
          <a:xfrm>
            <a:off x="6172200" y="4572000"/>
            <a:ext cx="5440680" cy="1645920"/>
          </a:xfrm>
          <a:prstGeom prst="roundRect">
            <a:avLst>
              <a:gd name="adj" fmla="val 6667"/>
            </a:avLst>
          </a:prstGeom>
          <a:solidFill>
            <a:srgbClr val="EEF2F7"/>
          </a:solidFill>
          <a:ln w="12700">
            <a:solidFill>
              <a:srgbClr val="EEF2F7"/>
            </a:solidFill>
            <a:prstDash val="solid"/>
          </a:ln>
        </p:spPr>
        <p:txBody>
          <a:bodyPr/>
          <a:lstStyle/>
          <a:p>
            <a:endParaRPr lang="en-US"/>
          </a:p>
        </p:txBody>
      </p:sp>
      <p:sp>
        <p:nvSpPr>
          <p:cNvPr id="29" name="s15-27"/>
          <p:cNvSpPr txBox="1"/>
          <p:nvPr/>
        </p:nvSpPr>
        <p:spPr>
          <a:xfrm>
            <a:off x="6336792" y="4703674"/>
            <a:ext cx="5111496" cy="1382573"/>
          </a:xfrm>
          <a:prstGeom prst="rect">
            <a:avLst/>
          </a:prstGeom>
          <a:noFill/>
          <a:ln/>
        </p:spPr>
        <p:txBody>
          <a:bodyPr wrap="square" lIns="0" tIns="0" rIns="0" bIns="0" rtlCol="0" anchor="t"/>
          <a:lstStyle/>
          <a:p>
            <a:pPr marL="0" indent="0" algn="l">
              <a:lnSpc>
                <a:spcPct val="100000"/>
              </a:lnSpc>
              <a:spcAft>
                <a:spcPts val="400"/>
              </a:spcAft>
              <a:buNone/>
            </a:pPr>
            <a:r>
              <a:rPr lang="en-US" sz="1600" b="1" dirty="0">
                <a:solidFill>
                  <a:srgbClr val="0F3D6E"/>
                </a:solidFill>
                <a:latin typeface="Calibri" pitchFamily="34" charset="0"/>
                <a:ea typeface="Calibri" pitchFamily="34" charset="-122"/>
                <a:cs typeface="Calibri" pitchFamily="34" charset="-120"/>
              </a:rPr>
              <a:t>Still open on 13 October</a:t>
            </a:r>
            <a:endParaRPr lang="en-US" sz="1600" dirty="0"/>
          </a:p>
          <a:p>
            <a:pPr marL="0" indent="0" algn="l">
              <a:lnSpc>
                <a:spcPct val="100000"/>
              </a:lnSpc>
              <a:buNone/>
            </a:pPr>
            <a:r>
              <a:rPr lang="en-US" sz="1400" dirty="0">
                <a:solidFill>
                  <a:srgbClr val="121212"/>
                </a:solidFill>
                <a:latin typeface="Calibri" pitchFamily="34" charset="0"/>
                <a:ea typeface="Calibri" pitchFamily="34" charset="-122"/>
                <a:cs typeface="Calibri" pitchFamily="34" charset="-120"/>
              </a:rPr>
              <a:t>One uninterrupted green run of the full smoke test with the Spark stage. The stages passed in two parts, and the three failures of the first run were fixed in the test scripts.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2F54"/>
        </a:solidFill>
        <a:effectLst/>
      </p:bgPr>
    </p:bg>
    <p:spTree>
      <p:nvGrpSpPr>
        <p:cNvPr id="1" name=""/>
        <p:cNvGrpSpPr/>
        <p:nvPr/>
      </p:nvGrpSpPr>
      <p:grpSpPr>
        <a:xfrm>
          <a:off x="0" y="0"/>
          <a:ext cx="0" cy="0"/>
          <a:chOff x="0" y="0"/>
          <a:chExt cx="0" cy="0"/>
        </a:xfrm>
      </p:grpSpPr>
      <p:sp>
        <p:nvSpPr>
          <p:cNvPr id="2" name="s16-0"/>
          <p:cNvSpPr txBox="1"/>
          <p:nvPr/>
        </p:nvSpPr>
        <p:spPr>
          <a:xfrm>
            <a:off x="548640" y="274320"/>
            <a:ext cx="8229600" cy="274320"/>
          </a:xfrm>
          <a:prstGeom prst="rect">
            <a:avLst/>
          </a:prstGeom>
          <a:noFill/>
          <a:ln/>
        </p:spPr>
        <p:txBody>
          <a:bodyPr wrap="square" lIns="0" tIns="0" rIns="0" bIns="0" rtlCol="0" anchor="t"/>
          <a:lstStyle/>
          <a:p>
            <a:pPr marL="0" indent="0" algn="l">
              <a:lnSpc>
                <a:spcPct val="100000"/>
              </a:lnSpc>
              <a:buNone/>
            </a:pPr>
            <a:r>
              <a:rPr lang="en-US" sz="1200" b="1" dirty="0">
                <a:solidFill>
                  <a:srgbClr val="A9CFFB"/>
                </a:solidFill>
                <a:latin typeface="Calibri" pitchFamily="34" charset="0"/>
                <a:ea typeface="Calibri" pitchFamily="34" charset="-122"/>
                <a:cs typeface="Calibri" pitchFamily="34" charset="-120"/>
              </a:rPr>
              <a:t>4  QUALITY AND CLOSE</a:t>
            </a:r>
            <a:endParaRPr lang="en-US" sz="1200" dirty="0"/>
          </a:p>
        </p:txBody>
      </p:sp>
      <p:sp>
        <p:nvSpPr>
          <p:cNvPr id="3" name="s16-1"/>
          <p:cNvSpPr txBox="1"/>
          <p:nvPr/>
        </p:nvSpPr>
        <p:spPr>
          <a:xfrm>
            <a:off x="548640" y="530352"/>
            <a:ext cx="11064240" cy="685800"/>
          </a:xfrm>
          <a:prstGeom prst="rect">
            <a:avLst/>
          </a:prstGeom>
          <a:noFill/>
          <a:ln/>
        </p:spPr>
        <p:txBody>
          <a:bodyPr wrap="square" lIns="0" tIns="0" rIns="0" bIns="0" rtlCol="0" anchor="ctr"/>
          <a:lstStyle/>
          <a:p>
            <a:pPr marL="0" indent="0" algn="l">
              <a:lnSpc>
                <a:spcPct val="100000"/>
              </a:lnSpc>
              <a:buNone/>
            </a:pPr>
            <a:r>
              <a:rPr lang="en-US" sz="3000" b="1" dirty="0">
                <a:solidFill>
                  <a:srgbClr val="FFFFFF"/>
                </a:solidFill>
                <a:latin typeface="Calibri" pitchFamily="34" charset="0"/>
                <a:ea typeface="Calibri" pitchFamily="34" charset="-122"/>
                <a:cs typeface="Calibri" pitchFamily="34" charset="-120"/>
              </a:rPr>
              <a:t>What FunnelStream shows, and what comes next</a:t>
            </a:r>
            <a:endParaRPr lang="en-US" sz="3000" dirty="0"/>
          </a:p>
        </p:txBody>
      </p:sp>
      <p:sp>
        <p:nvSpPr>
          <p:cNvPr id="4" name="s16-2"/>
          <p:cNvSpPr/>
          <p:nvPr/>
        </p:nvSpPr>
        <p:spPr>
          <a:xfrm>
            <a:off x="548640" y="1600200"/>
            <a:ext cx="3566160" cy="3749040"/>
          </a:xfrm>
          <a:prstGeom prst="roundRect">
            <a:avLst>
              <a:gd name="adj" fmla="val 3077"/>
            </a:avLst>
          </a:prstGeom>
          <a:solidFill>
            <a:srgbClr val="123F6E"/>
          </a:solidFill>
          <a:ln w="12700">
            <a:solidFill>
              <a:srgbClr val="123F6E"/>
            </a:solidFill>
            <a:prstDash val="solid"/>
          </a:ln>
        </p:spPr>
        <p:txBody>
          <a:bodyPr/>
          <a:lstStyle/>
          <a:p>
            <a:endParaRPr lang="en-US"/>
          </a:p>
        </p:txBody>
      </p:sp>
      <p:sp>
        <p:nvSpPr>
          <p:cNvPr id="5" name="s16-3"/>
          <p:cNvSpPr txBox="1"/>
          <p:nvPr/>
        </p:nvSpPr>
        <p:spPr>
          <a:xfrm>
            <a:off x="777240" y="1783080"/>
            <a:ext cx="3108960" cy="3474720"/>
          </a:xfrm>
          <a:prstGeom prst="rect">
            <a:avLst/>
          </a:prstGeom>
          <a:noFill/>
          <a:ln/>
        </p:spPr>
        <p:txBody>
          <a:bodyPr wrap="square" lIns="0" tIns="0" rIns="0" bIns="0" rtlCol="0" anchor="t"/>
          <a:lstStyle/>
          <a:p>
            <a:pPr marL="0" indent="0" algn="l">
              <a:lnSpc>
                <a:spcPct val="100000"/>
              </a:lnSpc>
              <a:spcAft>
                <a:spcPts val="800"/>
              </a:spcAft>
              <a:buNone/>
            </a:pPr>
            <a:r>
              <a:rPr lang="en-US" sz="1900" b="1" dirty="0">
                <a:solidFill>
                  <a:srgbClr val="FFFFFF"/>
                </a:solidFill>
                <a:latin typeface="Calibri" pitchFamily="34" charset="0"/>
                <a:ea typeface="Calibri" pitchFamily="34" charset="-122"/>
                <a:cs typeface="Calibri" pitchFamily="34" charset="-120"/>
              </a:rPr>
              <a:t>Shown</a:t>
            </a:r>
            <a:endParaRPr lang="en-US" sz="1900" dirty="0"/>
          </a:p>
          <a:p>
            <a:pPr marL="203200" indent="-203200" algn="l">
              <a:lnSpc>
                <a:spcPct val="100000"/>
              </a:lnSpc>
              <a:spcAft>
                <a:spcPts val="700"/>
              </a:spcAft>
              <a:buSzPct val="100000"/>
              <a:buChar char="•"/>
            </a:pPr>
            <a:r>
              <a:rPr lang="en-US" sz="1500" dirty="0">
                <a:solidFill>
                  <a:srgbClr val="DCE6F2"/>
                </a:solidFill>
                <a:latin typeface="Calibri" pitchFamily="34" charset="0"/>
                <a:ea typeface="Calibri" pitchFamily="34" charset="-122"/>
                <a:cs typeface="Calibri" pitchFamily="34" charset="-120"/>
              </a:rPr>
              <a:t>A streaming pipeline that survives a crash without duplicates</a:t>
            </a:r>
            <a:endParaRPr lang="en-US" sz="1900" dirty="0"/>
          </a:p>
          <a:p>
            <a:pPr marL="203200" indent="-203200" algn="l">
              <a:lnSpc>
                <a:spcPct val="100000"/>
              </a:lnSpc>
              <a:spcAft>
                <a:spcPts val="700"/>
              </a:spcAft>
              <a:buSzPct val="100000"/>
              <a:buChar char="•"/>
            </a:pPr>
            <a:r>
              <a:rPr lang="en-US" sz="1500" dirty="0">
                <a:solidFill>
                  <a:srgbClr val="DCE6F2"/>
                </a:solidFill>
                <a:latin typeface="Calibri" pitchFamily="34" charset="0"/>
                <a:ea typeface="Calibri" pitchFamily="34" charset="-122"/>
                <a:cs typeface="Calibri" pitchFamily="34" charset="-120"/>
              </a:rPr>
              <a:t>Bad data quarantined with a reason, counted against the injected noise</a:t>
            </a:r>
            <a:endParaRPr lang="en-US" sz="1900" dirty="0"/>
          </a:p>
          <a:p>
            <a:pPr marL="203200" indent="-203200" algn="l">
              <a:lnSpc>
                <a:spcPct val="100000"/>
              </a:lnSpc>
              <a:spcAft>
                <a:spcPts val="700"/>
              </a:spcAft>
              <a:buSzPct val="100000"/>
              <a:buChar char="•"/>
            </a:pPr>
            <a:r>
              <a:rPr lang="en-US" sz="1500" dirty="0">
                <a:solidFill>
                  <a:srgbClr val="DCE6F2"/>
                </a:solidFill>
                <a:latin typeface="Calibri" pitchFamily="34" charset="0"/>
                <a:ea typeface="Calibri" pitchFamily="34" charset="-122"/>
                <a:cs typeface="Calibri" pitchFamily="34" charset="-120"/>
              </a:rPr>
              <a:t>Two audiences served from the same events</a:t>
            </a:r>
            <a:endParaRPr lang="en-US" sz="1900" dirty="0"/>
          </a:p>
          <a:p>
            <a:pPr marL="203200" indent="-203200" algn="l">
              <a:lnSpc>
                <a:spcPct val="100000"/>
              </a:lnSpc>
              <a:spcAft>
                <a:spcPts val="700"/>
              </a:spcAft>
              <a:buSzPct val="100000"/>
              <a:buChar char="•"/>
            </a:pPr>
            <a:r>
              <a:rPr lang="en-US" sz="1500" dirty="0">
                <a:solidFill>
                  <a:srgbClr val="DCE6F2"/>
                </a:solidFill>
                <a:latin typeface="Calibri" pitchFamily="34" charset="0"/>
                <a:ea typeface="Calibri" pitchFamily="34" charset="-122"/>
                <a:cs typeface="Calibri" pitchFamily="34" charset="-120"/>
              </a:rPr>
              <a:t>The bridge: exposed ad spend</a:t>
            </a:r>
            <a:endParaRPr lang="en-US" sz="1900" dirty="0"/>
          </a:p>
        </p:txBody>
      </p:sp>
      <p:sp>
        <p:nvSpPr>
          <p:cNvPr id="6" name="s16-4"/>
          <p:cNvSpPr/>
          <p:nvPr/>
        </p:nvSpPr>
        <p:spPr>
          <a:xfrm>
            <a:off x="4297680" y="1600200"/>
            <a:ext cx="3566160" cy="3749040"/>
          </a:xfrm>
          <a:prstGeom prst="roundRect">
            <a:avLst>
              <a:gd name="adj" fmla="val 3077"/>
            </a:avLst>
          </a:prstGeom>
          <a:solidFill>
            <a:srgbClr val="123F6E"/>
          </a:solidFill>
          <a:ln w="12700">
            <a:solidFill>
              <a:srgbClr val="123F6E"/>
            </a:solidFill>
            <a:prstDash val="solid"/>
          </a:ln>
        </p:spPr>
        <p:txBody>
          <a:bodyPr/>
          <a:lstStyle/>
          <a:p>
            <a:endParaRPr lang="en-US"/>
          </a:p>
        </p:txBody>
      </p:sp>
      <p:sp>
        <p:nvSpPr>
          <p:cNvPr id="7" name="s16-5"/>
          <p:cNvSpPr txBox="1"/>
          <p:nvPr/>
        </p:nvSpPr>
        <p:spPr>
          <a:xfrm>
            <a:off x="4526280" y="1783080"/>
            <a:ext cx="3108960" cy="3474720"/>
          </a:xfrm>
          <a:prstGeom prst="rect">
            <a:avLst/>
          </a:prstGeom>
          <a:noFill/>
          <a:ln/>
        </p:spPr>
        <p:txBody>
          <a:bodyPr wrap="square" lIns="0" tIns="0" rIns="0" bIns="0" rtlCol="0" anchor="t"/>
          <a:lstStyle/>
          <a:p>
            <a:pPr marL="0" indent="0" algn="l">
              <a:lnSpc>
                <a:spcPct val="100000"/>
              </a:lnSpc>
              <a:spcAft>
                <a:spcPts val="800"/>
              </a:spcAft>
              <a:buNone/>
            </a:pPr>
            <a:r>
              <a:rPr lang="en-US" sz="1900" b="1" dirty="0">
                <a:solidFill>
                  <a:srgbClr val="FFFFFF"/>
                </a:solidFill>
                <a:latin typeface="Calibri" pitchFamily="34" charset="0"/>
                <a:ea typeface="Calibri" pitchFamily="34" charset="-122"/>
                <a:cs typeface="Calibri" pitchFamily="34" charset="-120"/>
              </a:rPr>
              <a:t>Honest limits</a:t>
            </a:r>
            <a:endParaRPr lang="en-US" sz="1900" dirty="0"/>
          </a:p>
          <a:p>
            <a:pPr marL="203200" indent="-203200" algn="l">
              <a:lnSpc>
                <a:spcPct val="100000"/>
              </a:lnSpc>
              <a:spcAft>
                <a:spcPts val="700"/>
              </a:spcAft>
              <a:buSzPct val="100000"/>
              <a:buChar char="•"/>
            </a:pPr>
            <a:r>
              <a:rPr lang="en-US" sz="1500" dirty="0">
                <a:solidFill>
                  <a:srgbClr val="DCE6F2"/>
                </a:solidFill>
                <a:latin typeface="Calibri" pitchFamily="34" charset="0"/>
                <a:ea typeface="Calibri" pitchFamily="34" charset="-122"/>
                <a:cs typeface="Calibri" pitchFamily="34" charset="-120"/>
              </a:rPr>
              <a:t>All data is simulated</a:t>
            </a:r>
            <a:endParaRPr lang="en-US" sz="1900" dirty="0"/>
          </a:p>
          <a:p>
            <a:pPr marL="203200" indent="-203200" algn="l">
              <a:lnSpc>
                <a:spcPct val="100000"/>
              </a:lnSpc>
              <a:spcAft>
                <a:spcPts val="700"/>
              </a:spcAft>
              <a:buSzPct val="100000"/>
              <a:buChar char="•"/>
            </a:pPr>
            <a:r>
              <a:rPr lang="en-US" sz="1500" dirty="0">
                <a:solidFill>
                  <a:srgbClr val="DCE6F2"/>
                </a:solidFill>
                <a:latin typeface="Calibri" pitchFamily="34" charset="0"/>
                <a:ea typeface="Calibri" pitchFamily="34" charset="-122"/>
                <a:cs typeface="Calibri" pitchFamily="34" charset="-120"/>
              </a:rPr>
              <a:t>Exposed spend is an estimate</a:t>
            </a:r>
            <a:endParaRPr lang="en-US" sz="1900" dirty="0"/>
          </a:p>
          <a:p>
            <a:pPr marL="203200" indent="-203200" algn="l">
              <a:lnSpc>
                <a:spcPct val="100000"/>
              </a:lnSpc>
              <a:spcAft>
                <a:spcPts val="700"/>
              </a:spcAft>
              <a:buSzPct val="100000"/>
              <a:buChar char="•"/>
            </a:pPr>
            <a:r>
              <a:rPr lang="en-US" sz="1500" dirty="0">
                <a:solidFill>
                  <a:srgbClr val="DCE6F2"/>
                </a:solidFill>
                <a:latin typeface="Calibri" pitchFamily="34" charset="0"/>
                <a:ea typeface="Calibri" pitchFamily="34" charset="-122"/>
                <a:cs typeface="Calibri" pitchFamily="34" charset="-120"/>
              </a:rPr>
              <a:t>Stock is not put back on cancel or return</a:t>
            </a:r>
            <a:endParaRPr lang="en-US" sz="1900" dirty="0"/>
          </a:p>
          <a:p>
            <a:pPr marL="203200" indent="-203200" algn="l">
              <a:lnSpc>
                <a:spcPct val="100000"/>
              </a:lnSpc>
              <a:spcAft>
                <a:spcPts val="700"/>
              </a:spcAft>
              <a:buSzPct val="100000"/>
              <a:buChar char="•"/>
            </a:pPr>
            <a:r>
              <a:rPr lang="en-US" sz="1500" dirty="0">
                <a:solidFill>
                  <a:srgbClr val="DCE6F2"/>
                </a:solidFill>
                <a:latin typeface="Calibri" pitchFamily="34" charset="0"/>
                <a:ea typeface="Calibri" pitchFamily="34" charset="-122"/>
                <a:cs typeface="Calibri" pitchFamily="34" charset="-120"/>
              </a:rPr>
              <a:t>Measured on one setup: one laptop, Databricks Free Edition</a:t>
            </a:r>
            <a:endParaRPr lang="en-US" sz="1900" dirty="0"/>
          </a:p>
        </p:txBody>
      </p:sp>
      <p:sp>
        <p:nvSpPr>
          <p:cNvPr id="8" name="s16-6"/>
          <p:cNvSpPr/>
          <p:nvPr/>
        </p:nvSpPr>
        <p:spPr>
          <a:xfrm>
            <a:off x="8046720" y="1600200"/>
            <a:ext cx="3566160" cy="3749040"/>
          </a:xfrm>
          <a:prstGeom prst="roundRect">
            <a:avLst>
              <a:gd name="adj" fmla="val 3077"/>
            </a:avLst>
          </a:prstGeom>
          <a:solidFill>
            <a:srgbClr val="123F6E"/>
          </a:solidFill>
          <a:ln w="12700">
            <a:solidFill>
              <a:srgbClr val="123F6E"/>
            </a:solidFill>
            <a:prstDash val="solid"/>
          </a:ln>
        </p:spPr>
        <p:txBody>
          <a:bodyPr/>
          <a:lstStyle/>
          <a:p>
            <a:endParaRPr lang="en-US"/>
          </a:p>
        </p:txBody>
      </p:sp>
      <p:sp>
        <p:nvSpPr>
          <p:cNvPr id="9" name="s16-7"/>
          <p:cNvSpPr txBox="1"/>
          <p:nvPr/>
        </p:nvSpPr>
        <p:spPr>
          <a:xfrm>
            <a:off x="8275320" y="1783080"/>
            <a:ext cx="3108960" cy="3474720"/>
          </a:xfrm>
          <a:prstGeom prst="rect">
            <a:avLst/>
          </a:prstGeom>
          <a:noFill/>
          <a:ln/>
        </p:spPr>
        <p:txBody>
          <a:bodyPr wrap="square" lIns="0" tIns="0" rIns="0" bIns="0" rtlCol="0" anchor="t"/>
          <a:lstStyle/>
          <a:p>
            <a:pPr marL="0" indent="0" algn="l">
              <a:lnSpc>
                <a:spcPct val="100000"/>
              </a:lnSpc>
              <a:spcAft>
                <a:spcPts val="800"/>
              </a:spcAft>
              <a:buNone/>
            </a:pPr>
            <a:r>
              <a:rPr lang="en-US" sz="1900" b="1" dirty="0">
                <a:solidFill>
                  <a:srgbClr val="FFFFFF"/>
                </a:solidFill>
                <a:latin typeface="Calibri" pitchFamily="34" charset="0"/>
                <a:ea typeface="Calibri" pitchFamily="34" charset="-122"/>
                <a:cs typeface="Calibri" pitchFamily="34" charset="-120"/>
              </a:rPr>
              <a:t>Next</a:t>
            </a:r>
            <a:endParaRPr lang="en-US" sz="1900" dirty="0"/>
          </a:p>
          <a:p>
            <a:pPr marL="203200" indent="-203200" algn="l">
              <a:lnSpc>
                <a:spcPct val="100000"/>
              </a:lnSpc>
              <a:spcAft>
                <a:spcPts val="700"/>
              </a:spcAft>
              <a:buSzPct val="100000"/>
              <a:buChar char="•"/>
            </a:pPr>
            <a:r>
              <a:rPr lang="en-US" sz="1500" dirty="0">
                <a:solidFill>
                  <a:srgbClr val="DCE6F2"/>
                </a:solidFill>
                <a:latin typeface="Calibri" pitchFamily="34" charset="0"/>
                <a:ea typeface="Calibri" pitchFamily="34" charset="-122"/>
                <a:cs typeface="Calibri" pitchFamily="34" charset="-120"/>
              </a:rPr>
              <a:t>Replay-safe stock intervals from Silver</a:t>
            </a:r>
            <a:endParaRPr lang="en-US" sz="1900" dirty="0"/>
          </a:p>
          <a:p>
            <a:pPr marL="203200" indent="-203200" algn="l">
              <a:lnSpc>
                <a:spcPct val="100000"/>
              </a:lnSpc>
              <a:spcAft>
                <a:spcPts val="700"/>
              </a:spcAft>
              <a:buSzPct val="100000"/>
              <a:buChar char="•"/>
            </a:pPr>
            <a:r>
              <a:rPr lang="en-US" sz="1500" dirty="0">
                <a:solidFill>
                  <a:srgbClr val="DCE6F2"/>
                </a:solidFill>
                <a:latin typeface="Calibri" pitchFamily="34" charset="0"/>
                <a:ea typeface="Calibri" pitchFamily="34" charset="-122"/>
                <a:cs typeface="Calibri" pitchFamily="34" charset="-120"/>
              </a:rPr>
              <a:t>Stock reversal on cancel and return</a:t>
            </a:r>
            <a:endParaRPr lang="en-US" sz="1900" dirty="0"/>
          </a:p>
          <a:p>
            <a:pPr marL="203200" indent="-203200" algn="l">
              <a:lnSpc>
                <a:spcPct val="100000"/>
              </a:lnSpc>
              <a:spcAft>
                <a:spcPts val="700"/>
              </a:spcAft>
              <a:buSzPct val="100000"/>
              <a:buChar char="•"/>
            </a:pPr>
            <a:r>
              <a:rPr lang="en-US" sz="1500" dirty="0">
                <a:solidFill>
                  <a:srgbClr val="DCE6F2"/>
                </a:solidFill>
                <a:latin typeface="Calibri" pitchFamily="34" charset="0"/>
                <a:ea typeface="Calibri" pitchFamily="34" charset="-122"/>
                <a:cs typeface="Calibri" pitchFamily="34" charset="-120"/>
              </a:rPr>
              <a:t>Great Expectations or dbt on the SQL checks</a:t>
            </a:r>
            <a:endParaRPr lang="en-US" sz="1900" dirty="0"/>
          </a:p>
          <a:p>
            <a:pPr marL="203200" indent="-203200" algn="l">
              <a:lnSpc>
                <a:spcPct val="100000"/>
              </a:lnSpc>
              <a:spcAft>
                <a:spcPts val="700"/>
              </a:spcAft>
              <a:buSzPct val="100000"/>
              <a:buChar char="•"/>
            </a:pPr>
            <a:r>
              <a:rPr lang="en-US" sz="1500" dirty="0">
                <a:solidFill>
                  <a:srgbClr val="DCE6F2"/>
                </a:solidFill>
                <a:latin typeface="Calibri" pitchFamily="34" charset="0"/>
                <a:ea typeface="Calibri" pitchFamily="34" charset="-122"/>
                <a:cs typeface="Calibri" pitchFamily="34" charset="-120"/>
              </a:rPr>
              <a:t>Delivery zones and a Store dimension in Gold</a:t>
            </a:r>
            <a:endParaRPr lang="en-US" sz="1900" dirty="0"/>
          </a:p>
        </p:txBody>
      </p:sp>
      <p:sp>
        <p:nvSpPr>
          <p:cNvPr id="10" name="s16-8"/>
          <p:cNvSpPr txBox="1"/>
          <p:nvPr/>
        </p:nvSpPr>
        <p:spPr>
          <a:xfrm>
            <a:off x="548640" y="5577840"/>
            <a:ext cx="11064240" cy="731520"/>
          </a:xfrm>
          <a:prstGeom prst="rect">
            <a:avLst/>
          </a:prstGeom>
          <a:noFill/>
          <a:ln/>
        </p:spPr>
        <p:txBody>
          <a:bodyPr wrap="square" lIns="0" tIns="0" rIns="0" bIns="0" rtlCol="0" anchor="ctr"/>
          <a:lstStyle/>
          <a:p>
            <a:pPr marL="0" indent="0" algn="ctr">
              <a:lnSpc>
                <a:spcPct val="100000"/>
              </a:lnSpc>
              <a:buNone/>
            </a:pPr>
            <a:r>
              <a:rPr lang="en-US" sz="3200" b="1" dirty="0">
                <a:solidFill>
                  <a:srgbClr val="FFFFFF"/>
                </a:solidFill>
                <a:latin typeface="Calibri" pitchFamily="34" charset="0"/>
                <a:ea typeface="Calibri" pitchFamily="34" charset="-122"/>
                <a:cs typeface="Calibri" pitchFamily="34" charset="-120"/>
              </a:rPr>
              <a:t>Thank you. Questions?</a:t>
            </a:r>
            <a:endParaRPr lang="en-US" sz="3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17-0"/>
          <p:cNvSpPr txBox="1"/>
          <p:nvPr/>
        </p:nvSpPr>
        <p:spPr>
          <a:xfrm>
            <a:off x="548640" y="274320"/>
            <a:ext cx="8229600" cy="274320"/>
          </a:xfrm>
          <a:prstGeom prst="rect">
            <a:avLst/>
          </a:prstGeom>
          <a:noFill/>
          <a:ln/>
        </p:spPr>
        <p:txBody>
          <a:bodyPr wrap="square" lIns="0" tIns="0" rIns="0" bIns="0" rtlCol="0" anchor="t"/>
          <a:lstStyle/>
          <a:p>
            <a:pPr marL="0" indent="0" algn="l">
              <a:lnSpc>
                <a:spcPct val="100000"/>
              </a:lnSpc>
              <a:buNone/>
            </a:pPr>
            <a:r>
              <a:rPr lang="en-US" sz="1200" b="1" dirty="0">
                <a:solidFill>
                  <a:srgbClr val="5B6578"/>
                </a:solidFill>
                <a:latin typeface="Calibri" pitchFamily="34" charset="0"/>
                <a:ea typeface="Calibri" pitchFamily="34" charset="-122"/>
                <a:cs typeface="Calibri" pitchFamily="34" charset="-120"/>
              </a:rPr>
              <a:t>BACKUP</a:t>
            </a:r>
            <a:endParaRPr lang="en-US" sz="1200" dirty="0"/>
          </a:p>
        </p:txBody>
      </p:sp>
      <p:sp>
        <p:nvSpPr>
          <p:cNvPr id="3" name="s17-1"/>
          <p:cNvSpPr txBox="1"/>
          <p:nvPr/>
        </p:nvSpPr>
        <p:spPr>
          <a:xfrm>
            <a:off x="548640" y="530352"/>
            <a:ext cx="11064240" cy="685800"/>
          </a:xfrm>
          <a:prstGeom prst="rect">
            <a:avLst/>
          </a:prstGeom>
          <a:noFill/>
          <a:ln/>
        </p:spPr>
        <p:txBody>
          <a:bodyPr wrap="square" lIns="0" tIns="0" rIns="0" bIns="0" rtlCol="0" anchor="ctr"/>
          <a:lstStyle/>
          <a:p>
            <a:pPr marL="0" indent="0" algn="l">
              <a:lnSpc>
                <a:spcPct val="100000"/>
              </a:lnSpc>
              <a:buNone/>
            </a:pPr>
            <a:r>
              <a:rPr lang="en-US" sz="3000" b="1" dirty="0">
                <a:solidFill>
                  <a:srgbClr val="0F3D6E"/>
                </a:solidFill>
                <a:latin typeface="Calibri" pitchFamily="34" charset="0"/>
                <a:ea typeface="Calibri" pitchFamily="34" charset="-122"/>
                <a:cs typeface="Calibri" pitchFamily="34" charset="-120"/>
              </a:rPr>
              <a:t>Power BI: Executive page</a:t>
            </a:r>
            <a:endParaRPr lang="en-US" sz="3000" dirty="0"/>
          </a:p>
        </p:txBody>
      </p:sp>
      <p:sp>
        <p:nvSpPr>
          <p:cNvPr id="4" name="s17-2"/>
          <p:cNvSpPr txBox="1"/>
          <p:nvPr/>
        </p:nvSpPr>
        <p:spPr>
          <a:xfrm>
            <a:off x="548640" y="6437376"/>
            <a:ext cx="5486400" cy="274320"/>
          </a:xfrm>
          <a:prstGeom prst="rect">
            <a:avLst/>
          </a:prstGeom>
          <a:noFill/>
          <a:ln/>
        </p:spPr>
        <p:txBody>
          <a:bodyPr wrap="square" lIns="0" tIns="0" rIns="0" bIns="0" rtlCol="0" anchor="t"/>
          <a:lstStyle/>
          <a:p>
            <a:pPr marL="0" indent="0" algn="l">
              <a:lnSpc>
                <a:spcPct val="100000"/>
              </a:lnSpc>
              <a:buNone/>
            </a:pPr>
            <a:r>
              <a:rPr lang="en-US" sz="1000" dirty="0">
                <a:solidFill>
                  <a:srgbClr val="5B6578"/>
                </a:solidFill>
                <a:latin typeface="Calibri" pitchFamily="34" charset="0"/>
                <a:ea typeface="Calibri" pitchFamily="34" charset="-122"/>
                <a:cs typeface="Calibri" pitchFamily="34" charset="-120"/>
              </a:rPr>
              <a:t>FunnelStream</a:t>
            </a:r>
            <a:endParaRPr lang="en-US" sz="1000" dirty="0"/>
          </a:p>
        </p:txBody>
      </p:sp>
      <p:sp>
        <p:nvSpPr>
          <p:cNvPr id="5" name="s17-3"/>
          <p:cNvSpPr txBox="1"/>
          <p:nvPr/>
        </p:nvSpPr>
        <p:spPr>
          <a:xfrm>
            <a:off x="10881360" y="6437376"/>
            <a:ext cx="758952" cy="274320"/>
          </a:xfrm>
          <a:prstGeom prst="rect">
            <a:avLst/>
          </a:prstGeom>
          <a:noFill/>
          <a:ln/>
        </p:spPr>
        <p:txBody>
          <a:bodyPr wrap="square" lIns="0" tIns="0" rIns="0" bIns="0" rtlCol="0" anchor="t"/>
          <a:lstStyle/>
          <a:p>
            <a:pPr marL="0" indent="0" algn="r">
              <a:lnSpc>
                <a:spcPct val="100000"/>
              </a:lnSpc>
              <a:buNone/>
            </a:pPr>
            <a:r>
              <a:rPr lang="en-US" sz="1000" dirty="0">
                <a:solidFill>
                  <a:srgbClr val="5B6578"/>
                </a:solidFill>
                <a:latin typeface="Calibri" pitchFamily="34" charset="0"/>
                <a:ea typeface="Calibri" pitchFamily="34" charset="-122"/>
                <a:cs typeface="Calibri" pitchFamily="34" charset="-120"/>
              </a:rPr>
              <a:t>17</a:t>
            </a:r>
            <a:endParaRPr lang="en-US" sz="1000" dirty="0"/>
          </a:p>
        </p:txBody>
      </p:sp>
      <p:sp>
        <p:nvSpPr>
          <p:cNvPr id="6" name="Shape 4"/>
          <p:cNvSpPr/>
          <p:nvPr/>
        </p:nvSpPr>
        <p:spPr>
          <a:xfrm>
            <a:off x="512064" y="1502405"/>
            <a:ext cx="7571232" cy="4401831"/>
          </a:xfrm>
          <a:prstGeom prst="rect">
            <a:avLst/>
          </a:prstGeom>
          <a:solidFill>
            <a:srgbClr val="FFFFFF"/>
          </a:solidFill>
          <a:ln w="12700">
            <a:solidFill>
              <a:srgbClr val="C6D0DE"/>
            </a:solidFill>
            <a:prstDash val="solid"/>
          </a:ln>
          <a:effectLst>
            <a:outerShdw blurRad="76200" dist="25400" dir="5400000" algn="bl" rotWithShape="0">
              <a:srgbClr val="000000">
                <a:alpha val="18000"/>
              </a:srgbClr>
            </a:outerShdw>
          </a:effectLst>
        </p:spPr>
        <p:txBody>
          <a:bodyPr/>
          <a:lstStyle/>
          <a:p>
            <a:endParaRPr lang="en-US"/>
          </a:p>
        </p:txBody>
      </p:sp>
      <p:pic>
        <p:nvPicPr>
          <p:cNvPr id="7" name="Image 0" descr="pbi executive screenshot"/>
          <p:cNvPicPr>
            <a:picLocks noChangeAspect="1"/>
          </p:cNvPicPr>
          <p:nvPr/>
        </p:nvPicPr>
        <p:blipFill>
          <a:blip r:embed="rId3"/>
          <a:stretch>
            <a:fillRect/>
          </a:stretch>
        </p:blipFill>
        <p:spPr>
          <a:xfrm>
            <a:off x="548640" y="1538981"/>
            <a:ext cx="7498080" cy="4328679"/>
          </a:xfrm>
          <a:prstGeom prst="rect">
            <a:avLst/>
          </a:prstGeom>
        </p:spPr>
      </p:pic>
      <p:sp>
        <p:nvSpPr>
          <p:cNvPr id="8" name="s17-5"/>
          <p:cNvSpPr txBox="1"/>
          <p:nvPr/>
        </p:nvSpPr>
        <p:spPr>
          <a:xfrm>
            <a:off x="8366760" y="1371600"/>
            <a:ext cx="3276295" cy="4754880"/>
          </a:xfrm>
          <a:prstGeom prst="rect">
            <a:avLst/>
          </a:prstGeom>
          <a:noFill/>
          <a:ln/>
        </p:spPr>
        <p:txBody>
          <a:bodyPr wrap="square" lIns="0" tIns="0" rIns="0" bIns="0" rtlCol="0" anchor="t"/>
          <a:lstStyle/>
          <a:p>
            <a:pPr marL="0" indent="0" algn="l">
              <a:lnSpc>
                <a:spcPct val="100000"/>
              </a:lnSpc>
              <a:spcAft>
                <a:spcPts val="800"/>
              </a:spcAft>
              <a:buNone/>
            </a:pPr>
            <a:r>
              <a:rPr lang="en-US" sz="1800" b="1" dirty="0">
                <a:solidFill>
                  <a:srgbClr val="0F3D6E"/>
                </a:solidFill>
                <a:latin typeface="Calibri" pitchFamily="34" charset="0"/>
                <a:ea typeface="Calibri" pitchFamily="34" charset="-122"/>
                <a:cs typeface="Calibri" pitchFamily="34" charset="-120"/>
              </a:rPr>
              <a:t>What it shows</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Revenue placed 2,410,979, delivered 1,914,103: </a:t>
            </a:r>
            <a:r>
              <a:rPr lang="en-US" sz="1500" dirty="0">
                <a:solidFill>
                  <a:srgbClr val="121212"/>
                </a:solidFill>
                <a:latin typeface="Calibri" pitchFamily="34" charset="0"/>
                <a:ea typeface="Calibri" pitchFamily="34" charset="-122"/>
                <a:cs typeface="Calibri" pitchFamily="34" charset="-120"/>
              </a:rPr>
              <a:t>79.4% delivered share, 5.8% cancel rate.</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One-day peak on 9 October </a:t>
            </a:r>
            <a:r>
              <a:rPr lang="en-US" sz="1500" dirty="0">
                <a:solidFill>
                  <a:srgbClr val="121212"/>
                </a:solidFill>
                <a:latin typeface="Calibri" pitchFamily="34" charset="0"/>
                <a:ea typeface="Calibri" pitchFamily="34" charset="-122"/>
                <a:cs typeface="Calibri" pitchFamily="34" charset="-120"/>
              </a:rPr>
              <a:t>holds about 55% of all revenue in the simulated data. The page says so.</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Where orders leak: </a:t>
            </a:r>
            <a:r>
              <a:rPr lang="en-US" sz="1500" dirty="0">
                <a:solidFill>
                  <a:srgbClr val="121212"/>
                </a:solidFill>
                <a:latin typeface="Calibri" pitchFamily="34" charset="0"/>
                <a:ea typeface="Calibri" pitchFamily="34" charset="-122"/>
                <a:cs typeface="Calibri" pitchFamily="34" charset="-120"/>
              </a:rPr>
              <a:t>failed-attempt rate is highest for vodafone_cash (27.6%) and fawry (25.1%).</a:t>
            </a:r>
            <a:endParaRPr lang="en-US" sz="1800" dirty="0"/>
          </a:p>
        </p:txBody>
      </p:sp>
      <p:sp>
        <p:nvSpPr>
          <p:cNvPr id="9" name="s17-6"/>
          <p:cNvSpPr txBox="1"/>
          <p:nvPr/>
        </p:nvSpPr>
        <p:spPr>
          <a:xfrm>
            <a:off x="548640" y="6053328"/>
            <a:ext cx="7498080" cy="365760"/>
          </a:xfrm>
          <a:prstGeom prst="rect">
            <a:avLst/>
          </a:prstGeom>
          <a:noFill/>
          <a:ln/>
        </p:spPr>
        <p:txBody>
          <a:bodyPr wrap="square" lIns="0" tIns="0" rIns="0" bIns="0" rtlCol="0" anchor="t"/>
          <a:lstStyle/>
          <a:p>
            <a:pPr marL="0" indent="0" algn="ctr">
              <a:lnSpc>
                <a:spcPct val="100000"/>
              </a:lnSpc>
              <a:buNone/>
            </a:pPr>
            <a:r>
              <a:rPr lang="en-US" sz="1100" i="1" dirty="0">
                <a:solidFill>
                  <a:srgbClr val="5B6578"/>
                </a:solidFill>
                <a:latin typeface="Calibri" pitchFamily="34" charset="0"/>
                <a:ea typeface="Calibri" pitchFamily="34" charset="-122"/>
                <a:cs typeface="Calibri" pitchFamily="34" charset="-120"/>
              </a:rPr>
              <a:t>Power BI, Executive page. Simulated data.</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18-0"/>
          <p:cNvSpPr txBox="1"/>
          <p:nvPr/>
        </p:nvSpPr>
        <p:spPr>
          <a:xfrm>
            <a:off x="548640" y="274320"/>
            <a:ext cx="8229600" cy="274320"/>
          </a:xfrm>
          <a:prstGeom prst="rect">
            <a:avLst/>
          </a:prstGeom>
          <a:noFill/>
          <a:ln/>
        </p:spPr>
        <p:txBody>
          <a:bodyPr wrap="square" lIns="0" tIns="0" rIns="0" bIns="0" rtlCol="0" anchor="t"/>
          <a:lstStyle/>
          <a:p>
            <a:pPr marL="0" indent="0" algn="l">
              <a:lnSpc>
                <a:spcPct val="100000"/>
              </a:lnSpc>
              <a:buNone/>
            </a:pPr>
            <a:r>
              <a:rPr lang="en-US" sz="1200" b="1" dirty="0">
                <a:solidFill>
                  <a:srgbClr val="5B6578"/>
                </a:solidFill>
                <a:latin typeface="Calibri" pitchFamily="34" charset="0"/>
                <a:ea typeface="Calibri" pitchFamily="34" charset="-122"/>
                <a:cs typeface="Calibri" pitchFamily="34" charset="-120"/>
              </a:rPr>
              <a:t>BACKUP</a:t>
            </a:r>
            <a:endParaRPr lang="en-US" sz="1200" dirty="0"/>
          </a:p>
        </p:txBody>
      </p:sp>
      <p:sp>
        <p:nvSpPr>
          <p:cNvPr id="3" name="s18-1"/>
          <p:cNvSpPr txBox="1"/>
          <p:nvPr/>
        </p:nvSpPr>
        <p:spPr>
          <a:xfrm>
            <a:off x="548640" y="530352"/>
            <a:ext cx="11064240" cy="685800"/>
          </a:xfrm>
          <a:prstGeom prst="rect">
            <a:avLst/>
          </a:prstGeom>
          <a:noFill/>
          <a:ln/>
        </p:spPr>
        <p:txBody>
          <a:bodyPr wrap="square" lIns="0" tIns="0" rIns="0" bIns="0" rtlCol="0" anchor="ctr"/>
          <a:lstStyle/>
          <a:p>
            <a:pPr marL="0" indent="0" algn="l">
              <a:lnSpc>
                <a:spcPct val="100000"/>
              </a:lnSpc>
              <a:buNone/>
            </a:pPr>
            <a:r>
              <a:rPr lang="en-US" sz="3000" b="1" dirty="0">
                <a:solidFill>
                  <a:srgbClr val="0F3D6E"/>
                </a:solidFill>
                <a:latin typeface="Calibri" pitchFamily="34" charset="0"/>
                <a:ea typeface="Calibri" pitchFamily="34" charset="-122"/>
                <a:cs typeface="Calibri" pitchFamily="34" charset="-120"/>
              </a:rPr>
              <a:t>Power BI: Funnel page</a:t>
            </a:r>
            <a:endParaRPr lang="en-US" sz="3000" dirty="0"/>
          </a:p>
        </p:txBody>
      </p:sp>
      <p:sp>
        <p:nvSpPr>
          <p:cNvPr id="4" name="s18-2"/>
          <p:cNvSpPr txBox="1"/>
          <p:nvPr/>
        </p:nvSpPr>
        <p:spPr>
          <a:xfrm>
            <a:off x="548640" y="6437376"/>
            <a:ext cx="5486400" cy="274320"/>
          </a:xfrm>
          <a:prstGeom prst="rect">
            <a:avLst/>
          </a:prstGeom>
          <a:noFill/>
          <a:ln/>
        </p:spPr>
        <p:txBody>
          <a:bodyPr wrap="square" lIns="0" tIns="0" rIns="0" bIns="0" rtlCol="0" anchor="t"/>
          <a:lstStyle/>
          <a:p>
            <a:pPr marL="0" indent="0" algn="l">
              <a:lnSpc>
                <a:spcPct val="100000"/>
              </a:lnSpc>
              <a:buNone/>
            </a:pPr>
            <a:r>
              <a:rPr lang="en-US" sz="1000" dirty="0">
                <a:solidFill>
                  <a:srgbClr val="5B6578"/>
                </a:solidFill>
                <a:latin typeface="Calibri" pitchFamily="34" charset="0"/>
                <a:ea typeface="Calibri" pitchFamily="34" charset="-122"/>
                <a:cs typeface="Calibri" pitchFamily="34" charset="-120"/>
              </a:rPr>
              <a:t>FunnelStream</a:t>
            </a:r>
            <a:endParaRPr lang="en-US" sz="1000" dirty="0"/>
          </a:p>
        </p:txBody>
      </p:sp>
      <p:sp>
        <p:nvSpPr>
          <p:cNvPr id="5" name="s18-3"/>
          <p:cNvSpPr txBox="1"/>
          <p:nvPr/>
        </p:nvSpPr>
        <p:spPr>
          <a:xfrm>
            <a:off x="10881360" y="6437376"/>
            <a:ext cx="758952" cy="274320"/>
          </a:xfrm>
          <a:prstGeom prst="rect">
            <a:avLst/>
          </a:prstGeom>
          <a:noFill/>
          <a:ln/>
        </p:spPr>
        <p:txBody>
          <a:bodyPr wrap="square" lIns="0" tIns="0" rIns="0" bIns="0" rtlCol="0" anchor="t"/>
          <a:lstStyle/>
          <a:p>
            <a:pPr marL="0" indent="0" algn="r">
              <a:lnSpc>
                <a:spcPct val="100000"/>
              </a:lnSpc>
              <a:buNone/>
            </a:pPr>
            <a:r>
              <a:rPr lang="en-US" sz="1000" dirty="0">
                <a:solidFill>
                  <a:srgbClr val="5B6578"/>
                </a:solidFill>
                <a:latin typeface="Calibri" pitchFamily="34" charset="0"/>
                <a:ea typeface="Calibri" pitchFamily="34" charset="-122"/>
                <a:cs typeface="Calibri" pitchFamily="34" charset="-120"/>
              </a:rPr>
              <a:t>18</a:t>
            </a:r>
            <a:endParaRPr lang="en-US" sz="1000" dirty="0"/>
          </a:p>
        </p:txBody>
      </p:sp>
      <p:sp>
        <p:nvSpPr>
          <p:cNvPr id="6" name="Shape 4"/>
          <p:cNvSpPr/>
          <p:nvPr/>
        </p:nvSpPr>
        <p:spPr>
          <a:xfrm>
            <a:off x="512064" y="1506596"/>
            <a:ext cx="7571232" cy="4393449"/>
          </a:xfrm>
          <a:prstGeom prst="rect">
            <a:avLst/>
          </a:prstGeom>
          <a:solidFill>
            <a:srgbClr val="FFFFFF"/>
          </a:solidFill>
          <a:ln w="12700">
            <a:solidFill>
              <a:srgbClr val="C6D0DE"/>
            </a:solidFill>
            <a:prstDash val="solid"/>
          </a:ln>
          <a:effectLst>
            <a:outerShdw blurRad="76200" dist="25400" dir="5400000" algn="bl" rotWithShape="0">
              <a:srgbClr val="000000">
                <a:alpha val="18000"/>
              </a:srgbClr>
            </a:outerShdw>
          </a:effectLst>
        </p:spPr>
        <p:txBody>
          <a:bodyPr/>
          <a:lstStyle/>
          <a:p>
            <a:endParaRPr lang="en-US"/>
          </a:p>
        </p:txBody>
      </p:sp>
      <p:pic>
        <p:nvPicPr>
          <p:cNvPr id="7" name="Image 0" descr="pbi funnel screenshot"/>
          <p:cNvPicPr>
            <a:picLocks noChangeAspect="1"/>
          </p:cNvPicPr>
          <p:nvPr/>
        </p:nvPicPr>
        <p:blipFill>
          <a:blip r:embed="rId3"/>
          <a:stretch>
            <a:fillRect/>
          </a:stretch>
        </p:blipFill>
        <p:spPr>
          <a:xfrm>
            <a:off x="548640" y="1543172"/>
            <a:ext cx="7498080" cy="4320297"/>
          </a:xfrm>
          <a:prstGeom prst="rect">
            <a:avLst/>
          </a:prstGeom>
        </p:spPr>
      </p:pic>
      <p:sp>
        <p:nvSpPr>
          <p:cNvPr id="8" name="s18-5"/>
          <p:cNvSpPr txBox="1"/>
          <p:nvPr/>
        </p:nvSpPr>
        <p:spPr>
          <a:xfrm>
            <a:off x="8366760" y="1371600"/>
            <a:ext cx="3276295" cy="4754880"/>
          </a:xfrm>
          <a:prstGeom prst="rect">
            <a:avLst/>
          </a:prstGeom>
          <a:noFill/>
          <a:ln/>
        </p:spPr>
        <p:txBody>
          <a:bodyPr wrap="square" lIns="0" tIns="0" rIns="0" bIns="0" rtlCol="0" anchor="t"/>
          <a:lstStyle/>
          <a:p>
            <a:pPr marL="0" indent="0" algn="l">
              <a:lnSpc>
                <a:spcPct val="100000"/>
              </a:lnSpc>
              <a:spcAft>
                <a:spcPts val="800"/>
              </a:spcAft>
              <a:buNone/>
            </a:pPr>
            <a:r>
              <a:rPr lang="en-US" sz="1800" b="1" dirty="0">
                <a:solidFill>
                  <a:srgbClr val="0F3D6E"/>
                </a:solidFill>
                <a:latin typeface="Calibri" pitchFamily="34" charset="0"/>
                <a:ea typeface="Calibri" pitchFamily="34" charset="-122"/>
                <a:cs typeface="Calibri" pitchFamily="34" charset="-120"/>
              </a:rPr>
              <a:t>What it shows</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16,617 sessions end in 1,723 orders: </a:t>
            </a:r>
            <a:r>
              <a:rPr lang="en-US" sz="1500" dirty="0">
                <a:solidFill>
                  <a:srgbClr val="121212"/>
                </a:solidFill>
                <a:latin typeface="Calibri" pitchFamily="34" charset="0"/>
                <a:ea typeface="Calibri" pitchFamily="34" charset="-122"/>
                <a:cs typeface="Calibri" pitchFamily="34" charset="-120"/>
              </a:rPr>
              <a:t>10.4% session conversion.</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Cart abandon rate 69.1%, </a:t>
            </a:r>
            <a:r>
              <a:rPr lang="en-US" sz="1500" dirty="0">
                <a:solidFill>
                  <a:srgbClr val="121212"/>
                </a:solidFill>
                <a:latin typeface="Calibri" pitchFamily="34" charset="0"/>
                <a:ea typeface="Calibri" pitchFamily="34" charset="-122"/>
                <a:cs typeface="Calibri" pitchFamily="34" charset="-120"/>
              </a:rPr>
              <a:t>checkout abandon rate 30.7%.</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By channel: </a:t>
            </a:r>
            <a:r>
              <a:rPr lang="en-US" sz="1500" dirty="0">
                <a:solidFill>
                  <a:srgbClr val="121212"/>
                </a:solidFill>
                <a:latin typeface="Calibri" pitchFamily="34" charset="0"/>
                <a:ea typeface="Calibri" pitchFamily="34" charset="-122"/>
                <a:cs typeface="Calibri" pitchFamily="34" charset="-120"/>
              </a:rPr>
              <a:t>direct has the highest cart abandon rate (70.9%); paid_social brings the most sessions (4.5K).</a:t>
            </a:r>
            <a:endParaRPr lang="en-US" sz="1800" dirty="0"/>
          </a:p>
        </p:txBody>
      </p:sp>
      <p:sp>
        <p:nvSpPr>
          <p:cNvPr id="9" name="s18-6"/>
          <p:cNvSpPr txBox="1"/>
          <p:nvPr/>
        </p:nvSpPr>
        <p:spPr>
          <a:xfrm>
            <a:off x="548640" y="6053328"/>
            <a:ext cx="7498080" cy="365760"/>
          </a:xfrm>
          <a:prstGeom prst="rect">
            <a:avLst/>
          </a:prstGeom>
          <a:noFill/>
          <a:ln/>
        </p:spPr>
        <p:txBody>
          <a:bodyPr wrap="square" lIns="0" tIns="0" rIns="0" bIns="0" rtlCol="0" anchor="t"/>
          <a:lstStyle/>
          <a:p>
            <a:pPr marL="0" indent="0" algn="ctr">
              <a:lnSpc>
                <a:spcPct val="100000"/>
              </a:lnSpc>
              <a:buNone/>
            </a:pPr>
            <a:r>
              <a:rPr lang="en-US" sz="1100" i="1" dirty="0">
                <a:solidFill>
                  <a:srgbClr val="5B6578"/>
                </a:solidFill>
                <a:latin typeface="Calibri" pitchFamily="34" charset="0"/>
                <a:ea typeface="Calibri" pitchFamily="34" charset="-122"/>
                <a:cs typeface="Calibri" pitchFamily="34" charset="-120"/>
              </a:rPr>
              <a:t>Power BI, Funnel page. Simulated data.</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19-0"/>
          <p:cNvSpPr txBox="1"/>
          <p:nvPr/>
        </p:nvSpPr>
        <p:spPr>
          <a:xfrm>
            <a:off x="548640" y="274320"/>
            <a:ext cx="8229600" cy="274320"/>
          </a:xfrm>
          <a:prstGeom prst="rect">
            <a:avLst/>
          </a:prstGeom>
          <a:noFill/>
          <a:ln/>
        </p:spPr>
        <p:txBody>
          <a:bodyPr wrap="square" lIns="0" tIns="0" rIns="0" bIns="0" rtlCol="0" anchor="t"/>
          <a:lstStyle/>
          <a:p>
            <a:pPr marL="0" indent="0" algn="l">
              <a:lnSpc>
                <a:spcPct val="100000"/>
              </a:lnSpc>
              <a:buNone/>
            </a:pPr>
            <a:r>
              <a:rPr lang="en-US" sz="1200" b="1" dirty="0">
                <a:solidFill>
                  <a:srgbClr val="5B6578"/>
                </a:solidFill>
                <a:latin typeface="Calibri" pitchFamily="34" charset="0"/>
                <a:ea typeface="Calibri" pitchFamily="34" charset="-122"/>
                <a:cs typeface="Calibri" pitchFamily="34" charset="-120"/>
              </a:rPr>
              <a:t>BACKUP</a:t>
            </a:r>
            <a:endParaRPr lang="en-US" sz="1200" dirty="0"/>
          </a:p>
        </p:txBody>
      </p:sp>
      <p:sp>
        <p:nvSpPr>
          <p:cNvPr id="3" name="s19-1"/>
          <p:cNvSpPr txBox="1"/>
          <p:nvPr/>
        </p:nvSpPr>
        <p:spPr>
          <a:xfrm>
            <a:off x="548640" y="530352"/>
            <a:ext cx="11064240" cy="685800"/>
          </a:xfrm>
          <a:prstGeom prst="rect">
            <a:avLst/>
          </a:prstGeom>
          <a:noFill/>
          <a:ln/>
        </p:spPr>
        <p:txBody>
          <a:bodyPr wrap="square" lIns="0" tIns="0" rIns="0" bIns="0" rtlCol="0" anchor="ctr"/>
          <a:lstStyle/>
          <a:p>
            <a:pPr marL="0" indent="0" algn="l">
              <a:lnSpc>
                <a:spcPct val="100000"/>
              </a:lnSpc>
              <a:buNone/>
            </a:pPr>
            <a:r>
              <a:rPr lang="en-US" sz="3000" b="1" dirty="0">
                <a:solidFill>
                  <a:srgbClr val="0F3D6E"/>
                </a:solidFill>
                <a:latin typeface="Calibri" pitchFamily="34" charset="0"/>
                <a:ea typeface="Calibri" pitchFamily="34" charset="-122"/>
                <a:cs typeface="Calibri" pitchFamily="34" charset="-120"/>
              </a:rPr>
              <a:t>Grafana: live stock monitor</a:t>
            </a:r>
            <a:endParaRPr lang="en-US" sz="3000" dirty="0"/>
          </a:p>
        </p:txBody>
      </p:sp>
      <p:sp>
        <p:nvSpPr>
          <p:cNvPr id="4" name="s19-2"/>
          <p:cNvSpPr txBox="1"/>
          <p:nvPr/>
        </p:nvSpPr>
        <p:spPr>
          <a:xfrm>
            <a:off x="548640" y="6437376"/>
            <a:ext cx="5486400" cy="274320"/>
          </a:xfrm>
          <a:prstGeom prst="rect">
            <a:avLst/>
          </a:prstGeom>
          <a:noFill/>
          <a:ln/>
        </p:spPr>
        <p:txBody>
          <a:bodyPr wrap="square" lIns="0" tIns="0" rIns="0" bIns="0" rtlCol="0" anchor="t"/>
          <a:lstStyle/>
          <a:p>
            <a:pPr marL="0" indent="0" algn="l">
              <a:lnSpc>
                <a:spcPct val="100000"/>
              </a:lnSpc>
              <a:buNone/>
            </a:pPr>
            <a:r>
              <a:rPr lang="en-US" sz="1000" dirty="0">
                <a:solidFill>
                  <a:srgbClr val="5B6578"/>
                </a:solidFill>
                <a:latin typeface="Calibri" pitchFamily="34" charset="0"/>
                <a:ea typeface="Calibri" pitchFamily="34" charset="-122"/>
                <a:cs typeface="Calibri" pitchFamily="34" charset="-120"/>
              </a:rPr>
              <a:t>FunnelStream</a:t>
            </a:r>
            <a:endParaRPr lang="en-US" sz="1000" dirty="0"/>
          </a:p>
        </p:txBody>
      </p:sp>
      <p:sp>
        <p:nvSpPr>
          <p:cNvPr id="5" name="s19-3"/>
          <p:cNvSpPr txBox="1"/>
          <p:nvPr/>
        </p:nvSpPr>
        <p:spPr>
          <a:xfrm>
            <a:off x="10881360" y="6437376"/>
            <a:ext cx="758952" cy="274320"/>
          </a:xfrm>
          <a:prstGeom prst="rect">
            <a:avLst/>
          </a:prstGeom>
          <a:noFill/>
          <a:ln/>
        </p:spPr>
        <p:txBody>
          <a:bodyPr wrap="square" lIns="0" tIns="0" rIns="0" bIns="0" rtlCol="0" anchor="t"/>
          <a:lstStyle/>
          <a:p>
            <a:pPr marL="0" indent="0" algn="r">
              <a:lnSpc>
                <a:spcPct val="100000"/>
              </a:lnSpc>
              <a:buNone/>
            </a:pPr>
            <a:r>
              <a:rPr lang="en-US" sz="1000" dirty="0">
                <a:solidFill>
                  <a:srgbClr val="5B6578"/>
                </a:solidFill>
                <a:latin typeface="Calibri" pitchFamily="34" charset="0"/>
                <a:ea typeface="Calibri" pitchFamily="34" charset="-122"/>
                <a:cs typeface="Calibri" pitchFamily="34" charset="-120"/>
              </a:rPr>
              <a:t>19</a:t>
            </a:r>
            <a:endParaRPr lang="en-US" sz="1000" dirty="0"/>
          </a:p>
        </p:txBody>
      </p:sp>
      <p:sp>
        <p:nvSpPr>
          <p:cNvPr id="6" name="Shape 4"/>
          <p:cNvSpPr/>
          <p:nvPr/>
        </p:nvSpPr>
        <p:spPr>
          <a:xfrm>
            <a:off x="512064" y="1497901"/>
            <a:ext cx="6382512" cy="4410837"/>
          </a:xfrm>
          <a:prstGeom prst="rect">
            <a:avLst/>
          </a:prstGeom>
          <a:solidFill>
            <a:srgbClr val="FFFFFF"/>
          </a:solidFill>
          <a:ln w="12700">
            <a:solidFill>
              <a:srgbClr val="C6D0DE"/>
            </a:solidFill>
            <a:prstDash val="solid"/>
          </a:ln>
          <a:effectLst>
            <a:outerShdw blurRad="76200" dist="25400" dir="5400000" algn="bl" rotWithShape="0">
              <a:srgbClr val="000000">
                <a:alpha val="18000"/>
              </a:srgbClr>
            </a:outerShdw>
          </a:effectLst>
        </p:spPr>
        <p:txBody>
          <a:bodyPr/>
          <a:lstStyle/>
          <a:p>
            <a:endParaRPr lang="en-US"/>
          </a:p>
        </p:txBody>
      </p:sp>
      <p:pic>
        <p:nvPicPr>
          <p:cNvPr id="7" name="Image 0" descr="live stock monitor screenshot"/>
          <p:cNvPicPr>
            <a:picLocks noChangeAspect="1"/>
          </p:cNvPicPr>
          <p:nvPr/>
        </p:nvPicPr>
        <p:blipFill>
          <a:blip r:embed="rId3"/>
          <a:stretch>
            <a:fillRect/>
          </a:stretch>
        </p:blipFill>
        <p:spPr>
          <a:xfrm>
            <a:off x="548640" y="1534477"/>
            <a:ext cx="6309360" cy="4337685"/>
          </a:xfrm>
          <a:prstGeom prst="rect">
            <a:avLst/>
          </a:prstGeom>
        </p:spPr>
      </p:pic>
      <p:sp>
        <p:nvSpPr>
          <p:cNvPr id="8" name="s19-5"/>
          <p:cNvSpPr txBox="1"/>
          <p:nvPr/>
        </p:nvSpPr>
        <p:spPr>
          <a:xfrm>
            <a:off x="7178040" y="1371600"/>
            <a:ext cx="4465015" cy="4754880"/>
          </a:xfrm>
          <a:prstGeom prst="rect">
            <a:avLst/>
          </a:prstGeom>
          <a:noFill/>
          <a:ln/>
        </p:spPr>
        <p:txBody>
          <a:bodyPr wrap="square" lIns="0" tIns="0" rIns="0" bIns="0" rtlCol="0" anchor="t"/>
          <a:lstStyle/>
          <a:p>
            <a:pPr marL="0" indent="0" algn="l">
              <a:lnSpc>
                <a:spcPct val="100000"/>
              </a:lnSpc>
              <a:spcAft>
                <a:spcPts val="800"/>
              </a:spcAft>
              <a:buNone/>
            </a:pPr>
            <a:r>
              <a:rPr lang="en-US" sz="1800" b="1" dirty="0">
                <a:solidFill>
                  <a:srgbClr val="0F3D6E"/>
                </a:solidFill>
                <a:latin typeface="Calibri" pitchFamily="34" charset="0"/>
                <a:ea typeface="Calibri" pitchFamily="34" charset="-122"/>
                <a:cs typeface="Calibri" pitchFamily="34" charset="-120"/>
              </a:rPr>
              <a:t>What operations reads</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537,542 units on hand, </a:t>
            </a:r>
            <a:r>
              <a:rPr lang="en-US" sz="1500" dirty="0">
                <a:solidFill>
                  <a:srgbClr val="121212"/>
                </a:solidFill>
                <a:latin typeface="Calibri" pitchFamily="34" charset="0"/>
                <a:ea typeface="Calibri" pitchFamily="34" charset="-122"/>
                <a:cs typeface="Calibri" pitchFamily="34" charset="-120"/>
              </a:rPr>
              <a:t>0 out-of-stock products, 1 low-stock product, in-stock rate 100%.</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Restock watchlist: </a:t>
            </a:r>
            <a:r>
              <a:rPr lang="en-US" sz="1500" dirty="0">
                <a:solidFill>
                  <a:srgbClr val="121212"/>
                </a:solidFill>
                <a:latin typeface="Calibri" pitchFamily="34" charset="0"/>
                <a:ea typeface="Calibri" pitchFamily="34" charset="-122"/>
                <a:cs typeface="Calibri" pitchFamily="34" charset="-120"/>
              </a:rPr>
              <a:t>Bed sheets 20 at Nasr City has 1 unit against a reorder point of 3: restock now.</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Demand on out-of-stock products </a:t>
            </a:r>
            <a:r>
              <a:rPr lang="en-US" sz="1500" dirty="0">
                <a:solidFill>
                  <a:srgbClr val="121212"/>
                </a:solidFill>
                <a:latin typeface="Calibri" pitchFamily="34" charset="0"/>
                <a:ea typeface="Calibri" pitchFamily="34" charset="-122"/>
                <a:cs typeface="Calibri" pitchFamily="34" charset="-120"/>
              </a:rPr>
              <a:t>per minute is the live version of the bridge.</a:t>
            </a:r>
            <a:endParaRPr lang="en-US" sz="1800" dirty="0"/>
          </a:p>
        </p:txBody>
      </p:sp>
      <p:sp>
        <p:nvSpPr>
          <p:cNvPr id="9" name="s19-6"/>
          <p:cNvSpPr txBox="1"/>
          <p:nvPr/>
        </p:nvSpPr>
        <p:spPr>
          <a:xfrm>
            <a:off x="548640" y="6053328"/>
            <a:ext cx="6309360" cy="365760"/>
          </a:xfrm>
          <a:prstGeom prst="rect">
            <a:avLst/>
          </a:prstGeom>
          <a:noFill/>
          <a:ln/>
        </p:spPr>
        <p:txBody>
          <a:bodyPr wrap="square" lIns="0" tIns="0" rIns="0" bIns="0" rtlCol="0" anchor="t"/>
          <a:lstStyle/>
          <a:p>
            <a:pPr marL="0" indent="0" algn="ctr">
              <a:lnSpc>
                <a:spcPct val="100000"/>
              </a:lnSpc>
              <a:buNone/>
            </a:pPr>
            <a:r>
              <a:rPr lang="en-US" sz="1100" i="1" dirty="0">
                <a:solidFill>
                  <a:srgbClr val="5B6578"/>
                </a:solidFill>
                <a:latin typeface="Calibri" pitchFamily="34" charset="0"/>
                <a:ea typeface="Calibri" pitchFamily="34" charset="-122"/>
                <a:cs typeface="Calibri" pitchFamily="34" charset="-120"/>
              </a:rPr>
              <a:t>Grafana, Live stock monitor, rehearsal of 13 October 2026. All stock numbers are simulated.</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20-0"/>
          <p:cNvSpPr txBox="1"/>
          <p:nvPr/>
        </p:nvSpPr>
        <p:spPr>
          <a:xfrm>
            <a:off x="548640" y="274320"/>
            <a:ext cx="8229600" cy="274320"/>
          </a:xfrm>
          <a:prstGeom prst="rect">
            <a:avLst/>
          </a:prstGeom>
          <a:noFill/>
          <a:ln/>
        </p:spPr>
        <p:txBody>
          <a:bodyPr wrap="square" lIns="0" tIns="0" rIns="0" bIns="0" rtlCol="0" anchor="t"/>
          <a:lstStyle/>
          <a:p>
            <a:pPr marL="0" indent="0" algn="l">
              <a:lnSpc>
                <a:spcPct val="100000"/>
              </a:lnSpc>
              <a:buNone/>
            </a:pPr>
            <a:r>
              <a:rPr lang="en-US" sz="1200" b="1" dirty="0">
                <a:solidFill>
                  <a:srgbClr val="5B6578"/>
                </a:solidFill>
                <a:latin typeface="Calibri" pitchFamily="34" charset="0"/>
                <a:ea typeface="Calibri" pitchFamily="34" charset="-122"/>
                <a:cs typeface="Calibri" pitchFamily="34" charset="-120"/>
              </a:rPr>
              <a:t>BACKUP</a:t>
            </a:r>
            <a:endParaRPr lang="en-US" sz="1200" dirty="0"/>
          </a:p>
        </p:txBody>
      </p:sp>
      <p:sp>
        <p:nvSpPr>
          <p:cNvPr id="3" name="s20-1"/>
          <p:cNvSpPr txBox="1"/>
          <p:nvPr/>
        </p:nvSpPr>
        <p:spPr>
          <a:xfrm>
            <a:off x="548640" y="530352"/>
            <a:ext cx="11064240" cy="685800"/>
          </a:xfrm>
          <a:prstGeom prst="rect">
            <a:avLst/>
          </a:prstGeom>
          <a:noFill/>
          <a:ln/>
        </p:spPr>
        <p:txBody>
          <a:bodyPr wrap="square" lIns="0" tIns="0" rIns="0" bIns="0" rtlCol="0" anchor="ctr"/>
          <a:lstStyle/>
          <a:p>
            <a:pPr marL="0" indent="0" algn="l">
              <a:lnSpc>
                <a:spcPct val="100000"/>
              </a:lnSpc>
              <a:buNone/>
            </a:pPr>
            <a:r>
              <a:rPr lang="en-US" sz="3000" b="1" dirty="0">
                <a:solidFill>
                  <a:srgbClr val="0F3D6E"/>
                </a:solidFill>
                <a:latin typeface="Calibri" pitchFamily="34" charset="0"/>
                <a:ea typeface="Calibri" pitchFamily="34" charset="-122"/>
                <a:cs typeface="Calibri" pitchFamily="34" charset="-120"/>
              </a:rPr>
              <a:t>Failure demo: kill, alert, restart, no duplicates</a:t>
            </a:r>
            <a:endParaRPr lang="en-US" sz="3000" dirty="0"/>
          </a:p>
        </p:txBody>
      </p:sp>
      <p:sp>
        <p:nvSpPr>
          <p:cNvPr id="4" name="s20-2"/>
          <p:cNvSpPr txBox="1"/>
          <p:nvPr/>
        </p:nvSpPr>
        <p:spPr>
          <a:xfrm>
            <a:off x="548640" y="6437376"/>
            <a:ext cx="5486400" cy="274320"/>
          </a:xfrm>
          <a:prstGeom prst="rect">
            <a:avLst/>
          </a:prstGeom>
          <a:noFill/>
          <a:ln/>
        </p:spPr>
        <p:txBody>
          <a:bodyPr wrap="square" lIns="0" tIns="0" rIns="0" bIns="0" rtlCol="0" anchor="t"/>
          <a:lstStyle/>
          <a:p>
            <a:pPr marL="0" indent="0" algn="l">
              <a:lnSpc>
                <a:spcPct val="100000"/>
              </a:lnSpc>
              <a:buNone/>
            </a:pPr>
            <a:r>
              <a:rPr lang="en-US" sz="1000" dirty="0">
                <a:solidFill>
                  <a:srgbClr val="5B6578"/>
                </a:solidFill>
                <a:latin typeface="Calibri" pitchFamily="34" charset="0"/>
                <a:ea typeface="Calibri" pitchFamily="34" charset="-122"/>
                <a:cs typeface="Calibri" pitchFamily="34" charset="-120"/>
              </a:rPr>
              <a:t>FunnelStream</a:t>
            </a:r>
            <a:endParaRPr lang="en-US" sz="1000" dirty="0"/>
          </a:p>
        </p:txBody>
      </p:sp>
      <p:sp>
        <p:nvSpPr>
          <p:cNvPr id="5" name="s20-3"/>
          <p:cNvSpPr txBox="1"/>
          <p:nvPr/>
        </p:nvSpPr>
        <p:spPr>
          <a:xfrm>
            <a:off x="10881360" y="6437376"/>
            <a:ext cx="758952" cy="274320"/>
          </a:xfrm>
          <a:prstGeom prst="rect">
            <a:avLst/>
          </a:prstGeom>
          <a:noFill/>
          <a:ln/>
        </p:spPr>
        <p:txBody>
          <a:bodyPr wrap="square" lIns="0" tIns="0" rIns="0" bIns="0" rtlCol="0" anchor="t"/>
          <a:lstStyle/>
          <a:p>
            <a:pPr marL="0" indent="0" algn="r">
              <a:lnSpc>
                <a:spcPct val="100000"/>
              </a:lnSpc>
              <a:buNone/>
            </a:pPr>
            <a:r>
              <a:rPr lang="en-US" sz="1000" dirty="0">
                <a:solidFill>
                  <a:srgbClr val="5B6578"/>
                </a:solidFill>
                <a:latin typeface="Calibri" pitchFamily="34" charset="0"/>
                <a:ea typeface="Calibri" pitchFamily="34" charset="-122"/>
                <a:cs typeface="Calibri" pitchFamily="34" charset="-120"/>
              </a:rPr>
              <a:t>20</a:t>
            </a:r>
            <a:endParaRPr lang="en-US" sz="1000" dirty="0"/>
          </a:p>
        </p:txBody>
      </p:sp>
      <p:sp>
        <p:nvSpPr>
          <p:cNvPr id="6" name="Shape 4"/>
          <p:cNvSpPr/>
          <p:nvPr/>
        </p:nvSpPr>
        <p:spPr>
          <a:xfrm>
            <a:off x="512064" y="1384408"/>
            <a:ext cx="7571232" cy="4729263"/>
          </a:xfrm>
          <a:prstGeom prst="rect">
            <a:avLst/>
          </a:prstGeom>
          <a:solidFill>
            <a:srgbClr val="FFFFFF"/>
          </a:solidFill>
          <a:ln w="12700">
            <a:solidFill>
              <a:srgbClr val="C6D0DE"/>
            </a:solidFill>
            <a:prstDash val="solid"/>
          </a:ln>
          <a:effectLst>
            <a:outerShdw blurRad="76200" dist="25400" dir="5400000" algn="bl" rotWithShape="0">
              <a:srgbClr val="000000">
                <a:alpha val="18000"/>
              </a:srgbClr>
            </a:outerShdw>
          </a:effectLst>
        </p:spPr>
        <p:txBody>
          <a:bodyPr/>
          <a:lstStyle/>
          <a:p>
            <a:endParaRPr lang="en-US"/>
          </a:p>
        </p:txBody>
      </p:sp>
      <p:pic>
        <p:nvPicPr>
          <p:cNvPr id="7" name="Image 0" descr="failure screenshot"/>
          <p:cNvPicPr>
            <a:picLocks noChangeAspect="1"/>
          </p:cNvPicPr>
          <p:nvPr/>
        </p:nvPicPr>
        <p:blipFill>
          <a:blip r:embed="rId3"/>
          <a:stretch>
            <a:fillRect/>
          </a:stretch>
        </p:blipFill>
        <p:spPr>
          <a:xfrm>
            <a:off x="548640" y="1420984"/>
            <a:ext cx="7498080" cy="4656111"/>
          </a:xfrm>
          <a:prstGeom prst="rect">
            <a:avLst/>
          </a:prstGeom>
        </p:spPr>
      </p:pic>
      <p:sp>
        <p:nvSpPr>
          <p:cNvPr id="8" name="s20-5"/>
          <p:cNvSpPr txBox="1"/>
          <p:nvPr/>
        </p:nvSpPr>
        <p:spPr>
          <a:xfrm>
            <a:off x="8366760" y="1371600"/>
            <a:ext cx="3246120" cy="4754880"/>
          </a:xfrm>
          <a:prstGeom prst="rect">
            <a:avLst/>
          </a:prstGeom>
          <a:noFill/>
          <a:ln/>
        </p:spPr>
        <p:txBody>
          <a:bodyPr wrap="square" lIns="0" tIns="0" rIns="0" bIns="0" rtlCol="0" anchor="t"/>
          <a:lstStyle/>
          <a:p>
            <a:pPr marL="0" indent="0" algn="l">
              <a:lnSpc>
                <a:spcPct val="100000"/>
              </a:lnSpc>
              <a:spcAft>
                <a:spcPts val="800"/>
              </a:spcAft>
              <a:buNone/>
            </a:pPr>
            <a:r>
              <a:rPr lang="en-US" sz="1800" b="1" dirty="0">
                <a:solidFill>
                  <a:srgbClr val="0F3D6E"/>
                </a:solidFill>
                <a:latin typeface="Calibri" pitchFamily="34" charset="0"/>
                <a:ea typeface="Calibri" pitchFamily="34" charset="-122"/>
                <a:cs typeface="Calibri" pitchFamily="34" charset="-120"/>
              </a:rPr>
              <a:t>Measured twice, 12 October 2026</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Alert fired </a:t>
            </a:r>
            <a:r>
              <a:rPr lang="en-US" sz="1500" dirty="0">
                <a:solidFill>
                  <a:srgbClr val="121212"/>
                </a:solidFill>
                <a:latin typeface="Calibri" pitchFamily="34" charset="0"/>
                <a:ea typeface="Calibri" pitchFamily="34" charset="-122"/>
                <a:cs typeface="Calibri" pitchFamily="34" charset="-120"/>
              </a:rPr>
              <a:t>2 min 12 s and 2 min 54 s after the kill.</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Heartbeat back </a:t>
            </a:r>
            <a:r>
              <a:rPr lang="en-US" sz="1500" dirty="0">
                <a:solidFill>
                  <a:srgbClr val="121212"/>
                </a:solidFill>
                <a:latin typeface="Calibri" pitchFamily="34" charset="0"/>
                <a:ea typeface="Calibri" pitchFamily="34" charset="-122"/>
                <a:cs typeface="Calibri" pitchFamily="34" charset="-120"/>
              </a:rPr>
              <a:t>under 30 s about 40 s and 35 s after the restart.</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NO DUPLICATES: </a:t>
            </a:r>
            <a:r>
              <a:rPr lang="en-US" sz="1500" dirty="0">
                <a:solidFill>
                  <a:srgbClr val="121212"/>
                </a:solidFill>
                <a:latin typeface="Calibri" pitchFamily="34" charset="0"/>
                <a:ea typeface="Calibri" pitchFamily="34" charset="-122"/>
                <a:cs typeface="Calibri" pitchFamily="34" charset="-120"/>
              </a:rPr>
              <a:t>8,469 events and 16,404 events in Silver.</a:t>
            </a:r>
            <a:endParaRPr lang="en-US" sz="1800" dirty="0"/>
          </a:p>
          <a:p>
            <a:pPr marL="203200" indent="-203200" algn="l">
              <a:lnSpc>
                <a:spcPct val="100000"/>
              </a:lnSpc>
              <a:buSzPct val="100000"/>
              <a:buChar char="•"/>
            </a:pPr>
            <a:r>
              <a:rPr lang="en-US" sz="1500" b="1" dirty="0">
                <a:solidFill>
                  <a:srgbClr val="121212"/>
                </a:solidFill>
                <a:latin typeface="Calibri" pitchFamily="34" charset="0"/>
                <a:ea typeface="Calibri" pitchFamily="34" charset="-122"/>
                <a:cs typeface="Calibri" pitchFamily="34" charset="-120"/>
              </a:rPr>
              <a:t>Scope: </a:t>
            </a:r>
            <a:r>
              <a:rPr lang="en-US" sz="1500" dirty="0">
                <a:solidFill>
                  <a:srgbClr val="121212"/>
                </a:solidFill>
                <a:latin typeface="Calibri" pitchFamily="34" charset="0"/>
                <a:ea typeface="Calibri" pitchFamily="34" charset="-122"/>
                <a:cs typeface="Calibri" pitchFamily="34" charset="-120"/>
              </a:rPr>
              <a:t>Silver only. It does not prove that no event was lost.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TotalTime>
  <Words>5349</Words>
  <Application>Microsoft Office PowerPoint</Application>
  <PresentationFormat>Widescreen</PresentationFormat>
  <Paragraphs>425</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FunnelStream</dc:title>
  <dc:subject>Project defense, 20 minutes</dc:subject>
  <dc:creator>FunnelStream team</dc:creator>
  <cp:lastModifiedBy>Omar Hosny</cp:lastModifiedBy>
  <cp:revision>2</cp:revision>
  <dcterms:created xsi:type="dcterms:W3CDTF">2026-10-13T16:30:24Z</dcterms:created>
  <dcterms:modified xsi:type="dcterms:W3CDTF">2026-10-13T17:41:06Z</dcterms:modified>
</cp:coreProperties>
</file>